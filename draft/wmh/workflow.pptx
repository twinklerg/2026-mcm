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rels" ContentType="application/vnd.openxmlformats-package.relationships+xml"/>
  <Override PartName="/customXml/itemProps120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2.svg" ContentType="image/svg+xml"/>
  <Override PartName="/ppt/media/image14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3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3.svg" ContentType="image/svg+xml"/>
  <Override PartName="/ppt/media/image35.svg" ContentType="image/svg+xml"/>
  <Override PartName="/ppt/media/image37.svg" ContentType="image/svg+xml"/>
  <Override PartName="/ppt/media/image39.svg" ContentType="image/svg+xml"/>
  <Override PartName="/ppt/media/image4.svg" ContentType="image/svg+xml"/>
  <Override PartName="/ppt/media/image41.svg" ContentType="image/svg+xml"/>
  <Override PartName="/ppt/media/image43.svg" ContentType="image/svg+xml"/>
  <Override PartName="/ppt/media/image45.svg" ContentType="image/svg+xml"/>
  <Override PartName="/ppt/media/image48.svg" ContentType="image/svg+xml"/>
  <Override PartName="/ppt/media/image50.svg" ContentType="image/svg+xml"/>
  <Override PartName="/ppt/media/image52.svg" ContentType="image/svg+xml"/>
  <Override PartName="/ppt/media/image54.svg" ContentType="image/svg+xml"/>
  <Override PartName="/ppt/media/image56.svg" ContentType="image/svg+xml"/>
  <Override PartName="/ppt/media/image58.svg" ContentType="image/svg+xml"/>
  <Override PartName="/ppt/media/image60.svg" ContentType="image/svg+xml"/>
  <Override PartName="/ppt/media/image62.svg" ContentType="image/svg+xml"/>
  <Override PartName="/ppt/media/image63.svg" ContentType="image/svg+xml"/>
  <Override PartName="/ppt/media/image64.svg" ContentType="image/svg+xml"/>
  <Override PartName="/ppt/media/image65.svg" ContentType="image/svg+xml"/>
  <Override PartName="/ppt/media/image66.svg" ContentType="image/svg+xml"/>
  <Override PartName="/ppt/media/image67.svg" ContentType="image/svg+xml"/>
  <Override PartName="/ppt/media/image68.svg" ContentType="image/svg+xml"/>
  <Override PartName="/ppt/media/image69.svg" ContentType="image/svg+xml"/>
  <Override PartName="/ppt/media/image7.svg" ContentType="image/svg+xml"/>
  <Override PartName="/ppt/media/image70.svg" ContentType="image/svg+xml"/>
  <Override PartName="/ppt/media/image71.svg" ContentType="image/svg+xml"/>
  <Override PartName="/ppt/media/image72.svg" ContentType="image/svg+xml"/>
  <Override PartName="/ppt/media/image74.svg" ContentType="image/svg+xml"/>
  <Override PartName="/ppt/media/image77.svg" ContentType="image/svg+xml"/>
  <Override PartName="/ppt/media/image78.svg" ContentType="image/svg+xml"/>
  <Override PartName="/ppt/media/image80.svg" ContentType="image/svg+xml"/>
  <Override PartName="/ppt/media/image81.svg" ContentType="image/svg+xml"/>
  <Override PartName="/ppt/media/image82.svg" ContentType="image/svg+xml"/>
  <Override PartName="/ppt/media/image83.svg" ContentType="image/svg+xml"/>
  <Override PartName="/ppt/media/image84.svg" ContentType="image/svg+xml"/>
  <Override PartName="/ppt/media/image87.svg" ContentType="image/svg+xml"/>
  <Override PartName="/ppt/media/image89.svg" ContentType="image/svg+xml"/>
  <Override PartName="/ppt/media/image9.svg" ContentType="image/svg+xml"/>
  <Override PartName="/ppt/media/image91.svg" ContentType="image/svg+xml"/>
  <Override PartName="/ppt/media/image93.svg" ContentType="image/svg+xml"/>
  <Override PartName="/ppt/media/image95.svg" ContentType="image/svg+xml"/>
  <Override PartName="/ppt/media/image9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21"/>
  </p:handoutMasterIdLst>
  <p:sldIdLst>
    <p:sldId id="289" r:id="rId3"/>
    <p:sldId id="292" r:id="rId5"/>
    <p:sldId id="291" r:id="rId6"/>
    <p:sldId id="264" r:id="rId7"/>
    <p:sldId id="276" r:id="rId8"/>
    <p:sldId id="275" r:id="rId9"/>
    <p:sldId id="277" r:id="rId10"/>
    <p:sldId id="260" r:id="rId11"/>
    <p:sldId id="266" r:id="rId12"/>
    <p:sldId id="265" r:id="rId13"/>
    <p:sldId id="262" r:id="rId14"/>
    <p:sldId id="263" r:id="rId15"/>
    <p:sldId id="261" r:id="rId16"/>
    <p:sldId id="256" r:id="rId17"/>
    <p:sldId id="259" r:id="rId18"/>
    <p:sldId id="257" r:id="rId19"/>
    <p:sldId id="258" r:id="rId20"/>
  </p:sldIdLst>
  <p:sldSz cx="21599525" cy="8999855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703" userDrawn="1">
          <p15:clr>
            <a:srgbClr val="A4A3A4"/>
          </p15:clr>
        </p15:guide>
        <p15:guide id="2" pos="6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BC5FE"/>
    <a:srgbClr val="C8E5B3"/>
    <a:srgbClr val="DAE3F5"/>
    <a:srgbClr val="FFF2CA"/>
    <a:srgbClr val="FADBDF"/>
    <a:srgbClr val="FCE6D5"/>
    <a:srgbClr val="B2B2B2"/>
    <a:srgbClr val="202020"/>
    <a:srgbClr val="323232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86374"/>
  </p:normalViewPr>
  <p:slideViewPr>
    <p:cSldViewPr snapToGrid="0" showGuides="1">
      <p:cViewPr varScale="1">
        <p:scale>
          <a:sx n="127" d="100"/>
          <a:sy n="127" d="100"/>
        </p:scale>
        <p:origin x="1952" y="184"/>
      </p:cViewPr>
      <p:guideLst>
        <p:guide orient="horz" pos="2703"/>
        <p:guide pos="686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customXml" Target="../customXml/item1.xml"/><Relationship Id="rId25" Type="http://schemas.openxmlformats.org/officeDocument/2006/relationships/customXmlProps" Target="../customXml/itemProps120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handoutMaster" Target="handoutMasters/handoutMaster1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-592455" y="1279525"/>
            <a:ext cx="8290559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2700095" y="1736171"/>
            <a:ext cx="16200571" cy="2870080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7875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2700095" y="4727084"/>
            <a:ext cx="16200571" cy="2172916"/>
          </a:xfrm>
        </p:spPr>
        <p:txBody>
          <a:bodyPr>
            <a:normAutofit/>
          </a:bodyPr>
          <a:lstStyle>
            <a:lvl1pPr marL="0" indent="0" algn="ctr">
              <a:buNone/>
              <a:defRPr sz="315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600075" indent="0" algn="ctr">
              <a:buNone/>
              <a:defRPr sz="2625"/>
            </a:lvl2pPr>
            <a:lvl3pPr marL="1200150" indent="0" algn="ctr">
              <a:buNone/>
              <a:defRPr sz="2360"/>
            </a:lvl3pPr>
            <a:lvl4pPr marL="1800225" indent="0" algn="ctr">
              <a:buNone/>
              <a:defRPr sz="2100"/>
            </a:lvl4pPr>
            <a:lvl5pPr marL="2400300" indent="0" algn="ctr">
              <a:buNone/>
              <a:defRPr sz="2100"/>
            </a:lvl5pPr>
            <a:lvl6pPr marL="2999740" indent="0" algn="ctr">
              <a:buNone/>
              <a:defRPr sz="2100"/>
            </a:lvl6pPr>
            <a:lvl7pPr marL="3599815" indent="0" algn="ctr">
              <a:buNone/>
              <a:defRPr sz="2100"/>
            </a:lvl7pPr>
            <a:lvl8pPr marL="4199890" indent="0" algn="ctr">
              <a:buNone/>
              <a:defRPr sz="2100"/>
            </a:lvl8pPr>
            <a:lvl9pPr marL="4799965" indent="0" algn="ctr">
              <a:buNone/>
              <a:defRPr sz="21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47540" y="339167"/>
            <a:ext cx="18630657" cy="1739584"/>
          </a:xfrm>
        </p:spPr>
        <p:txBody>
          <a:bodyPr anchor="ctr" anchorCtr="0">
            <a:normAutofit/>
          </a:bodyPr>
          <a:lstStyle>
            <a:lvl1pPr>
              <a:defRPr sz="5775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47540" y="2395833"/>
            <a:ext cx="18630657" cy="5710417"/>
          </a:xfrm>
        </p:spPr>
        <p:txBody>
          <a:bodyPr>
            <a:normAutofit/>
          </a:bodyPr>
          <a:lstStyle>
            <a:lvl1pPr>
              <a:defRPr sz="3675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315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625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236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236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73800" y="615652"/>
            <a:ext cx="18262719" cy="5371847"/>
          </a:xfrm>
        </p:spPr>
        <p:txBody>
          <a:bodyPr anchor="b">
            <a:normAutofit/>
          </a:bodyPr>
          <a:lstStyle>
            <a:lvl1pPr>
              <a:defRPr sz="7875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473802" y="6049906"/>
            <a:ext cx="18262717" cy="849810"/>
          </a:xfrm>
        </p:spPr>
        <p:txBody>
          <a:bodyPr>
            <a:normAutofit/>
          </a:bodyPr>
          <a:lstStyle>
            <a:lvl1pPr marL="0" indent="0">
              <a:buNone/>
              <a:defRPr sz="3150">
                <a:solidFill>
                  <a:schemeClr val="tx1"/>
                </a:solidFill>
              </a:defRPr>
            </a:lvl1pPr>
            <a:lvl2pPr marL="600075" indent="0">
              <a:buNone/>
              <a:defRPr sz="2625">
                <a:solidFill>
                  <a:schemeClr val="tx1">
                    <a:tint val="75000"/>
                  </a:schemeClr>
                </a:solidFill>
              </a:defRPr>
            </a:lvl2pPr>
            <a:lvl3pPr marL="1200150" indent="0">
              <a:buNone/>
              <a:defRPr sz="2360">
                <a:solidFill>
                  <a:schemeClr val="tx1">
                    <a:tint val="75000"/>
                  </a:schemeClr>
                </a:solidFill>
              </a:defRPr>
            </a:lvl3pPr>
            <a:lvl4pPr marL="1800225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4003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299974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3599815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19989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4799965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47540" y="339167"/>
            <a:ext cx="18630657" cy="1739584"/>
          </a:xfrm>
        </p:spPr>
        <p:txBody>
          <a:bodyPr>
            <a:normAutofit/>
          </a:bodyPr>
          <a:lstStyle>
            <a:lvl1pPr>
              <a:defRPr sz="5775" b="0" i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47540" y="2395833"/>
            <a:ext cx="9180324" cy="5710417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3675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315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625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236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236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0597874" y="2395833"/>
            <a:ext cx="9180324" cy="5710417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3675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315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625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236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236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87866" y="479167"/>
            <a:ext cx="18630657" cy="1739584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487866" y="2289975"/>
            <a:ext cx="9138134" cy="1081249"/>
          </a:xfrm>
        </p:spPr>
        <p:txBody>
          <a:bodyPr anchor="b">
            <a:normAutofit/>
          </a:bodyPr>
          <a:lstStyle>
            <a:lvl1pPr marL="0" indent="0">
              <a:buNone/>
              <a:defRPr sz="3675" b="0"/>
            </a:lvl1pPr>
            <a:lvl2pPr marL="600075" indent="0">
              <a:buNone/>
              <a:defRPr sz="2625" b="1"/>
            </a:lvl2pPr>
            <a:lvl3pPr marL="1200150" indent="0">
              <a:buNone/>
              <a:defRPr sz="2360" b="1"/>
            </a:lvl3pPr>
            <a:lvl4pPr marL="1800225" indent="0">
              <a:buNone/>
              <a:defRPr sz="2100" b="1"/>
            </a:lvl4pPr>
            <a:lvl5pPr marL="2400300" indent="0">
              <a:buNone/>
              <a:defRPr sz="2100" b="1"/>
            </a:lvl5pPr>
            <a:lvl6pPr marL="2999740" indent="0">
              <a:buNone/>
              <a:defRPr sz="2100" b="1"/>
            </a:lvl6pPr>
            <a:lvl7pPr marL="3599815" indent="0">
              <a:buNone/>
              <a:defRPr sz="2100" b="1"/>
            </a:lvl7pPr>
            <a:lvl8pPr marL="4199890" indent="0">
              <a:buNone/>
              <a:defRPr sz="2100" b="1"/>
            </a:lvl8pPr>
            <a:lvl9pPr marL="4799965" indent="0">
              <a:buNone/>
              <a:defRPr sz="21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487866" y="3432558"/>
            <a:ext cx="9138134" cy="469036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10935385" y="2289975"/>
            <a:ext cx="9183137" cy="1081249"/>
          </a:xfrm>
        </p:spPr>
        <p:txBody>
          <a:bodyPr anchor="b">
            <a:normAutofit/>
          </a:bodyPr>
          <a:lstStyle>
            <a:lvl1pPr marL="0" indent="0">
              <a:buNone/>
              <a:defRPr sz="3675" b="0"/>
            </a:lvl1pPr>
            <a:lvl2pPr marL="600075" indent="0">
              <a:buNone/>
              <a:defRPr sz="2625" b="1"/>
            </a:lvl2pPr>
            <a:lvl3pPr marL="1200150" indent="0">
              <a:buNone/>
              <a:defRPr sz="2360" b="1"/>
            </a:lvl3pPr>
            <a:lvl4pPr marL="1800225" indent="0">
              <a:buNone/>
              <a:defRPr sz="2100" b="1"/>
            </a:lvl4pPr>
            <a:lvl5pPr marL="2400300" indent="0">
              <a:buNone/>
              <a:defRPr sz="2100" b="1"/>
            </a:lvl5pPr>
            <a:lvl6pPr marL="2999740" indent="0">
              <a:buNone/>
              <a:defRPr sz="2100" b="1"/>
            </a:lvl6pPr>
            <a:lvl7pPr marL="3599815" indent="0">
              <a:buNone/>
              <a:defRPr sz="2100" b="1"/>
            </a:lvl7pPr>
            <a:lvl8pPr marL="4199890" indent="0">
              <a:buNone/>
              <a:defRPr sz="2100" b="1"/>
            </a:lvl8pPr>
            <a:lvl9pPr marL="4799965" indent="0">
              <a:buNone/>
              <a:defRPr sz="21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10935385" y="3432558"/>
            <a:ext cx="9183137" cy="469036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85052" y="3630209"/>
            <a:ext cx="18630657" cy="1739584"/>
          </a:xfrm>
        </p:spPr>
        <p:txBody>
          <a:bodyPr>
            <a:normAutofit/>
          </a:bodyPr>
          <a:lstStyle>
            <a:lvl1pPr algn="ctr">
              <a:defRPr sz="5775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145852" y="166667"/>
            <a:ext cx="7379551" cy="2100000"/>
          </a:xfrm>
        </p:spPr>
        <p:txBody>
          <a:bodyPr anchor="ctr" anchorCtr="0">
            <a:normAutofit/>
          </a:bodyPr>
          <a:lstStyle>
            <a:lvl1pPr>
              <a:defRPr sz="4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9184576" y="1005714"/>
            <a:ext cx="10306736" cy="6685625"/>
          </a:xfrm>
        </p:spPr>
        <p:txBody>
          <a:bodyPr/>
          <a:lstStyle>
            <a:lvl1pPr marL="0" indent="0">
              <a:buNone/>
              <a:defRPr sz="4200"/>
            </a:lvl1pPr>
            <a:lvl2pPr marL="600075" indent="0">
              <a:buNone/>
              <a:defRPr sz="3675"/>
            </a:lvl2pPr>
            <a:lvl3pPr marL="1200150" indent="0">
              <a:buNone/>
              <a:defRPr sz="3150"/>
            </a:lvl3pPr>
            <a:lvl4pPr marL="1800225" indent="0">
              <a:buNone/>
              <a:defRPr sz="2625"/>
            </a:lvl4pPr>
            <a:lvl5pPr marL="2400300" indent="0">
              <a:buNone/>
              <a:defRPr sz="2625"/>
            </a:lvl5pPr>
            <a:lvl6pPr marL="2999740" indent="0">
              <a:buNone/>
              <a:defRPr sz="2625"/>
            </a:lvl6pPr>
            <a:lvl7pPr marL="3599815" indent="0">
              <a:buNone/>
              <a:defRPr sz="2625"/>
            </a:lvl7pPr>
            <a:lvl8pPr marL="4199890" indent="0">
              <a:buNone/>
              <a:defRPr sz="2625"/>
            </a:lvl8pPr>
            <a:lvl9pPr marL="4799965" indent="0">
              <a:buNone/>
              <a:defRPr sz="2625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54852" y="2700000"/>
            <a:ext cx="7379551" cy="5002084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625"/>
            </a:lvl1pPr>
            <a:lvl2pPr marL="600075" indent="0">
              <a:buNone/>
              <a:defRPr sz="1835"/>
            </a:lvl2pPr>
            <a:lvl3pPr marL="1200150" indent="0">
              <a:buNone/>
              <a:defRPr sz="1575"/>
            </a:lvl3pPr>
            <a:lvl4pPr marL="1800225" indent="0">
              <a:buNone/>
              <a:defRPr sz="1310"/>
            </a:lvl4pPr>
            <a:lvl5pPr marL="2400300" indent="0">
              <a:buNone/>
              <a:defRPr sz="1310"/>
            </a:lvl5pPr>
            <a:lvl6pPr marL="2999740" indent="0">
              <a:buNone/>
              <a:defRPr sz="1310"/>
            </a:lvl6pPr>
            <a:lvl7pPr marL="3599815" indent="0">
              <a:buNone/>
              <a:defRPr sz="1310"/>
            </a:lvl7pPr>
            <a:lvl8pPr marL="4199890" indent="0">
              <a:buNone/>
              <a:defRPr sz="1310"/>
            </a:lvl8pPr>
            <a:lvl9pPr marL="4799965" indent="0">
              <a:buNone/>
              <a:defRPr sz="131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7406195" y="479167"/>
            <a:ext cx="2709514" cy="7627084"/>
          </a:xfrm>
        </p:spPr>
        <p:txBody>
          <a:bodyPr vert="eaVert">
            <a:normAutofit/>
          </a:bodyPr>
          <a:lstStyle>
            <a:lvl1pPr>
              <a:defRPr sz="5775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485052" y="479167"/>
            <a:ext cx="15732764" cy="7627084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1485052" y="723810"/>
            <a:ext cx="18630657" cy="7295238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485052" y="479167"/>
            <a:ext cx="18630657" cy="17395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485052" y="2395833"/>
            <a:ext cx="18630657" cy="57104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485052" y="8341667"/>
            <a:ext cx="4860171" cy="4791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5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7155252" y="8341667"/>
            <a:ext cx="7290257" cy="4791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5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5255538" y="8341667"/>
            <a:ext cx="4860171" cy="4791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5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1200150" rtl="0" eaLnBrk="1" latinLnBrk="0" hangingPunct="1">
        <a:lnSpc>
          <a:spcPct val="90000"/>
        </a:lnSpc>
        <a:spcBef>
          <a:spcPct val="0"/>
        </a:spcBef>
        <a:buNone/>
        <a:defRPr sz="57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9720" indent="-299720" algn="l" defTabSz="1200150" rtl="0" eaLnBrk="1" latinLnBrk="0" hangingPunct="1">
        <a:lnSpc>
          <a:spcPct val="90000"/>
        </a:lnSpc>
        <a:spcBef>
          <a:spcPct val="263000"/>
        </a:spcBef>
        <a:buFont typeface="Arial" panose="020B0604020202020204" pitchFamily="34" charset="0"/>
        <a:buChar char="•"/>
        <a:defRPr sz="3675" kern="1200">
          <a:solidFill>
            <a:schemeClr val="tx1"/>
          </a:solidFill>
          <a:latin typeface="+mn-lt"/>
          <a:ea typeface="+mn-ea"/>
          <a:cs typeface="+mn-cs"/>
        </a:defRPr>
      </a:lvl1pPr>
      <a:lvl2pPr marL="899795" indent="-299720" algn="l" defTabSz="1200150" rtl="0" eaLnBrk="1" latinLnBrk="0" hangingPunct="1">
        <a:lnSpc>
          <a:spcPct val="90000"/>
        </a:lnSpc>
        <a:spcBef>
          <a:spcPct val="132000"/>
        </a:spcBef>
        <a:buFont typeface="Arial" panose="020B0604020202020204" pitchFamily="34" charset="0"/>
        <a:buChar char="•"/>
        <a:defRPr sz="3150" kern="1200">
          <a:solidFill>
            <a:schemeClr val="tx1"/>
          </a:solidFill>
          <a:latin typeface="+mn-lt"/>
          <a:ea typeface="+mn-ea"/>
          <a:cs typeface="+mn-cs"/>
        </a:defRPr>
      </a:lvl2pPr>
      <a:lvl3pPr marL="1499870" indent="-299720" algn="l" defTabSz="1200150" rtl="0" eaLnBrk="1" latinLnBrk="0" hangingPunct="1">
        <a:lnSpc>
          <a:spcPct val="90000"/>
        </a:lnSpc>
        <a:spcBef>
          <a:spcPct val="132000"/>
        </a:spcBef>
        <a:buFont typeface="Arial" panose="020B0604020202020204" pitchFamily="34" charset="0"/>
        <a:buChar char="•"/>
        <a:defRPr sz="2625" kern="1200">
          <a:solidFill>
            <a:schemeClr val="tx1"/>
          </a:solidFill>
          <a:latin typeface="+mn-lt"/>
          <a:ea typeface="+mn-ea"/>
          <a:cs typeface="+mn-cs"/>
        </a:defRPr>
      </a:lvl3pPr>
      <a:lvl4pPr marL="2099945" indent="-299720" algn="l" defTabSz="1200150" rtl="0" eaLnBrk="1" latinLnBrk="0" hangingPunct="1">
        <a:lnSpc>
          <a:spcPct val="90000"/>
        </a:lnSpc>
        <a:spcBef>
          <a:spcPct val="132000"/>
        </a:spcBef>
        <a:buFont typeface="Arial" panose="020B0604020202020204" pitchFamily="34" charset="0"/>
        <a:buChar char="•"/>
        <a:defRPr sz="2360" kern="1200">
          <a:solidFill>
            <a:schemeClr val="tx1"/>
          </a:solidFill>
          <a:latin typeface="+mn-lt"/>
          <a:ea typeface="+mn-ea"/>
          <a:cs typeface="+mn-cs"/>
        </a:defRPr>
      </a:lvl4pPr>
      <a:lvl5pPr marL="2700020" indent="-299720" algn="l" defTabSz="1200150" rtl="0" eaLnBrk="1" latinLnBrk="0" hangingPunct="1">
        <a:lnSpc>
          <a:spcPct val="90000"/>
        </a:lnSpc>
        <a:spcBef>
          <a:spcPct val="132000"/>
        </a:spcBef>
        <a:buFont typeface="Arial" panose="020B0604020202020204" pitchFamily="34" charset="0"/>
        <a:buChar char="•"/>
        <a:defRPr sz="2360" kern="1200">
          <a:solidFill>
            <a:schemeClr val="tx1"/>
          </a:solidFill>
          <a:latin typeface="+mn-lt"/>
          <a:ea typeface="+mn-ea"/>
          <a:cs typeface="+mn-cs"/>
        </a:defRPr>
      </a:lvl5pPr>
      <a:lvl6pPr marL="3300095" indent="-299720" algn="l" defTabSz="1200150" rtl="0" eaLnBrk="1" latinLnBrk="0" hangingPunct="1">
        <a:lnSpc>
          <a:spcPct val="90000"/>
        </a:lnSpc>
        <a:spcBef>
          <a:spcPct val="132000"/>
        </a:spcBef>
        <a:buFont typeface="Arial" panose="020B0604020202020204" pitchFamily="34" charset="0"/>
        <a:buChar char="•"/>
        <a:defRPr sz="2360" kern="1200">
          <a:solidFill>
            <a:schemeClr val="tx1"/>
          </a:solidFill>
          <a:latin typeface="+mn-lt"/>
          <a:ea typeface="+mn-ea"/>
          <a:cs typeface="+mn-cs"/>
        </a:defRPr>
      </a:lvl6pPr>
      <a:lvl7pPr marL="3900170" indent="-299720" algn="l" defTabSz="1200150" rtl="0" eaLnBrk="1" latinLnBrk="0" hangingPunct="1">
        <a:lnSpc>
          <a:spcPct val="90000"/>
        </a:lnSpc>
        <a:spcBef>
          <a:spcPct val="132000"/>
        </a:spcBef>
        <a:buFont typeface="Arial" panose="020B0604020202020204" pitchFamily="34" charset="0"/>
        <a:buChar char="•"/>
        <a:defRPr sz="2360" kern="1200">
          <a:solidFill>
            <a:schemeClr val="tx1"/>
          </a:solidFill>
          <a:latin typeface="+mn-lt"/>
          <a:ea typeface="+mn-ea"/>
          <a:cs typeface="+mn-cs"/>
        </a:defRPr>
      </a:lvl7pPr>
      <a:lvl8pPr marL="4500245" indent="-299720" algn="l" defTabSz="1200150" rtl="0" eaLnBrk="1" latinLnBrk="0" hangingPunct="1">
        <a:lnSpc>
          <a:spcPct val="90000"/>
        </a:lnSpc>
        <a:spcBef>
          <a:spcPct val="132000"/>
        </a:spcBef>
        <a:buFont typeface="Arial" panose="020B0604020202020204" pitchFamily="34" charset="0"/>
        <a:buChar char="•"/>
        <a:defRPr sz="2360" kern="1200">
          <a:solidFill>
            <a:schemeClr val="tx1"/>
          </a:solidFill>
          <a:latin typeface="+mn-lt"/>
          <a:ea typeface="+mn-ea"/>
          <a:cs typeface="+mn-cs"/>
        </a:defRPr>
      </a:lvl8pPr>
      <a:lvl9pPr marL="5099685" indent="-299720" algn="l" defTabSz="1200150" rtl="0" eaLnBrk="1" latinLnBrk="0" hangingPunct="1">
        <a:lnSpc>
          <a:spcPct val="90000"/>
        </a:lnSpc>
        <a:spcBef>
          <a:spcPct val="132000"/>
        </a:spcBef>
        <a:buFont typeface="Arial" panose="020B0604020202020204" pitchFamily="34" charset="0"/>
        <a:buChar char="•"/>
        <a:defRPr sz="23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00150" rtl="0" eaLnBrk="1" latinLnBrk="0" hangingPunct="1">
        <a:defRPr sz="2360" kern="1200">
          <a:solidFill>
            <a:schemeClr val="tx1"/>
          </a:solidFill>
          <a:latin typeface="+mn-lt"/>
          <a:ea typeface="+mn-ea"/>
          <a:cs typeface="+mn-cs"/>
        </a:defRPr>
      </a:lvl1pPr>
      <a:lvl2pPr marL="600075" algn="l" defTabSz="1200150" rtl="0" eaLnBrk="1" latinLnBrk="0" hangingPunct="1">
        <a:defRPr sz="2360" kern="1200">
          <a:solidFill>
            <a:schemeClr val="tx1"/>
          </a:solidFill>
          <a:latin typeface="+mn-lt"/>
          <a:ea typeface="+mn-ea"/>
          <a:cs typeface="+mn-cs"/>
        </a:defRPr>
      </a:lvl2pPr>
      <a:lvl3pPr marL="1200150" algn="l" defTabSz="1200150" rtl="0" eaLnBrk="1" latinLnBrk="0" hangingPunct="1">
        <a:defRPr sz="2360" kern="1200">
          <a:solidFill>
            <a:schemeClr val="tx1"/>
          </a:solidFill>
          <a:latin typeface="+mn-lt"/>
          <a:ea typeface="+mn-ea"/>
          <a:cs typeface="+mn-cs"/>
        </a:defRPr>
      </a:lvl3pPr>
      <a:lvl4pPr marL="1800225" algn="l" defTabSz="1200150" rtl="0" eaLnBrk="1" latinLnBrk="0" hangingPunct="1">
        <a:defRPr sz="2360" kern="1200">
          <a:solidFill>
            <a:schemeClr val="tx1"/>
          </a:solidFill>
          <a:latin typeface="+mn-lt"/>
          <a:ea typeface="+mn-ea"/>
          <a:cs typeface="+mn-cs"/>
        </a:defRPr>
      </a:lvl4pPr>
      <a:lvl5pPr marL="2400300" algn="l" defTabSz="1200150" rtl="0" eaLnBrk="1" latinLnBrk="0" hangingPunct="1">
        <a:defRPr sz="2360" kern="1200">
          <a:solidFill>
            <a:schemeClr val="tx1"/>
          </a:solidFill>
          <a:latin typeface="+mn-lt"/>
          <a:ea typeface="+mn-ea"/>
          <a:cs typeface="+mn-cs"/>
        </a:defRPr>
      </a:lvl5pPr>
      <a:lvl6pPr marL="2999740" algn="l" defTabSz="1200150" rtl="0" eaLnBrk="1" latinLnBrk="0" hangingPunct="1">
        <a:defRPr sz="2360" kern="1200">
          <a:solidFill>
            <a:schemeClr val="tx1"/>
          </a:solidFill>
          <a:latin typeface="+mn-lt"/>
          <a:ea typeface="+mn-ea"/>
          <a:cs typeface="+mn-cs"/>
        </a:defRPr>
      </a:lvl6pPr>
      <a:lvl7pPr marL="3599815" algn="l" defTabSz="1200150" rtl="0" eaLnBrk="1" latinLnBrk="0" hangingPunct="1">
        <a:defRPr sz="2360" kern="1200">
          <a:solidFill>
            <a:schemeClr val="tx1"/>
          </a:solidFill>
          <a:latin typeface="+mn-lt"/>
          <a:ea typeface="+mn-ea"/>
          <a:cs typeface="+mn-cs"/>
        </a:defRPr>
      </a:lvl7pPr>
      <a:lvl8pPr marL="4199890" algn="l" defTabSz="1200150" rtl="0" eaLnBrk="1" latinLnBrk="0" hangingPunct="1">
        <a:defRPr sz="2360" kern="1200">
          <a:solidFill>
            <a:schemeClr val="tx1"/>
          </a:solidFill>
          <a:latin typeface="+mn-lt"/>
          <a:ea typeface="+mn-ea"/>
          <a:cs typeface="+mn-cs"/>
        </a:defRPr>
      </a:lvl8pPr>
      <a:lvl9pPr marL="4799965" algn="l" defTabSz="1200150" rtl="0" eaLnBrk="1" latinLnBrk="0" hangingPunct="1">
        <a:defRPr sz="23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svg"/><Relationship Id="rId8" Type="http://schemas.openxmlformats.org/officeDocument/2006/relationships/image" Target="../media/image8.png"/><Relationship Id="rId7" Type="http://schemas.openxmlformats.org/officeDocument/2006/relationships/image" Target="../media/image7.sv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5" Type="http://schemas.openxmlformats.org/officeDocument/2006/relationships/notesSlide" Target="../notesSlides/notesSlide1.xml"/><Relationship Id="rId24" Type="http://schemas.openxmlformats.org/officeDocument/2006/relationships/slideLayout" Target="../slideLayouts/slideLayout1.xml"/><Relationship Id="rId23" Type="http://schemas.openxmlformats.org/officeDocument/2006/relationships/image" Target="../media/image20.svg"/><Relationship Id="rId22" Type="http://schemas.openxmlformats.org/officeDocument/2006/relationships/image" Target="../media/image19.png"/><Relationship Id="rId21" Type="http://schemas.openxmlformats.org/officeDocument/2006/relationships/tags" Target="../tags/tag3.xml"/><Relationship Id="rId20" Type="http://schemas.openxmlformats.org/officeDocument/2006/relationships/image" Target="../media/image18.svg"/><Relationship Id="rId2" Type="http://schemas.openxmlformats.org/officeDocument/2006/relationships/image" Target="../media/image2.svg"/><Relationship Id="rId19" Type="http://schemas.openxmlformats.org/officeDocument/2006/relationships/image" Target="../media/image17.png"/><Relationship Id="rId18" Type="http://schemas.openxmlformats.org/officeDocument/2006/relationships/image" Target="../media/image16.png"/><Relationship Id="rId17" Type="http://schemas.openxmlformats.org/officeDocument/2006/relationships/image" Target="../media/image15.png"/><Relationship Id="rId16" Type="http://schemas.openxmlformats.org/officeDocument/2006/relationships/image" Target="../media/image14.svg"/><Relationship Id="rId15" Type="http://schemas.openxmlformats.org/officeDocument/2006/relationships/image" Target="../media/image13.png"/><Relationship Id="rId14" Type="http://schemas.openxmlformats.org/officeDocument/2006/relationships/image" Target="../media/image12.svg"/><Relationship Id="rId13" Type="http://schemas.openxmlformats.org/officeDocument/2006/relationships/image" Target="../media/image11.png"/><Relationship Id="rId12" Type="http://schemas.openxmlformats.org/officeDocument/2006/relationships/tags" Target="../tags/tag2.xml"/><Relationship Id="rId11" Type="http://schemas.openxmlformats.org/officeDocument/2006/relationships/tags" Target="../tags/tag1.xml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26.svg"/><Relationship Id="rId8" Type="http://schemas.openxmlformats.org/officeDocument/2006/relationships/image" Target="../media/image6.png"/><Relationship Id="rId7" Type="http://schemas.openxmlformats.org/officeDocument/2006/relationships/image" Target="../media/image25.png"/><Relationship Id="rId6" Type="http://schemas.openxmlformats.org/officeDocument/2006/relationships/image" Target="../media/image24.svg"/><Relationship Id="rId5" Type="http://schemas.openxmlformats.org/officeDocument/2006/relationships/image" Target="../media/image3.png"/><Relationship Id="rId4" Type="http://schemas.openxmlformats.org/officeDocument/2006/relationships/image" Target="../media/image23.svg"/><Relationship Id="rId3" Type="http://schemas.openxmlformats.org/officeDocument/2006/relationships/image" Target="../media/image1.png"/><Relationship Id="rId2" Type="http://schemas.openxmlformats.org/officeDocument/2006/relationships/image" Target="../media/image22.svg"/><Relationship Id="rId16" Type="http://schemas.openxmlformats.org/officeDocument/2006/relationships/notesSlide" Target="../notesSlides/notesSlide2.xml"/><Relationship Id="rId15" Type="http://schemas.openxmlformats.org/officeDocument/2006/relationships/slideLayout" Target="../slideLayouts/slideLayout1.xml"/><Relationship Id="rId14" Type="http://schemas.openxmlformats.org/officeDocument/2006/relationships/tags" Target="../tags/tag5.xml"/><Relationship Id="rId13" Type="http://schemas.openxmlformats.org/officeDocument/2006/relationships/tags" Target="../tags/tag4.xml"/><Relationship Id="rId12" Type="http://schemas.openxmlformats.org/officeDocument/2006/relationships/image" Target="../media/image10.png"/><Relationship Id="rId11" Type="http://schemas.openxmlformats.org/officeDocument/2006/relationships/image" Target="../media/image28.svg"/><Relationship Id="rId10" Type="http://schemas.openxmlformats.org/officeDocument/2006/relationships/image" Target="../media/image27.png"/><Relationship Id="rId1" Type="http://schemas.openxmlformats.org/officeDocument/2006/relationships/image" Target="../media/image2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35.svg"/><Relationship Id="rId8" Type="http://schemas.openxmlformats.org/officeDocument/2006/relationships/image" Target="../media/image34.png"/><Relationship Id="rId7" Type="http://schemas.openxmlformats.org/officeDocument/2006/relationships/image" Target="../media/image33.svg"/><Relationship Id="rId6" Type="http://schemas.openxmlformats.org/officeDocument/2006/relationships/image" Target="../media/image32.png"/><Relationship Id="rId5" Type="http://schemas.openxmlformats.org/officeDocument/2006/relationships/tags" Target="../tags/tag7.xml"/><Relationship Id="rId43" Type="http://schemas.openxmlformats.org/officeDocument/2006/relationships/notesSlide" Target="../notesSlides/notesSlide3.xml"/><Relationship Id="rId42" Type="http://schemas.openxmlformats.org/officeDocument/2006/relationships/slideLayout" Target="../slideLayouts/slideLayout1.xml"/><Relationship Id="rId41" Type="http://schemas.openxmlformats.org/officeDocument/2006/relationships/image" Target="../media/image62.svg"/><Relationship Id="rId40" Type="http://schemas.openxmlformats.org/officeDocument/2006/relationships/image" Target="../media/image61.png"/><Relationship Id="rId4" Type="http://schemas.openxmlformats.org/officeDocument/2006/relationships/image" Target="../media/image31.png"/><Relationship Id="rId39" Type="http://schemas.openxmlformats.org/officeDocument/2006/relationships/image" Target="../media/image60.svg"/><Relationship Id="rId38" Type="http://schemas.openxmlformats.org/officeDocument/2006/relationships/image" Target="../media/image59.png"/><Relationship Id="rId37" Type="http://schemas.openxmlformats.org/officeDocument/2006/relationships/image" Target="../media/image58.svg"/><Relationship Id="rId36" Type="http://schemas.openxmlformats.org/officeDocument/2006/relationships/image" Target="../media/image57.png"/><Relationship Id="rId35" Type="http://schemas.openxmlformats.org/officeDocument/2006/relationships/image" Target="../media/image56.svg"/><Relationship Id="rId34" Type="http://schemas.openxmlformats.org/officeDocument/2006/relationships/image" Target="../media/image55.png"/><Relationship Id="rId33" Type="http://schemas.openxmlformats.org/officeDocument/2006/relationships/image" Target="../media/image54.svg"/><Relationship Id="rId32" Type="http://schemas.openxmlformats.org/officeDocument/2006/relationships/image" Target="../media/image53.png"/><Relationship Id="rId31" Type="http://schemas.openxmlformats.org/officeDocument/2006/relationships/image" Target="../media/image52.svg"/><Relationship Id="rId30" Type="http://schemas.openxmlformats.org/officeDocument/2006/relationships/image" Target="../media/image51.png"/><Relationship Id="rId3" Type="http://schemas.openxmlformats.org/officeDocument/2006/relationships/tags" Target="../tags/tag6.xml"/><Relationship Id="rId29" Type="http://schemas.openxmlformats.org/officeDocument/2006/relationships/image" Target="../media/image50.svg"/><Relationship Id="rId28" Type="http://schemas.openxmlformats.org/officeDocument/2006/relationships/image" Target="../media/image49.png"/><Relationship Id="rId27" Type="http://schemas.openxmlformats.org/officeDocument/2006/relationships/tags" Target="../tags/tag11.xml"/><Relationship Id="rId26" Type="http://schemas.openxmlformats.org/officeDocument/2006/relationships/tags" Target="../tags/tag10.xml"/><Relationship Id="rId25" Type="http://schemas.openxmlformats.org/officeDocument/2006/relationships/image" Target="../media/image48.svg"/><Relationship Id="rId24" Type="http://schemas.openxmlformats.org/officeDocument/2006/relationships/image" Target="../media/image47.png"/><Relationship Id="rId23" Type="http://schemas.openxmlformats.org/officeDocument/2006/relationships/image" Target="../media/image22.svg"/><Relationship Id="rId22" Type="http://schemas.openxmlformats.org/officeDocument/2006/relationships/image" Target="../media/image46.png"/><Relationship Id="rId21" Type="http://schemas.openxmlformats.org/officeDocument/2006/relationships/image" Target="../media/image45.svg"/><Relationship Id="rId20" Type="http://schemas.openxmlformats.org/officeDocument/2006/relationships/image" Target="../media/image44.png"/><Relationship Id="rId2" Type="http://schemas.openxmlformats.org/officeDocument/2006/relationships/image" Target="../media/image30.svg"/><Relationship Id="rId19" Type="http://schemas.openxmlformats.org/officeDocument/2006/relationships/image" Target="../media/image43.svg"/><Relationship Id="rId18" Type="http://schemas.openxmlformats.org/officeDocument/2006/relationships/image" Target="../media/image42.png"/><Relationship Id="rId17" Type="http://schemas.openxmlformats.org/officeDocument/2006/relationships/image" Target="../media/image41.svg"/><Relationship Id="rId16" Type="http://schemas.openxmlformats.org/officeDocument/2006/relationships/image" Target="../media/image40.png"/><Relationship Id="rId15" Type="http://schemas.openxmlformats.org/officeDocument/2006/relationships/tags" Target="../tags/tag9.xml"/><Relationship Id="rId14" Type="http://schemas.openxmlformats.org/officeDocument/2006/relationships/tags" Target="../tags/tag8.xml"/><Relationship Id="rId13" Type="http://schemas.openxmlformats.org/officeDocument/2006/relationships/image" Target="../media/image39.svg"/><Relationship Id="rId12" Type="http://schemas.openxmlformats.org/officeDocument/2006/relationships/image" Target="../media/image38.png"/><Relationship Id="rId11" Type="http://schemas.openxmlformats.org/officeDocument/2006/relationships/image" Target="../media/image37.svg"/><Relationship Id="rId10" Type="http://schemas.openxmlformats.org/officeDocument/2006/relationships/image" Target="../media/image36.png"/><Relationship Id="rId1" Type="http://schemas.openxmlformats.org/officeDocument/2006/relationships/image" Target="../media/image29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65.svg"/><Relationship Id="rId8" Type="http://schemas.openxmlformats.org/officeDocument/2006/relationships/image" Target="../media/image34.png"/><Relationship Id="rId7" Type="http://schemas.openxmlformats.org/officeDocument/2006/relationships/image" Target="../media/image64.svg"/><Relationship Id="rId6" Type="http://schemas.openxmlformats.org/officeDocument/2006/relationships/image" Target="../media/image32.png"/><Relationship Id="rId5" Type="http://schemas.openxmlformats.org/officeDocument/2006/relationships/tags" Target="../tags/tag13.xml"/><Relationship Id="rId4" Type="http://schemas.openxmlformats.org/officeDocument/2006/relationships/image" Target="../media/image31.png"/><Relationship Id="rId39" Type="http://schemas.openxmlformats.org/officeDocument/2006/relationships/notesSlide" Target="../notesSlides/notesSlide4.xml"/><Relationship Id="rId38" Type="http://schemas.openxmlformats.org/officeDocument/2006/relationships/slideLayout" Target="../slideLayouts/slideLayout1.xml"/><Relationship Id="rId37" Type="http://schemas.openxmlformats.org/officeDocument/2006/relationships/image" Target="../media/image78.svg"/><Relationship Id="rId36" Type="http://schemas.openxmlformats.org/officeDocument/2006/relationships/image" Target="../media/image51.png"/><Relationship Id="rId35" Type="http://schemas.openxmlformats.org/officeDocument/2006/relationships/image" Target="../media/image77.svg"/><Relationship Id="rId34" Type="http://schemas.openxmlformats.org/officeDocument/2006/relationships/image" Target="../media/image49.png"/><Relationship Id="rId33" Type="http://schemas.openxmlformats.org/officeDocument/2006/relationships/tags" Target="../tags/tag19.xml"/><Relationship Id="rId32" Type="http://schemas.openxmlformats.org/officeDocument/2006/relationships/image" Target="../media/image76.png"/><Relationship Id="rId31" Type="http://schemas.openxmlformats.org/officeDocument/2006/relationships/tags" Target="../tags/tag18.xml"/><Relationship Id="rId30" Type="http://schemas.openxmlformats.org/officeDocument/2006/relationships/image" Target="../media/image75.png"/><Relationship Id="rId3" Type="http://schemas.openxmlformats.org/officeDocument/2006/relationships/tags" Target="../tags/tag12.xml"/><Relationship Id="rId29" Type="http://schemas.openxmlformats.org/officeDocument/2006/relationships/tags" Target="../tags/tag17.xml"/><Relationship Id="rId28" Type="http://schemas.openxmlformats.org/officeDocument/2006/relationships/image" Target="../media/image74.svg"/><Relationship Id="rId27" Type="http://schemas.openxmlformats.org/officeDocument/2006/relationships/image" Target="../media/image73.png"/><Relationship Id="rId26" Type="http://schemas.openxmlformats.org/officeDocument/2006/relationships/tags" Target="../tags/tag16.xml"/><Relationship Id="rId25" Type="http://schemas.openxmlformats.org/officeDocument/2006/relationships/image" Target="../media/image72.svg"/><Relationship Id="rId24" Type="http://schemas.openxmlformats.org/officeDocument/2006/relationships/image" Target="../media/image47.png"/><Relationship Id="rId23" Type="http://schemas.openxmlformats.org/officeDocument/2006/relationships/image" Target="../media/image71.svg"/><Relationship Id="rId22" Type="http://schemas.openxmlformats.org/officeDocument/2006/relationships/image" Target="../media/image21.png"/><Relationship Id="rId21" Type="http://schemas.openxmlformats.org/officeDocument/2006/relationships/image" Target="../media/image70.svg"/><Relationship Id="rId20" Type="http://schemas.openxmlformats.org/officeDocument/2006/relationships/image" Target="../media/image44.png"/><Relationship Id="rId2" Type="http://schemas.openxmlformats.org/officeDocument/2006/relationships/image" Target="../media/image63.svg"/><Relationship Id="rId19" Type="http://schemas.openxmlformats.org/officeDocument/2006/relationships/image" Target="../media/image69.svg"/><Relationship Id="rId18" Type="http://schemas.openxmlformats.org/officeDocument/2006/relationships/image" Target="../media/image42.png"/><Relationship Id="rId17" Type="http://schemas.openxmlformats.org/officeDocument/2006/relationships/image" Target="../media/image68.svg"/><Relationship Id="rId16" Type="http://schemas.openxmlformats.org/officeDocument/2006/relationships/image" Target="../media/image40.png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image" Target="../media/image67.svg"/><Relationship Id="rId12" Type="http://schemas.openxmlformats.org/officeDocument/2006/relationships/image" Target="../media/image38.png"/><Relationship Id="rId11" Type="http://schemas.openxmlformats.org/officeDocument/2006/relationships/image" Target="../media/image66.svg"/><Relationship Id="rId10" Type="http://schemas.openxmlformats.org/officeDocument/2006/relationships/image" Target="../media/image36.png"/><Relationship Id="rId1" Type="http://schemas.openxmlformats.org/officeDocument/2006/relationships/image" Target="../media/image29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65.svg"/><Relationship Id="rId8" Type="http://schemas.openxmlformats.org/officeDocument/2006/relationships/image" Target="../media/image34.png"/><Relationship Id="rId7" Type="http://schemas.openxmlformats.org/officeDocument/2006/relationships/image" Target="../media/image64.svg"/><Relationship Id="rId6" Type="http://schemas.openxmlformats.org/officeDocument/2006/relationships/image" Target="../media/image32.png"/><Relationship Id="rId5" Type="http://schemas.openxmlformats.org/officeDocument/2006/relationships/tags" Target="../tags/tag21.xml"/><Relationship Id="rId4" Type="http://schemas.openxmlformats.org/officeDocument/2006/relationships/image" Target="../media/image31.png"/><Relationship Id="rId39" Type="http://schemas.openxmlformats.org/officeDocument/2006/relationships/notesSlide" Target="../notesSlides/notesSlide5.xml"/><Relationship Id="rId38" Type="http://schemas.openxmlformats.org/officeDocument/2006/relationships/slideLayout" Target="../slideLayouts/slideLayout1.xml"/><Relationship Id="rId37" Type="http://schemas.openxmlformats.org/officeDocument/2006/relationships/image" Target="../media/image78.svg"/><Relationship Id="rId36" Type="http://schemas.openxmlformats.org/officeDocument/2006/relationships/image" Target="../media/image51.png"/><Relationship Id="rId35" Type="http://schemas.openxmlformats.org/officeDocument/2006/relationships/image" Target="../media/image77.svg"/><Relationship Id="rId34" Type="http://schemas.openxmlformats.org/officeDocument/2006/relationships/image" Target="../media/image49.png"/><Relationship Id="rId33" Type="http://schemas.openxmlformats.org/officeDocument/2006/relationships/tags" Target="../tags/tag27.xml"/><Relationship Id="rId32" Type="http://schemas.openxmlformats.org/officeDocument/2006/relationships/image" Target="../media/image76.png"/><Relationship Id="rId31" Type="http://schemas.openxmlformats.org/officeDocument/2006/relationships/tags" Target="../tags/tag26.xml"/><Relationship Id="rId30" Type="http://schemas.openxmlformats.org/officeDocument/2006/relationships/image" Target="../media/image75.png"/><Relationship Id="rId3" Type="http://schemas.openxmlformats.org/officeDocument/2006/relationships/tags" Target="../tags/tag20.xml"/><Relationship Id="rId29" Type="http://schemas.openxmlformats.org/officeDocument/2006/relationships/tags" Target="../tags/tag25.xml"/><Relationship Id="rId28" Type="http://schemas.openxmlformats.org/officeDocument/2006/relationships/image" Target="../media/image74.svg"/><Relationship Id="rId27" Type="http://schemas.openxmlformats.org/officeDocument/2006/relationships/image" Target="../media/image79.png"/><Relationship Id="rId26" Type="http://schemas.openxmlformats.org/officeDocument/2006/relationships/tags" Target="../tags/tag24.xml"/><Relationship Id="rId25" Type="http://schemas.openxmlformats.org/officeDocument/2006/relationships/image" Target="../media/image72.svg"/><Relationship Id="rId24" Type="http://schemas.openxmlformats.org/officeDocument/2006/relationships/image" Target="../media/image47.png"/><Relationship Id="rId23" Type="http://schemas.openxmlformats.org/officeDocument/2006/relationships/image" Target="../media/image71.svg"/><Relationship Id="rId22" Type="http://schemas.openxmlformats.org/officeDocument/2006/relationships/image" Target="../media/image21.png"/><Relationship Id="rId21" Type="http://schemas.openxmlformats.org/officeDocument/2006/relationships/image" Target="../media/image70.svg"/><Relationship Id="rId20" Type="http://schemas.openxmlformats.org/officeDocument/2006/relationships/image" Target="../media/image44.png"/><Relationship Id="rId2" Type="http://schemas.openxmlformats.org/officeDocument/2006/relationships/image" Target="../media/image63.svg"/><Relationship Id="rId19" Type="http://schemas.openxmlformats.org/officeDocument/2006/relationships/image" Target="../media/image69.svg"/><Relationship Id="rId18" Type="http://schemas.openxmlformats.org/officeDocument/2006/relationships/image" Target="../media/image42.png"/><Relationship Id="rId17" Type="http://schemas.openxmlformats.org/officeDocument/2006/relationships/image" Target="../media/image68.svg"/><Relationship Id="rId16" Type="http://schemas.openxmlformats.org/officeDocument/2006/relationships/image" Target="../media/image40.png"/><Relationship Id="rId15" Type="http://schemas.openxmlformats.org/officeDocument/2006/relationships/tags" Target="../tags/tag23.xml"/><Relationship Id="rId14" Type="http://schemas.openxmlformats.org/officeDocument/2006/relationships/tags" Target="../tags/tag22.xml"/><Relationship Id="rId13" Type="http://schemas.openxmlformats.org/officeDocument/2006/relationships/image" Target="../media/image67.svg"/><Relationship Id="rId12" Type="http://schemas.openxmlformats.org/officeDocument/2006/relationships/image" Target="../media/image38.png"/><Relationship Id="rId11" Type="http://schemas.openxmlformats.org/officeDocument/2006/relationships/image" Target="../media/image66.svg"/><Relationship Id="rId10" Type="http://schemas.openxmlformats.org/officeDocument/2006/relationships/image" Target="../media/image36.png"/><Relationship Id="rId1" Type="http://schemas.openxmlformats.org/officeDocument/2006/relationships/image" Target="../media/image29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65.svg"/><Relationship Id="rId8" Type="http://schemas.openxmlformats.org/officeDocument/2006/relationships/image" Target="../media/image34.png"/><Relationship Id="rId7" Type="http://schemas.openxmlformats.org/officeDocument/2006/relationships/image" Target="../media/image64.svg"/><Relationship Id="rId6" Type="http://schemas.openxmlformats.org/officeDocument/2006/relationships/image" Target="../media/image32.png"/><Relationship Id="rId5" Type="http://schemas.openxmlformats.org/officeDocument/2006/relationships/tags" Target="../tags/tag29.xml"/><Relationship Id="rId4" Type="http://schemas.openxmlformats.org/officeDocument/2006/relationships/image" Target="../media/image31.png"/><Relationship Id="rId39" Type="http://schemas.openxmlformats.org/officeDocument/2006/relationships/notesSlide" Target="../notesSlides/notesSlide6.xml"/><Relationship Id="rId38" Type="http://schemas.openxmlformats.org/officeDocument/2006/relationships/slideLayout" Target="../slideLayouts/slideLayout1.xml"/><Relationship Id="rId37" Type="http://schemas.openxmlformats.org/officeDocument/2006/relationships/image" Target="../media/image78.svg"/><Relationship Id="rId36" Type="http://schemas.openxmlformats.org/officeDocument/2006/relationships/image" Target="../media/image51.png"/><Relationship Id="rId35" Type="http://schemas.openxmlformats.org/officeDocument/2006/relationships/image" Target="../media/image77.svg"/><Relationship Id="rId34" Type="http://schemas.openxmlformats.org/officeDocument/2006/relationships/image" Target="../media/image49.png"/><Relationship Id="rId33" Type="http://schemas.openxmlformats.org/officeDocument/2006/relationships/tags" Target="../tags/tag35.xml"/><Relationship Id="rId32" Type="http://schemas.openxmlformats.org/officeDocument/2006/relationships/image" Target="../media/image76.png"/><Relationship Id="rId31" Type="http://schemas.openxmlformats.org/officeDocument/2006/relationships/tags" Target="../tags/tag34.xml"/><Relationship Id="rId30" Type="http://schemas.openxmlformats.org/officeDocument/2006/relationships/image" Target="../media/image75.png"/><Relationship Id="rId3" Type="http://schemas.openxmlformats.org/officeDocument/2006/relationships/tags" Target="../tags/tag28.xml"/><Relationship Id="rId29" Type="http://schemas.openxmlformats.org/officeDocument/2006/relationships/tags" Target="../tags/tag33.xml"/><Relationship Id="rId28" Type="http://schemas.openxmlformats.org/officeDocument/2006/relationships/image" Target="../media/image74.svg"/><Relationship Id="rId27" Type="http://schemas.openxmlformats.org/officeDocument/2006/relationships/image" Target="../media/image79.png"/><Relationship Id="rId26" Type="http://schemas.openxmlformats.org/officeDocument/2006/relationships/tags" Target="../tags/tag32.xml"/><Relationship Id="rId25" Type="http://schemas.openxmlformats.org/officeDocument/2006/relationships/image" Target="../media/image72.svg"/><Relationship Id="rId24" Type="http://schemas.openxmlformats.org/officeDocument/2006/relationships/image" Target="../media/image47.png"/><Relationship Id="rId23" Type="http://schemas.openxmlformats.org/officeDocument/2006/relationships/image" Target="../media/image71.svg"/><Relationship Id="rId22" Type="http://schemas.openxmlformats.org/officeDocument/2006/relationships/image" Target="../media/image21.png"/><Relationship Id="rId21" Type="http://schemas.openxmlformats.org/officeDocument/2006/relationships/image" Target="../media/image70.svg"/><Relationship Id="rId20" Type="http://schemas.openxmlformats.org/officeDocument/2006/relationships/image" Target="../media/image44.png"/><Relationship Id="rId2" Type="http://schemas.openxmlformats.org/officeDocument/2006/relationships/image" Target="../media/image63.svg"/><Relationship Id="rId19" Type="http://schemas.openxmlformats.org/officeDocument/2006/relationships/image" Target="../media/image69.svg"/><Relationship Id="rId18" Type="http://schemas.openxmlformats.org/officeDocument/2006/relationships/image" Target="../media/image42.png"/><Relationship Id="rId17" Type="http://schemas.openxmlformats.org/officeDocument/2006/relationships/image" Target="../media/image68.svg"/><Relationship Id="rId16" Type="http://schemas.openxmlformats.org/officeDocument/2006/relationships/image" Target="../media/image40.png"/><Relationship Id="rId15" Type="http://schemas.openxmlformats.org/officeDocument/2006/relationships/tags" Target="../tags/tag31.xml"/><Relationship Id="rId14" Type="http://schemas.openxmlformats.org/officeDocument/2006/relationships/tags" Target="../tags/tag30.xml"/><Relationship Id="rId13" Type="http://schemas.openxmlformats.org/officeDocument/2006/relationships/image" Target="../media/image67.svg"/><Relationship Id="rId12" Type="http://schemas.openxmlformats.org/officeDocument/2006/relationships/image" Target="../media/image38.png"/><Relationship Id="rId11" Type="http://schemas.openxmlformats.org/officeDocument/2006/relationships/image" Target="../media/image66.svg"/><Relationship Id="rId10" Type="http://schemas.openxmlformats.org/officeDocument/2006/relationships/image" Target="../media/image36.png"/><Relationship Id="rId1" Type="http://schemas.openxmlformats.org/officeDocument/2006/relationships/image" Target="../media/image29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65.svg"/><Relationship Id="rId8" Type="http://schemas.openxmlformats.org/officeDocument/2006/relationships/image" Target="../media/image34.png"/><Relationship Id="rId7" Type="http://schemas.openxmlformats.org/officeDocument/2006/relationships/image" Target="../media/image64.svg"/><Relationship Id="rId6" Type="http://schemas.openxmlformats.org/officeDocument/2006/relationships/image" Target="../media/image32.png"/><Relationship Id="rId5" Type="http://schemas.openxmlformats.org/officeDocument/2006/relationships/tags" Target="../tags/tag37.xml"/><Relationship Id="rId43" Type="http://schemas.openxmlformats.org/officeDocument/2006/relationships/notesSlide" Target="../notesSlides/notesSlide7.xml"/><Relationship Id="rId42" Type="http://schemas.openxmlformats.org/officeDocument/2006/relationships/slideLayout" Target="../slideLayouts/slideLayout1.xml"/><Relationship Id="rId41" Type="http://schemas.openxmlformats.org/officeDocument/2006/relationships/image" Target="../media/image84.svg"/><Relationship Id="rId40" Type="http://schemas.openxmlformats.org/officeDocument/2006/relationships/image" Target="../media/image61.png"/><Relationship Id="rId4" Type="http://schemas.openxmlformats.org/officeDocument/2006/relationships/image" Target="../media/image31.png"/><Relationship Id="rId39" Type="http://schemas.openxmlformats.org/officeDocument/2006/relationships/image" Target="../media/image83.svg"/><Relationship Id="rId38" Type="http://schemas.openxmlformats.org/officeDocument/2006/relationships/image" Target="../media/image59.png"/><Relationship Id="rId37" Type="http://schemas.openxmlformats.org/officeDocument/2006/relationships/image" Target="../media/image82.svg"/><Relationship Id="rId36" Type="http://schemas.openxmlformats.org/officeDocument/2006/relationships/image" Target="../media/image57.png"/><Relationship Id="rId35" Type="http://schemas.openxmlformats.org/officeDocument/2006/relationships/image" Target="../media/image81.svg"/><Relationship Id="rId34" Type="http://schemas.openxmlformats.org/officeDocument/2006/relationships/image" Target="../media/image55.png"/><Relationship Id="rId33" Type="http://schemas.openxmlformats.org/officeDocument/2006/relationships/image" Target="../media/image80.svg"/><Relationship Id="rId32" Type="http://schemas.openxmlformats.org/officeDocument/2006/relationships/image" Target="../media/image53.png"/><Relationship Id="rId31" Type="http://schemas.openxmlformats.org/officeDocument/2006/relationships/image" Target="../media/image78.svg"/><Relationship Id="rId30" Type="http://schemas.openxmlformats.org/officeDocument/2006/relationships/image" Target="../media/image51.png"/><Relationship Id="rId3" Type="http://schemas.openxmlformats.org/officeDocument/2006/relationships/tags" Target="../tags/tag36.xml"/><Relationship Id="rId29" Type="http://schemas.openxmlformats.org/officeDocument/2006/relationships/image" Target="../media/image77.svg"/><Relationship Id="rId28" Type="http://schemas.openxmlformats.org/officeDocument/2006/relationships/image" Target="../media/image49.png"/><Relationship Id="rId27" Type="http://schemas.openxmlformats.org/officeDocument/2006/relationships/tags" Target="../tags/tag41.xml"/><Relationship Id="rId26" Type="http://schemas.openxmlformats.org/officeDocument/2006/relationships/tags" Target="../tags/tag40.xml"/><Relationship Id="rId25" Type="http://schemas.openxmlformats.org/officeDocument/2006/relationships/image" Target="../media/image72.svg"/><Relationship Id="rId24" Type="http://schemas.openxmlformats.org/officeDocument/2006/relationships/image" Target="../media/image47.png"/><Relationship Id="rId23" Type="http://schemas.openxmlformats.org/officeDocument/2006/relationships/image" Target="../media/image71.svg"/><Relationship Id="rId22" Type="http://schemas.openxmlformats.org/officeDocument/2006/relationships/image" Target="../media/image21.png"/><Relationship Id="rId21" Type="http://schemas.openxmlformats.org/officeDocument/2006/relationships/image" Target="../media/image70.svg"/><Relationship Id="rId20" Type="http://schemas.openxmlformats.org/officeDocument/2006/relationships/image" Target="../media/image44.png"/><Relationship Id="rId2" Type="http://schemas.openxmlformats.org/officeDocument/2006/relationships/image" Target="../media/image63.svg"/><Relationship Id="rId19" Type="http://schemas.openxmlformats.org/officeDocument/2006/relationships/image" Target="../media/image69.svg"/><Relationship Id="rId18" Type="http://schemas.openxmlformats.org/officeDocument/2006/relationships/image" Target="../media/image42.png"/><Relationship Id="rId17" Type="http://schemas.openxmlformats.org/officeDocument/2006/relationships/image" Target="../media/image68.svg"/><Relationship Id="rId16" Type="http://schemas.openxmlformats.org/officeDocument/2006/relationships/image" Target="../media/image40.png"/><Relationship Id="rId15" Type="http://schemas.openxmlformats.org/officeDocument/2006/relationships/tags" Target="../tags/tag39.xml"/><Relationship Id="rId14" Type="http://schemas.openxmlformats.org/officeDocument/2006/relationships/tags" Target="../tags/tag38.xml"/><Relationship Id="rId13" Type="http://schemas.openxmlformats.org/officeDocument/2006/relationships/image" Target="../media/image67.svg"/><Relationship Id="rId12" Type="http://schemas.openxmlformats.org/officeDocument/2006/relationships/image" Target="../media/image38.png"/><Relationship Id="rId11" Type="http://schemas.openxmlformats.org/officeDocument/2006/relationships/image" Target="../media/image66.svg"/><Relationship Id="rId10" Type="http://schemas.openxmlformats.org/officeDocument/2006/relationships/image" Target="../media/image36.png"/><Relationship Id="rId1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44.xml"/><Relationship Id="rId8" Type="http://schemas.openxmlformats.org/officeDocument/2006/relationships/tags" Target="../tags/tag43.xml"/><Relationship Id="rId75" Type="http://schemas.openxmlformats.org/officeDocument/2006/relationships/notesSlide" Target="../notesSlides/notesSlide8.xml"/><Relationship Id="rId74" Type="http://schemas.openxmlformats.org/officeDocument/2006/relationships/slideLayout" Target="../slideLayouts/slideLayout1.xml"/><Relationship Id="rId73" Type="http://schemas.openxmlformats.org/officeDocument/2006/relationships/tags" Target="../tags/tag83.xml"/><Relationship Id="rId72" Type="http://schemas.openxmlformats.org/officeDocument/2006/relationships/tags" Target="../tags/tag82.xml"/><Relationship Id="rId71" Type="http://schemas.openxmlformats.org/officeDocument/2006/relationships/tags" Target="../tags/tag81.xml"/><Relationship Id="rId70" Type="http://schemas.openxmlformats.org/officeDocument/2006/relationships/tags" Target="../tags/tag80.xml"/><Relationship Id="rId7" Type="http://schemas.openxmlformats.org/officeDocument/2006/relationships/image" Target="../media/image69.svg"/><Relationship Id="rId69" Type="http://schemas.openxmlformats.org/officeDocument/2006/relationships/tags" Target="../tags/tag79.xml"/><Relationship Id="rId68" Type="http://schemas.openxmlformats.org/officeDocument/2006/relationships/tags" Target="../tags/tag78.xml"/><Relationship Id="rId67" Type="http://schemas.openxmlformats.org/officeDocument/2006/relationships/tags" Target="../tags/tag77.xml"/><Relationship Id="rId66" Type="http://schemas.openxmlformats.org/officeDocument/2006/relationships/tags" Target="../tags/tag76.xml"/><Relationship Id="rId65" Type="http://schemas.openxmlformats.org/officeDocument/2006/relationships/tags" Target="../tags/tag75.xml"/><Relationship Id="rId64" Type="http://schemas.openxmlformats.org/officeDocument/2006/relationships/tags" Target="../tags/tag74.xml"/><Relationship Id="rId63" Type="http://schemas.openxmlformats.org/officeDocument/2006/relationships/tags" Target="../tags/tag73.xml"/><Relationship Id="rId62" Type="http://schemas.openxmlformats.org/officeDocument/2006/relationships/image" Target="../media/image67.svg"/><Relationship Id="rId61" Type="http://schemas.openxmlformats.org/officeDocument/2006/relationships/image" Target="../media/image38.png"/><Relationship Id="rId60" Type="http://schemas.openxmlformats.org/officeDocument/2006/relationships/image" Target="../media/image66.svg"/><Relationship Id="rId6" Type="http://schemas.openxmlformats.org/officeDocument/2006/relationships/image" Target="../media/image42.png"/><Relationship Id="rId59" Type="http://schemas.openxmlformats.org/officeDocument/2006/relationships/image" Target="../media/image36.png"/><Relationship Id="rId58" Type="http://schemas.openxmlformats.org/officeDocument/2006/relationships/image" Target="../media/image65.svg"/><Relationship Id="rId57" Type="http://schemas.openxmlformats.org/officeDocument/2006/relationships/image" Target="../media/image34.png"/><Relationship Id="rId56" Type="http://schemas.openxmlformats.org/officeDocument/2006/relationships/image" Target="../media/image64.svg"/><Relationship Id="rId55" Type="http://schemas.openxmlformats.org/officeDocument/2006/relationships/image" Target="../media/image32.png"/><Relationship Id="rId54" Type="http://schemas.openxmlformats.org/officeDocument/2006/relationships/image" Target="../media/image72.svg"/><Relationship Id="rId53" Type="http://schemas.openxmlformats.org/officeDocument/2006/relationships/image" Target="../media/image47.png"/><Relationship Id="rId52" Type="http://schemas.openxmlformats.org/officeDocument/2006/relationships/tags" Target="../tags/tag72.xml"/><Relationship Id="rId51" Type="http://schemas.openxmlformats.org/officeDocument/2006/relationships/image" Target="../media/image31.png"/><Relationship Id="rId50" Type="http://schemas.openxmlformats.org/officeDocument/2006/relationships/image" Target="../media/image98.svg"/><Relationship Id="rId5" Type="http://schemas.openxmlformats.org/officeDocument/2006/relationships/image" Target="../media/image68.svg"/><Relationship Id="rId49" Type="http://schemas.openxmlformats.org/officeDocument/2006/relationships/image" Target="../media/image97.png"/><Relationship Id="rId48" Type="http://schemas.openxmlformats.org/officeDocument/2006/relationships/tags" Target="../tags/tag71.xml"/><Relationship Id="rId47" Type="http://schemas.openxmlformats.org/officeDocument/2006/relationships/image" Target="../media/image96.png"/><Relationship Id="rId46" Type="http://schemas.openxmlformats.org/officeDocument/2006/relationships/tags" Target="../tags/tag70.xml"/><Relationship Id="rId45" Type="http://schemas.openxmlformats.org/officeDocument/2006/relationships/image" Target="../media/image95.svg"/><Relationship Id="rId44" Type="http://schemas.openxmlformats.org/officeDocument/2006/relationships/image" Target="../media/image94.png"/><Relationship Id="rId43" Type="http://schemas.openxmlformats.org/officeDocument/2006/relationships/tags" Target="../tags/tag69.xml"/><Relationship Id="rId42" Type="http://schemas.openxmlformats.org/officeDocument/2006/relationships/image" Target="../media/image93.svg"/><Relationship Id="rId41" Type="http://schemas.openxmlformats.org/officeDocument/2006/relationships/image" Target="../media/image92.png"/><Relationship Id="rId40" Type="http://schemas.openxmlformats.org/officeDocument/2006/relationships/tags" Target="../tags/tag68.xml"/><Relationship Id="rId4" Type="http://schemas.openxmlformats.org/officeDocument/2006/relationships/image" Target="../media/image40.png"/><Relationship Id="rId39" Type="http://schemas.openxmlformats.org/officeDocument/2006/relationships/tags" Target="../tags/tag67.xml"/><Relationship Id="rId38" Type="http://schemas.openxmlformats.org/officeDocument/2006/relationships/tags" Target="../tags/tag66.xml"/><Relationship Id="rId37" Type="http://schemas.openxmlformats.org/officeDocument/2006/relationships/tags" Target="../tags/tag65.xml"/><Relationship Id="rId36" Type="http://schemas.openxmlformats.org/officeDocument/2006/relationships/tags" Target="../tags/tag64.xml"/><Relationship Id="rId35" Type="http://schemas.openxmlformats.org/officeDocument/2006/relationships/tags" Target="../tags/tag63.xml"/><Relationship Id="rId34" Type="http://schemas.openxmlformats.org/officeDocument/2006/relationships/tags" Target="../tags/tag62.xml"/><Relationship Id="rId33" Type="http://schemas.openxmlformats.org/officeDocument/2006/relationships/tags" Target="../tags/tag61.xml"/><Relationship Id="rId32" Type="http://schemas.openxmlformats.org/officeDocument/2006/relationships/image" Target="../media/image91.svg"/><Relationship Id="rId31" Type="http://schemas.openxmlformats.org/officeDocument/2006/relationships/image" Target="../media/image90.png"/><Relationship Id="rId30" Type="http://schemas.openxmlformats.org/officeDocument/2006/relationships/tags" Target="../tags/tag60.xml"/><Relationship Id="rId3" Type="http://schemas.openxmlformats.org/officeDocument/2006/relationships/tags" Target="../tags/tag42.xml"/><Relationship Id="rId29" Type="http://schemas.openxmlformats.org/officeDocument/2006/relationships/tags" Target="../tags/tag59.xml"/><Relationship Id="rId28" Type="http://schemas.openxmlformats.org/officeDocument/2006/relationships/tags" Target="../tags/tag58.xml"/><Relationship Id="rId27" Type="http://schemas.openxmlformats.org/officeDocument/2006/relationships/tags" Target="../tags/tag57.xml"/><Relationship Id="rId26" Type="http://schemas.openxmlformats.org/officeDocument/2006/relationships/tags" Target="../tags/tag56.xml"/><Relationship Id="rId25" Type="http://schemas.openxmlformats.org/officeDocument/2006/relationships/tags" Target="../tags/tag55.xml"/><Relationship Id="rId24" Type="http://schemas.openxmlformats.org/officeDocument/2006/relationships/tags" Target="../tags/tag54.xml"/><Relationship Id="rId23" Type="http://schemas.openxmlformats.org/officeDocument/2006/relationships/tags" Target="../tags/tag53.xml"/><Relationship Id="rId22" Type="http://schemas.openxmlformats.org/officeDocument/2006/relationships/tags" Target="../tags/tag52.xml"/><Relationship Id="rId21" Type="http://schemas.openxmlformats.org/officeDocument/2006/relationships/tags" Target="../tags/tag51.xml"/><Relationship Id="rId20" Type="http://schemas.openxmlformats.org/officeDocument/2006/relationships/tags" Target="../tags/tag50.xml"/><Relationship Id="rId2" Type="http://schemas.openxmlformats.org/officeDocument/2006/relationships/image" Target="../media/image63.svg"/><Relationship Id="rId19" Type="http://schemas.openxmlformats.org/officeDocument/2006/relationships/image" Target="../media/image89.svg"/><Relationship Id="rId18" Type="http://schemas.openxmlformats.org/officeDocument/2006/relationships/image" Target="../media/image88.png"/><Relationship Id="rId17" Type="http://schemas.openxmlformats.org/officeDocument/2006/relationships/image" Target="../media/image87.svg"/><Relationship Id="rId16" Type="http://schemas.openxmlformats.org/officeDocument/2006/relationships/image" Target="../media/image86.png"/><Relationship Id="rId15" Type="http://schemas.openxmlformats.org/officeDocument/2006/relationships/tags" Target="../tags/tag49.xml"/><Relationship Id="rId14" Type="http://schemas.openxmlformats.org/officeDocument/2006/relationships/tags" Target="../tags/tag48.xml"/><Relationship Id="rId13" Type="http://schemas.openxmlformats.org/officeDocument/2006/relationships/image" Target="../media/image85.png"/><Relationship Id="rId12" Type="http://schemas.openxmlformats.org/officeDocument/2006/relationships/tags" Target="../tags/tag47.xml"/><Relationship Id="rId11" Type="http://schemas.openxmlformats.org/officeDocument/2006/relationships/tags" Target="../tags/tag46.xml"/><Relationship Id="rId10" Type="http://schemas.openxmlformats.org/officeDocument/2006/relationships/tags" Target="../tags/tag45.xml"/><Relationship Id="rId1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65.svg"/><Relationship Id="rId8" Type="http://schemas.openxmlformats.org/officeDocument/2006/relationships/image" Target="../media/image34.png"/><Relationship Id="rId7" Type="http://schemas.openxmlformats.org/officeDocument/2006/relationships/image" Target="../media/image64.svg"/><Relationship Id="rId6" Type="http://schemas.openxmlformats.org/officeDocument/2006/relationships/image" Target="../media/image32.png"/><Relationship Id="rId5" Type="http://schemas.openxmlformats.org/officeDocument/2006/relationships/tags" Target="../tags/tag85.xml"/><Relationship Id="rId40" Type="http://schemas.openxmlformats.org/officeDocument/2006/relationships/notesSlide" Target="../notesSlides/notesSlide9.xml"/><Relationship Id="rId4" Type="http://schemas.openxmlformats.org/officeDocument/2006/relationships/image" Target="../media/image31.png"/><Relationship Id="rId39" Type="http://schemas.openxmlformats.org/officeDocument/2006/relationships/slideLayout" Target="../slideLayouts/slideLayout1.xml"/><Relationship Id="rId38" Type="http://schemas.openxmlformats.org/officeDocument/2006/relationships/tags" Target="../tags/tag92.xml"/><Relationship Id="rId37" Type="http://schemas.openxmlformats.org/officeDocument/2006/relationships/image" Target="../media/image78.svg"/><Relationship Id="rId36" Type="http://schemas.openxmlformats.org/officeDocument/2006/relationships/image" Target="../media/image51.png"/><Relationship Id="rId35" Type="http://schemas.openxmlformats.org/officeDocument/2006/relationships/image" Target="../media/image77.svg"/><Relationship Id="rId34" Type="http://schemas.openxmlformats.org/officeDocument/2006/relationships/image" Target="../media/image49.png"/><Relationship Id="rId33" Type="http://schemas.openxmlformats.org/officeDocument/2006/relationships/tags" Target="../tags/tag91.xml"/><Relationship Id="rId32" Type="http://schemas.openxmlformats.org/officeDocument/2006/relationships/image" Target="../media/image76.png"/><Relationship Id="rId31" Type="http://schemas.openxmlformats.org/officeDocument/2006/relationships/tags" Target="../tags/tag90.xml"/><Relationship Id="rId30" Type="http://schemas.openxmlformats.org/officeDocument/2006/relationships/image" Target="../media/image75.png"/><Relationship Id="rId3" Type="http://schemas.openxmlformats.org/officeDocument/2006/relationships/tags" Target="../tags/tag84.xml"/><Relationship Id="rId29" Type="http://schemas.openxmlformats.org/officeDocument/2006/relationships/tags" Target="../tags/tag89.xml"/><Relationship Id="rId28" Type="http://schemas.openxmlformats.org/officeDocument/2006/relationships/image" Target="../media/image74.svg"/><Relationship Id="rId27" Type="http://schemas.openxmlformats.org/officeDocument/2006/relationships/image" Target="../media/image79.png"/><Relationship Id="rId26" Type="http://schemas.openxmlformats.org/officeDocument/2006/relationships/tags" Target="../tags/tag88.xml"/><Relationship Id="rId25" Type="http://schemas.openxmlformats.org/officeDocument/2006/relationships/image" Target="../media/image72.svg"/><Relationship Id="rId24" Type="http://schemas.openxmlformats.org/officeDocument/2006/relationships/image" Target="../media/image47.png"/><Relationship Id="rId23" Type="http://schemas.openxmlformats.org/officeDocument/2006/relationships/image" Target="../media/image71.svg"/><Relationship Id="rId22" Type="http://schemas.openxmlformats.org/officeDocument/2006/relationships/image" Target="../media/image21.png"/><Relationship Id="rId21" Type="http://schemas.openxmlformats.org/officeDocument/2006/relationships/image" Target="../media/image70.svg"/><Relationship Id="rId20" Type="http://schemas.openxmlformats.org/officeDocument/2006/relationships/image" Target="../media/image44.png"/><Relationship Id="rId2" Type="http://schemas.openxmlformats.org/officeDocument/2006/relationships/image" Target="../media/image63.svg"/><Relationship Id="rId19" Type="http://schemas.openxmlformats.org/officeDocument/2006/relationships/image" Target="../media/image69.svg"/><Relationship Id="rId18" Type="http://schemas.openxmlformats.org/officeDocument/2006/relationships/image" Target="../media/image42.png"/><Relationship Id="rId17" Type="http://schemas.openxmlformats.org/officeDocument/2006/relationships/image" Target="../media/image68.svg"/><Relationship Id="rId16" Type="http://schemas.openxmlformats.org/officeDocument/2006/relationships/image" Target="../media/image40.png"/><Relationship Id="rId15" Type="http://schemas.openxmlformats.org/officeDocument/2006/relationships/tags" Target="../tags/tag87.xml"/><Relationship Id="rId14" Type="http://schemas.openxmlformats.org/officeDocument/2006/relationships/tags" Target="../tags/tag86.xml"/><Relationship Id="rId13" Type="http://schemas.openxmlformats.org/officeDocument/2006/relationships/image" Target="../media/image67.svg"/><Relationship Id="rId12" Type="http://schemas.openxmlformats.org/officeDocument/2006/relationships/image" Target="../media/image38.png"/><Relationship Id="rId11" Type="http://schemas.openxmlformats.org/officeDocument/2006/relationships/image" Target="../media/image66.svg"/><Relationship Id="rId10" Type="http://schemas.openxmlformats.org/officeDocument/2006/relationships/image" Target="../media/image36.png"/><Relationship Id="rId1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65.svg"/><Relationship Id="rId8" Type="http://schemas.openxmlformats.org/officeDocument/2006/relationships/image" Target="../media/image34.png"/><Relationship Id="rId7" Type="http://schemas.openxmlformats.org/officeDocument/2006/relationships/image" Target="../media/image64.svg"/><Relationship Id="rId6" Type="http://schemas.openxmlformats.org/officeDocument/2006/relationships/image" Target="../media/image32.png"/><Relationship Id="rId5" Type="http://schemas.openxmlformats.org/officeDocument/2006/relationships/tags" Target="../tags/tag94.xml"/><Relationship Id="rId4" Type="http://schemas.openxmlformats.org/officeDocument/2006/relationships/image" Target="../media/image31.png"/><Relationship Id="rId36" Type="http://schemas.openxmlformats.org/officeDocument/2006/relationships/notesSlide" Target="../notesSlides/notesSlide10.xml"/><Relationship Id="rId35" Type="http://schemas.openxmlformats.org/officeDocument/2006/relationships/slideLayout" Target="../slideLayouts/slideLayout1.xml"/><Relationship Id="rId34" Type="http://schemas.openxmlformats.org/officeDocument/2006/relationships/image" Target="../media/image100.png"/><Relationship Id="rId33" Type="http://schemas.openxmlformats.org/officeDocument/2006/relationships/tags" Target="../tags/tag100.xml"/><Relationship Id="rId32" Type="http://schemas.openxmlformats.org/officeDocument/2006/relationships/image" Target="../media/image74.svg"/><Relationship Id="rId31" Type="http://schemas.openxmlformats.org/officeDocument/2006/relationships/image" Target="../media/image79.png"/><Relationship Id="rId30" Type="http://schemas.openxmlformats.org/officeDocument/2006/relationships/tags" Target="../tags/tag99.xml"/><Relationship Id="rId3" Type="http://schemas.openxmlformats.org/officeDocument/2006/relationships/tags" Target="../tags/tag93.xml"/><Relationship Id="rId29" Type="http://schemas.openxmlformats.org/officeDocument/2006/relationships/image" Target="../media/image72.svg"/><Relationship Id="rId28" Type="http://schemas.openxmlformats.org/officeDocument/2006/relationships/image" Target="../media/image47.png"/><Relationship Id="rId27" Type="http://schemas.openxmlformats.org/officeDocument/2006/relationships/image" Target="../media/image71.svg"/><Relationship Id="rId26" Type="http://schemas.openxmlformats.org/officeDocument/2006/relationships/image" Target="../media/image21.png"/><Relationship Id="rId25" Type="http://schemas.openxmlformats.org/officeDocument/2006/relationships/image" Target="../media/image70.svg"/><Relationship Id="rId24" Type="http://schemas.openxmlformats.org/officeDocument/2006/relationships/image" Target="../media/image44.png"/><Relationship Id="rId23" Type="http://schemas.openxmlformats.org/officeDocument/2006/relationships/image" Target="../media/image69.svg"/><Relationship Id="rId22" Type="http://schemas.openxmlformats.org/officeDocument/2006/relationships/image" Target="../media/image42.png"/><Relationship Id="rId21" Type="http://schemas.openxmlformats.org/officeDocument/2006/relationships/image" Target="../media/image68.svg"/><Relationship Id="rId20" Type="http://schemas.openxmlformats.org/officeDocument/2006/relationships/image" Target="../media/image40.png"/><Relationship Id="rId2" Type="http://schemas.openxmlformats.org/officeDocument/2006/relationships/image" Target="../media/image63.svg"/><Relationship Id="rId19" Type="http://schemas.openxmlformats.org/officeDocument/2006/relationships/tags" Target="../tags/tag98.xml"/><Relationship Id="rId18" Type="http://schemas.openxmlformats.org/officeDocument/2006/relationships/tags" Target="../tags/tag97.xml"/><Relationship Id="rId17" Type="http://schemas.openxmlformats.org/officeDocument/2006/relationships/tags" Target="../tags/tag96.xml"/><Relationship Id="rId16" Type="http://schemas.openxmlformats.org/officeDocument/2006/relationships/tags" Target="../tags/tag95.xml"/><Relationship Id="rId15" Type="http://schemas.openxmlformats.org/officeDocument/2006/relationships/image" Target="../media/image98.svg"/><Relationship Id="rId14" Type="http://schemas.openxmlformats.org/officeDocument/2006/relationships/image" Target="../media/image99.png"/><Relationship Id="rId13" Type="http://schemas.openxmlformats.org/officeDocument/2006/relationships/image" Target="../media/image67.svg"/><Relationship Id="rId12" Type="http://schemas.openxmlformats.org/officeDocument/2006/relationships/image" Target="../media/image38.png"/><Relationship Id="rId11" Type="http://schemas.openxmlformats.org/officeDocument/2006/relationships/image" Target="../media/image66.svg"/><Relationship Id="rId10" Type="http://schemas.openxmlformats.org/officeDocument/2006/relationships/image" Target="../media/image36.png"/><Relationship Id="rId1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65.svg"/><Relationship Id="rId8" Type="http://schemas.openxmlformats.org/officeDocument/2006/relationships/image" Target="../media/image34.png"/><Relationship Id="rId7" Type="http://schemas.openxmlformats.org/officeDocument/2006/relationships/image" Target="../media/image64.svg"/><Relationship Id="rId6" Type="http://schemas.openxmlformats.org/officeDocument/2006/relationships/image" Target="../media/image32.png"/><Relationship Id="rId5" Type="http://schemas.openxmlformats.org/officeDocument/2006/relationships/tags" Target="../tags/tag102.xml"/><Relationship Id="rId4" Type="http://schemas.openxmlformats.org/officeDocument/2006/relationships/image" Target="../media/image31.png"/><Relationship Id="rId36" Type="http://schemas.openxmlformats.org/officeDocument/2006/relationships/notesSlide" Target="../notesSlides/notesSlide11.xml"/><Relationship Id="rId35" Type="http://schemas.openxmlformats.org/officeDocument/2006/relationships/slideLayout" Target="../slideLayouts/slideLayout1.xml"/><Relationship Id="rId34" Type="http://schemas.openxmlformats.org/officeDocument/2006/relationships/image" Target="../media/image100.png"/><Relationship Id="rId33" Type="http://schemas.openxmlformats.org/officeDocument/2006/relationships/tags" Target="../tags/tag108.xml"/><Relationship Id="rId32" Type="http://schemas.openxmlformats.org/officeDocument/2006/relationships/image" Target="../media/image74.svg"/><Relationship Id="rId31" Type="http://schemas.openxmlformats.org/officeDocument/2006/relationships/image" Target="../media/image79.png"/><Relationship Id="rId30" Type="http://schemas.openxmlformats.org/officeDocument/2006/relationships/tags" Target="../tags/tag107.xml"/><Relationship Id="rId3" Type="http://schemas.openxmlformats.org/officeDocument/2006/relationships/tags" Target="../tags/tag101.xml"/><Relationship Id="rId29" Type="http://schemas.openxmlformats.org/officeDocument/2006/relationships/image" Target="../media/image72.svg"/><Relationship Id="rId28" Type="http://schemas.openxmlformats.org/officeDocument/2006/relationships/image" Target="../media/image47.png"/><Relationship Id="rId27" Type="http://schemas.openxmlformats.org/officeDocument/2006/relationships/image" Target="../media/image71.svg"/><Relationship Id="rId26" Type="http://schemas.openxmlformats.org/officeDocument/2006/relationships/image" Target="../media/image21.png"/><Relationship Id="rId25" Type="http://schemas.openxmlformats.org/officeDocument/2006/relationships/image" Target="../media/image70.svg"/><Relationship Id="rId24" Type="http://schemas.openxmlformats.org/officeDocument/2006/relationships/image" Target="../media/image44.png"/><Relationship Id="rId23" Type="http://schemas.openxmlformats.org/officeDocument/2006/relationships/image" Target="../media/image69.svg"/><Relationship Id="rId22" Type="http://schemas.openxmlformats.org/officeDocument/2006/relationships/image" Target="../media/image42.png"/><Relationship Id="rId21" Type="http://schemas.openxmlformats.org/officeDocument/2006/relationships/image" Target="../media/image68.svg"/><Relationship Id="rId20" Type="http://schemas.openxmlformats.org/officeDocument/2006/relationships/image" Target="../media/image40.png"/><Relationship Id="rId2" Type="http://schemas.openxmlformats.org/officeDocument/2006/relationships/image" Target="../media/image63.svg"/><Relationship Id="rId19" Type="http://schemas.openxmlformats.org/officeDocument/2006/relationships/tags" Target="../tags/tag106.xml"/><Relationship Id="rId18" Type="http://schemas.openxmlformats.org/officeDocument/2006/relationships/tags" Target="../tags/tag105.xml"/><Relationship Id="rId17" Type="http://schemas.openxmlformats.org/officeDocument/2006/relationships/tags" Target="../tags/tag104.xml"/><Relationship Id="rId16" Type="http://schemas.openxmlformats.org/officeDocument/2006/relationships/tags" Target="../tags/tag103.xml"/><Relationship Id="rId15" Type="http://schemas.openxmlformats.org/officeDocument/2006/relationships/image" Target="../media/image98.svg"/><Relationship Id="rId14" Type="http://schemas.openxmlformats.org/officeDocument/2006/relationships/image" Target="../media/image99.png"/><Relationship Id="rId13" Type="http://schemas.openxmlformats.org/officeDocument/2006/relationships/image" Target="../media/image67.svg"/><Relationship Id="rId12" Type="http://schemas.openxmlformats.org/officeDocument/2006/relationships/image" Target="../media/image38.png"/><Relationship Id="rId11" Type="http://schemas.openxmlformats.org/officeDocument/2006/relationships/image" Target="../media/image66.svg"/><Relationship Id="rId10" Type="http://schemas.openxmlformats.org/officeDocument/2006/relationships/image" Target="../media/image36.png"/><Relationship Id="rId1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65.svg"/><Relationship Id="rId8" Type="http://schemas.openxmlformats.org/officeDocument/2006/relationships/image" Target="../media/image34.png"/><Relationship Id="rId7" Type="http://schemas.openxmlformats.org/officeDocument/2006/relationships/image" Target="../media/image64.svg"/><Relationship Id="rId6" Type="http://schemas.openxmlformats.org/officeDocument/2006/relationships/image" Target="../media/image32.png"/><Relationship Id="rId5" Type="http://schemas.openxmlformats.org/officeDocument/2006/relationships/tags" Target="../tags/tag110.xml"/><Relationship Id="rId4" Type="http://schemas.openxmlformats.org/officeDocument/2006/relationships/image" Target="../media/image31.png"/><Relationship Id="rId32" Type="http://schemas.openxmlformats.org/officeDocument/2006/relationships/notesSlide" Target="../notesSlides/notesSlide12.xml"/><Relationship Id="rId31" Type="http://schemas.openxmlformats.org/officeDocument/2006/relationships/slideLayout" Target="../slideLayouts/slideLayout1.xml"/><Relationship Id="rId30" Type="http://schemas.openxmlformats.org/officeDocument/2006/relationships/tags" Target="../tags/tag115.xml"/><Relationship Id="rId3" Type="http://schemas.openxmlformats.org/officeDocument/2006/relationships/tags" Target="../tags/tag109.xml"/><Relationship Id="rId29" Type="http://schemas.openxmlformats.org/officeDocument/2006/relationships/image" Target="../media/image72.svg"/><Relationship Id="rId28" Type="http://schemas.openxmlformats.org/officeDocument/2006/relationships/image" Target="../media/image47.png"/><Relationship Id="rId27" Type="http://schemas.openxmlformats.org/officeDocument/2006/relationships/image" Target="../media/image71.svg"/><Relationship Id="rId26" Type="http://schemas.openxmlformats.org/officeDocument/2006/relationships/image" Target="../media/image21.png"/><Relationship Id="rId25" Type="http://schemas.openxmlformats.org/officeDocument/2006/relationships/image" Target="../media/image70.svg"/><Relationship Id="rId24" Type="http://schemas.openxmlformats.org/officeDocument/2006/relationships/image" Target="../media/image44.png"/><Relationship Id="rId23" Type="http://schemas.openxmlformats.org/officeDocument/2006/relationships/image" Target="../media/image69.svg"/><Relationship Id="rId22" Type="http://schemas.openxmlformats.org/officeDocument/2006/relationships/image" Target="../media/image42.png"/><Relationship Id="rId21" Type="http://schemas.openxmlformats.org/officeDocument/2006/relationships/image" Target="../media/image68.svg"/><Relationship Id="rId20" Type="http://schemas.openxmlformats.org/officeDocument/2006/relationships/image" Target="../media/image40.png"/><Relationship Id="rId2" Type="http://schemas.openxmlformats.org/officeDocument/2006/relationships/image" Target="../media/image63.svg"/><Relationship Id="rId19" Type="http://schemas.openxmlformats.org/officeDocument/2006/relationships/tags" Target="../tags/tag114.xml"/><Relationship Id="rId18" Type="http://schemas.openxmlformats.org/officeDocument/2006/relationships/tags" Target="../tags/tag113.xml"/><Relationship Id="rId17" Type="http://schemas.openxmlformats.org/officeDocument/2006/relationships/tags" Target="../tags/tag112.xml"/><Relationship Id="rId16" Type="http://schemas.openxmlformats.org/officeDocument/2006/relationships/tags" Target="../tags/tag111.xml"/><Relationship Id="rId15" Type="http://schemas.openxmlformats.org/officeDocument/2006/relationships/image" Target="../media/image98.svg"/><Relationship Id="rId14" Type="http://schemas.openxmlformats.org/officeDocument/2006/relationships/image" Target="../media/image99.png"/><Relationship Id="rId13" Type="http://schemas.openxmlformats.org/officeDocument/2006/relationships/image" Target="../media/image67.svg"/><Relationship Id="rId12" Type="http://schemas.openxmlformats.org/officeDocument/2006/relationships/image" Target="../media/image38.png"/><Relationship Id="rId11" Type="http://schemas.openxmlformats.org/officeDocument/2006/relationships/image" Target="../media/image66.svg"/><Relationship Id="rId10" Type="http://schemas.openxmlformats.org/officeDocument/2006/relationships/image" Target="../media/image36.png"/><Relationship Id="rId1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117.xml"/><Relationship Id="rId7" Type="http://schemas.openxmlformats.org/officeDocument/2006/relationships/image" Target="../media/image69.svg"/><Relationship Id="rId6" Type="http://schemas.openxmlformats.org/officeDocument/2006/relationships/image" Target="../media/image42.png"/><Relationship Id="rId5" Type="http://schemas.openxmlformats.org/officeDocument/2006/relationships/image" Target="../media/image68.svg"/><Relationship Id="rId4" Type="http://schemas.openxmlformats.org/officeDocument/2006/relationships/image" Target="../media/image40.png"/><Relationship Id="rId3" Type="http://schemas.openxmlformats.org/officeDocument/2006/relationships/tags" Target="../tags/tag116.xml"/><Relationship Id="rId2" Type="http://schemas.openxmlformats.org/officeDocument/2006/relationships/image" Target="../media/image63.svg"/><Relationship Id="rId10" Type="http://schemas.openxmlformats.org/officeDocument/2006/relationships/notesSlide" Target="../notesSlides/notesSlide13.xml"/><Relationship Id="rId1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119.xml"/><Relationship Id="rId7" Type="http://schemas.openxmlformats.org/officeDocument/2006/relationships/image" Target="../media/image69.svg"/><Relationship Id="rId6" Type="http://schemas.openxmlformats.org/officeDocument/2006/relationships/image" Target="../media/image42.png"/><Relationship Id="rId5" Type="http://schemas.openxmlformats.org/officeDocument/2006/relationships/image" Target="../media/image68.svg"/><Relationship Id="rId4" Type="http://schemas.openxmlformats.org/officeDocument/2006/relationships/image" Target="../media/image40.png"/><Relationship Id="rId3" Type="http://schemas.openxmlformats.org/officeDocument/2006/relationships/tags" Target="../tags/tag118.xml"/><Relationship Id="rId2" Type="http://schemas.openxmlformats.org/officeDocument/2006/relationships/image" Target="../media/image63.svg"/><Relationship Id="rId10" Type="http://schemas.openxmlformats.org/officeDocument/2006/relationships/notesSlide" Target="../notesSlides/notesSlide14.xml"/><Relationship Id="rId1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2.png"/><Relationship Id="rId1" Type="http://schemas.openxmlformats.org/officeDocument/2006/relationships/image" Target="../media/image10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矩形 57"/>
          <p:cNvSpPr/>
          <p:nvPr/>
        </p:nvSpPr>
        <p:spPr>
          <a:xfrm>
            <a:off x="2150745" y="2738120"/>
            <a:ext cx="4570095" cy="748030"/>
          </a:xfrm>
          <a:prstGeom prst="rect">
            <a:avLst/>
          </a:prstGeom>
          <a:solidFill>
            <a:srgbClr val="FCE6D5"/>
          </a:solidFill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1600">
              <a:sym typeface="+mn-ea"/>
            </a:endParaRPr>
          </a:p>
        </p:txBody>
      </p:sp>
      <p:sp>
        <p:nvSpPr>
          <p:cNvPr id="238" name="矩形 237"/>
          <p:cNvSpPr/>
          <p:nvPr/>
        </p:nvSpPr>
        <p:spPr>
          <a:xfrm>
            <a:off x="2150745" y="1066800"/>
            <a:ext cx="4570730" cy="1189990"/>
          </a:xfrm>
          <a:prstGeom prst="rect">
            <a:avLst/>
          </a:prstGeom>
          <a:solidFill>
            <a:srgbClr val="FADBDF"/>
          </a:solidFill>
          <a:ln w="12700" cmpd="sng">
            <a:solidFill>
              <a:schemeClr val="accent1">
                <a:shade val="50000"/>
              </a:schemeClr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1" name="文本框 320"/>
          <p:cNvSpPr txBox="1"/>
          <p:nvPr/>
        </p:nvSpPr>
        <p:spPr>
          <a:xfrm>
            <a:off x="2659380" y="490220"/>
            <a:ext cx="64325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800" b="1">
                <a:sym typeface="+mn-ea"/>
              </a:rPr>
              <a:t>Bayesian Inference Framework</a:t>
            </a:r>
            <a:endParaRPr lang="en-US" altLang="zh-CN" sz="2800" b="1">
              <a:sym typeface="+mn-ea"/>
            </a:endParaRPr>
          </a:p>
        </p:txBody>
      </p:sp>
      <p:sp>
        <p:nvSpPr>
          <p:cNvPr id="322" name="矩形 321"/>
          <p:cNvSpPr/>
          <p:nvPr/>
        </p:nvSpPr>
        <p:spPr>
          <a:xfrm>
            <a:off x="1971040" y="448310"/>
            <a:ext cx="7512685" cy="3249295"/>
          </a:xfrm>
          <a:prstGeom prst="rect">
            <a:avLst/>
          </a:prstGeom>
          <a:noFill/>
          <a:ln w="28575" cmpd="dbl">
            <a:solidFill>
              <a:schemeClr val="tx1"/>
            </a:solidFill>
            <a:prstDash val="lgDash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5" name="图片 14" descr="posterior_small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69280" y="2794000"/>
            <a:ext cx="869950" cy="640080"/>
          </a:xfrm>
          <a:prstGeom prst="rect">
            <a:avLst/>
          </a:prstGeom>
        </p:spPr>
      </p:pic>
      <p:pic>
        <p:nvPicPr>
          <p:cNvPr id="16" name="图片 15" descr="prior_small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6895" y="1127760"/>
            <a:ext cx="802640" cy="591820"/>
          </a:xfrm>
          <a:prstGeom prst="rect">
            <a:avLst/>
          </a:prstGeom>
        </p:spPr>
      </p:pic>
      <p:sp>
        <p:nvSpPr>
          <p:cNvPr id="52" name="圆角矩形 51"/>
          <p:cNvSpPr/>
          <p:nvPr/>
        </p:nvSpPr>
        <p:spPr>
          <a:xfrm>
            <a:off x="2290445" y="1766570"/>
            <a:ext cx="2035810" cy="374650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t" anchorCtr="0" forceAA="0" compatLnSpc="1">
            <a:noAutofit/>
          </a:bodyPr>
          <a:p>
            <a:pPr algn="ctr"/>
            <a:r>
              <a:rPr lang="en-US" altLang="zh-CN">
                <a:sym typeface="+mn-ea"/>
              </a:rPr>
              <a:t>Data-Driven Prior</a:t>
            </a: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23" name="直接箭头连接符 22"/>
          <p:cNvCxnSpPr/>
          <p:nvPr/>
        </p:nvCxnSpPr>
        <p:spPr>
          <a:xfrm flipH="1">
            <a:off x="3836035" y="2259965"/>
            <a:ext cx="635" cy="47625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3" name="圆角矩形 52"/>
          <p:cNvSpPr/>
          <p:nvPr/>
        </p:nvSpPr>
        <p:spPr>
          <a:xfrm>
            <a:off x="4505325" y="1763395"/>
            <a:ext cx="2063115" cy="377825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t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Smoothness Prior</a:t>
            </a: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2308225" y="2878455"/>
            <a:ext cx="3607435" cy="539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400" b="1"/>
              <a:t>Posterior Distribution</a:t>
            </a:r>
            <a:endParaRPr lang="en-US" altLang="zh-CN" sz="2400" b="1"/>
          </a:p>
        </p:txBody>
      </p:sp>
      <p:sp>
        <p:nvSpPr>
          <p:cNvPr id="61" name="文本框 60"/>
          <p:cNvSpPr txBox="1"/>
          <p:nvPr/>
        </p:nvSpPr>
        <p:spPr>
          <a:xfrm>
            <a:off x="2524760" y="1193800"/>
            <a:ext cx="34347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400" b="1"/>
              <a:t>Prior Distribution</a:t>
            </a:r>
            <a:endParaRPr lang="en-US" altLang="zh-CN" sz="2400" b="1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2" name="文本框 61"/>
              <p:cNvSpPr txBox="1"/>
              <p:nvPr/>
            </p:nvSpPr>
            <p:spPr>
              <a:xfrm>
                <a:off x="3873500" y="2322830"/>
                <a:ext cx="1824990" cy="424180"/>
              </a:xfrm>
              <a:prstGeom prst="rect">
                <a:avLst/>
              </a:prstGeom>
              <a:noFill/>
            </p:spPr>
            <p:txBody>
              <a:bodyPr wrap="none" rtlCol="0" anchor="t">
                <a:no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𝑃</m:t>
                      </m:r>
                      <m:r>
                        <a:rPr lang="en-US" altLang="zh-CN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|</m:t>
                      </m:r>
                      <m:sSub>
                        <m:sSubPr>
                          <m:ctrlP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, </m:t>
                      </m:r>
                      <m:sSub>
                        <m:sSubPr>
                          <m:ctrlP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𝐽</m:t>
                          </m:r>
                        </m:e>
                        <m:sub>
                          <m: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)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62" name="文本框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3500" y="2322830"/>
                <a:ext cx="1824990" cy="42418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矩形 62"/>
          <p:cNvSpPr/>
          <p:nvPr/>
        </p:nvSpPr>
        <p:spPr>
          <a:xfrm>
            <a:off x="7423785" y="1066800"/>
            <a:ext cx="1863725" cy="241935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1600">
              <a:sym typeface="+mn-ea"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6553200" y="3105785"/>
            <a:ext cx="10128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400"/>
              <a:t>MCMC    </a:t>
            </a:r>
            <a:endParaRPr lang="en-US" altLang="zh-CN" sz="1400"/>
          </a:p>
        </p:txBody>
      </p:sp>
      <p:cxnSp>
        <p:nvCxnSpPr>
          <p:cNvPr id="66" name="直接箭头连接符 65"/>
          <p:cNvCxnSpPr/>
          <p:nvPr/>
        </p:nvCxnSpPr>
        <p:spPr>
          <a:xfrm>
            <a:off x="6720840" y="3096895"/>
            <a:ext cx="708025" cy="254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67" name="图片 66" descr="蒙特卡洛仿真_48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61175" y="2642235"/>
            <a:ext cx="396875" cy="396875"/>
          </a:xfrm>
          <a:prstGeom prst="rect">
            <a:avLst/>
          </a:prstGeom>
        </p:spPr>
      </p:pic>
      <p:pic>
        <p:nvPicPr>
          <p:cNvPr id="68" name="图片 67" descr="mcmc_result_small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900035" y="2778760"/>
            <a:ext cx="964565" cy="62738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9" name="文本框 68"/>
              <p:cNvSpPr txBox="1"/>
              <p:nvPr/>
            </p:nvSpPr>
            <p:spPr>
              <a:xfrm>
                <a:off x="7394829" y="2218626"/>
                <a:ext cx="1974850" cy="46164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(</m:t>
                              </m:r>
                              <m:r>
                                <a:rPr lang="en-US" altLang="zh-CN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1</m:t>
                              </m:r>
                              <m:r>
                                <a:rPr lang="en-US" altLang="zh-CN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)</m:t>
                              </m:r>
                            </m:sup>
                          </m:sSubSup>
                          <m: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, ..., </m:t>
                          </m:r>
                          <m:sSubSup>
                            <m:sSubSupPr>
                              <m:ctrlPr>
                                <a:rPr lang="en-US" altLang="zh-CN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(</m:t>
                              </m:r>
                              <m:r>
                                <a:rPr lang="en-US" altLang="zh-CN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𝑁</m:t>
                              </m:r>
                              <m:r>
                                <a:rPr lang="en-US" altLang="zh-CN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)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69" name="文本框 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4829" y="2218626"/>
                <a:ext cx="1974850" cy="461645"/>
              </a:xfrm>
              <a:prstGeom prst="rect">
                <a:avLst/>
              </a:prstGeom>
              <a:blipFill rotWithShape="1">
                <a:blip r:embed="rId10"/>
                <a:stretch>
                  <a:fillRect l="-13" t="-124" r="13" b="1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文本框 69"/>
          <p:cNvSpPr txBox="1"/>
          <p:nvPr/>
        </p:nvSpPr>
        <p:spPr>
          <a:xfrm>
            <a:off x="7599680" y="1207770"/>
            <a:ext cx="153606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400" b="1"/>
              <a:t>Posterior samples</a:t>
            </a:r>
            <a:endParaRPr lang="en-US" altLang="zh-CN" sz="2400" b="1"/>
          </a:p>
        </p:txBody>
      </p:sp>
      <p:sp>
        <p:nvSpPr>
          <p:cNvPr id="71" name="矩形 70"/>
          <p:cNvSpPr/>
          <p:nvPr/>
        </p:nvSpPr>
        <p:spPr>
          <a:xfrm>
            <a:off x="1971040" y="3916680"/>
            <a:ext cx="7513320" cy="4491355"/>
          </a:xfrm>
          <a:prstGeom prst="rect">
            <a:avLst/>
          </a:prstGeom>
          <a:noFill/>
          <a:ln w="28575" cmpd="dbl">
            <a:solidFill>
              <a:schemeClr val="tx1"/>
            </a:solidFill>
            <a:prstDash val="lgDash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5959475" y="4573905"/>
            <a:ext cx="3174365" cy="2247900"/>
          </a:xfrm>
          <a:prstGeom prst="rect">
            <a:avLst/>
          </a:prstGeom>
          <a:solidFill>
            <a:srgbClr val="DAE3F5"/>
          </a:solidFill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1600">
              <a:sym typeface="+mn-ea"/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1875790" y="3967480"/>
            <a:ext cx="789622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800" b="1">
                <a:sym typeface="+mn-ea"/>
              </a:rPr>
              <a:t>Dual-Track Hierarchical Model</a:t>
            </a:r>
            <a:endParaRPr lang="en-US" altLang="zh-CN" sz="2800" b="1"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379980" y="4570095"/>
            <a:ext cx="3174365" cy="2247900"/>
          </a:xfrm>
          <a:prstGeom prst="rect">
            <a:avLst/>
          </a:prstGeom>
          <a:solidFill>
            <a:srgbClr val="DAE3F5"/>
          </a:solidFill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1600"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880360" y="4642485"/>
            <a:ext cx="20377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/>
              <a:t>Judges Track</a:t>
            </a:r>
            <a:endParaRPr lang="en-US" altLang="zh-CN" sz="2000"/>
          </a:p>
        </p:txBody>
      </p:sp>
      <p:sp>
        <p:nvSpPr>
          <p:cNvPr id="8" name="文本框 7"/>
          <p:cNvSpPr txBox="1"/>
          <p:nvPr/>
        </p:nvSpPr>
        <p:spPr>
          <a:xfrm>
            <a:off x="6539230" y="4660265"/>
            <a:ext cx="20377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/>
              <a:t>Fan-Vote Track</a:t>
            </a:r>
            <a:endParaRPr lang="en-US" altLang="zh-CN" sz="2000"/>
          </a:p>
        </p:txBody>
      </p:sp>
      <p:sp>
        <p:nvSpPr>
          <p:cNvPr id="9" name="圆角矩形 8"/>
          <p:cNvSpPr/>
          <p:nvPr/>
        </p:nvSpPr>
        <p:spPr>
          <a:xfrm>
            <a:off x="2721610" y="5111115"/>
            <a:ext cx="2364740" cy="377825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t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Celebrity traits</a:t>
            </a: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2734310" y="5650230"/>
            <a:ext cx="2364740" cy="377825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t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Week trend</a:t>
            </a: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2740660" y="6202045"/>
            <a:ext cx="2364740" cy="377825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t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Partner effect</a:t>
            </a: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6396990" y="5127625"/>
            <a:ext cx="2365375" cy="377825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t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Celebrity traits</a:t>
            </a: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6409690" y="5666740"/>
            <a:ext cx="2365375" cy="377825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t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Judges’ score</a:t>
            </a: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6416040" y="6218555"/>
            <a:ext cx="2365375" cy="377825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t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Partner effect</a:t>
            </a: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sp>
        <p:nvSpPr>
          <p:cNvPr id="22" name="下箭头 21"/>
          <p:cNvSpPr/>
          <p:nvPr/>
        </p:nvSpPr>
        <p:spPr>
          <a:xfrm>
            <a:off x="3536950" y="6887845"/>
            <a:ext cx="895350" cy="304800"/>
          </a:xfrm>
          <a:prstGeom prst="downArrow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下箭头 23"/>
          <p:cNvSpPr/>
          <p:nvPr/>
        </p:nvSpPr>
        <p:spPr>
          <a:xfrm>
            <a:off x="7098665" y="6891655"/>
            <a:ext cx="895350" cy="304800"/>
          </a:xfrm>
          <a:prstGeom prst="downArrow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9" name="圆角矩形 278"/>
          <p:cNvSpPr/>
          <p:nvPr>
            <p:custDataLst>
              <p:tags r:id="rId11"/>
            </p:custDataLst>
          </p:nvPr>
        </p:nvSpPr>
        <p:spPr>
          <a:xfrm>
            <a:off x="2387600" y="7263130"/>
            <a:ext cx="3174365" cy="840105"/>
          </a:xfrm>
          <a:prstGeom prst="roundRect">
            <a:avLst>
              <a:gd name="adj" fmla="val 5234"/>
            </a:avLst>
          </a:prstGeom>
          <a:solidFill>
            <a:srgbClr val="C8E5B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Judges’ scores</a:t>
            </a:r>
            <a:endParaRPr lang="en-US" altLang="zh-CN">
              <a:solidFill>
                <a:schemeClr val="tx1"/>
              </a:solidFill>
            </a:endParaRPr>
          </a:p>
          <a:p>
            <a:pPr algn="ctr"/>
            <a:r>
              <a:rPr lang="en-US" altLang="zh-CN">
                <a:solidFill>
                  <a:schemeClr val="tx1"/>
                </a:solidFill>
              </a:rPr>
              <a:t>Technical evaluation</a:t>
            </a:r>
            <a:endParaRPr lang="en-US" altLang="zh-CN">
              <a:solidFill>
                <a:schemeClr val="tx1"/>
              </a:solidFill>
            </a:endParaRPr>
          </a:p>
          <a:p>
            <a:pPr algn="ctr"/>
            <a:r>
              <a:rPr lang="en-US" altLang="zh-CN">
                <a:solidFill>
                  <a:schemeClr val="tx1"/>
                </a:solidFill>
              </a:rPr>
              <a:t>ICC</a:t>
            </a:r>
            <a:r>
              <a:rPr lang="en-US" altLang="en-US">
                <a:solidFill>
                  <a:schemeClr val="tx1"/>
                </a:solidFill>
              </a:rPr>
              <a:t>ᴶ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26" name="圆角矩形 25"/>
          <p:cNvSpPr/>
          <p:nvPr>
            <p:custDataLst>
              <p:tags r:id="rId12"/>
            </p:custDataLst>
          </p:nvPr>
        </p:nvSpPr>
        <p:spPr>
          <a:xfrm>
            <a:off x="5959475" y="7251065"/>
            <a:ext cx="3174365" cy="871220"/>
          </a:xfrm>
          <a:prstGeom prst="roundRect">
            <a:avLst>
              <a:gd name="adj" fmla="val 5234"/>
            </a:avLst>
          </a:prstGeom>
          <a:solidFill>
            <a:srgbClr val="C8E5B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Fan votes</a:t>
            </a:r>
            <a:endParaRPr lang="en-US" altLang="zh-CN">
              <a:solidFill>
                <a:schemeClr val="tx1"/>
              </a:solidFill>
            </a:endParaRPr>
          </a:p>
          <a:p>
            <a:pPr algn="ctr"/>
            <a:r>
              <a:rPr lang="en-US" altLang="zh-CN">
                <a:solidFill>
                  <a:schemeClr val="tx1"/>
                </a:solidFill>
              </a:rPr>
              <a:t>Popularity outcome</a:t>
            </a:r>
            <a:endParaRPr lang="en-US" altLang="zh-CN">
              <a:solidFill>
                <a:schemeClr val="tx1"/>
              </a:solidFill>
            </a:endParaRPr>
          </a:p>
          <a:p>
            <a:pPr algn="ctr"/>
            <a:r>
              <a:rPr lang="en-US" altLang="zh-CN">
                <a:solidFill>
                  <a:schemeClr val="tx1"/>
                </a:solidFill>
              </a:rPr>
              <a:t>ICC</a:t>
            </a:r>
            <a:r>
              <a:rPr lang="en-US" altLang="en-US">
                <a:solidFill>
                  <a:schemeClr val="tx1"/>
                </a:solidFill>
              </a:rPr>
              <a:t>ᶠ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30" name="任意多边形 29"/>
          <p:cNvSpPr/>
          <p:nvPr/>
        </p:nvSpPr>
        <p:spPr>
          <a:xfrm>
            <a:off x="9136380" y="2656840"/>
            <a:ext cx="532130" cy="3151505"/>
          </a:xfrm>
          <a:custGeom>
            <a:avLst/>
            <a:gdLst>
              <a:gd name="connisteX0" fmla="*/ 147955 w 532130"/>
              <a:gd name="connsiteY0" fmla="*/ 0 h 3151505"/>
              <a:gd name="connisteX1" fmla="*/ 532130 w 532130"/>
              <a:gd name="connsiteY1" fmla="*/ 0 h 3151505"/>
              <a:gd name="connisteX2" fmla="*/ 532130 w 532130"/>
              <a:gd name="connsiteY2" fmla="*/ 3151505 h 3151505"/>
              <a:gd name="connisteX3" fmla="*/ 0 w 532130"/>
              <a:gd name="connsiteY3" fmla="*/ 3151505 h 315150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532130" h="3151505">
                <a:moveTo>
                  <a:pt x="147955" y="0"/>
                </a:moveTo>
                <a:lnTo>
                  <a:pt x="532130" y="0"/>
                </a:lnTo>
                <a:lnTo>
                  <a:pt x="532130" y="3151505"/>
                </a:lnTo>
                <a:lnTo>
                  <a:pt x="0" y="3151505"/>
                </a:lnTo>
              </a:path>
            </a:pathLst>
          </a:custGeom>
          <a:noFill/>
          <a:ln w="28575">
            <a:solidFill>
              <a:srgbClr val="20202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矩形 30"/>
          <p:cNvSpPr/>
          <p:nvPr/>
        </p:nvSpPr>
        <p:spPr>
          <a:xfrm>
            <a:off x="10282555" y="448310"/>
            <a:ext cx="10116185" cy="4041775"/>
          </a:xfrm>
          <a:prstGeom prst="rect">
            <a:avLst/>
          </a:prstGeom>
          <a:noFill/>
          <a:ln w="28575" cmpd="dbl">
            <a:solidFill>
              <a:schemeClr val="tx1"/>
            </a:solidFill>
            <a:prstDash val="lgDash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11110595" y="494665"/>
            <a:ext cx="84594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800" b="1">
                <a:sym typeface="+mn-ea"/>
              </a:rPr>
              <a:t>Simulation-Based Outcome Analysis</a:t>
            </a:r>
            <a:endParaRPr lang="en-US" altLang="zh-CN" sz="2800" b="1">
              <a:sym typeface="+mn-ea"/>
            </a:endParaRPr>
          </a:p>
        </p:txBody>
      </p:sp>
      <p:pic>
        <p:nvPicPr>
          <p:cNvPr id="33" name="图片 32" descr="csv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05130" y="5488940"/>
            <a:ext cx="1024890" cy="1024890"/>
          </a:xfrm>
          <a:prstGeom prst="rect">
            <a:avLst/>
          </a:prstGeom>
        </p:spPr>
      </p:pic>
      <p:sp>
        <p:nvSpPr>
          <p:cNvPr id="34" name="文本框 33"/>
          <p:cNvSpPr txBox="1"/>
          <p:nvPr/>
        </p:nvSpPr>
        <p:spPr>
          <a:xfrm>
            <a:off x="264160" y="6532880"/>
            <a:ext cx="13290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/>
              <a:t>Raw data</a:t>
            </a:r>
            <a:endParaRPr lang="en-US" altLang="zh-CN" b="1"/>
          </a:p>
        </p:txBody>
      </p:sp>
      <p:pic>
        <p:nvPicPr>
          <p:cNvPr id="35" name="图片 34" descr="CSV-Line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27990" y="3281680"/>
            <a:ext cx="989330" cy="989330"/>
          </a:xfrm>
          <a:prstGeom prst="rect">
            <a:avLst/>
          </a:prstGeom>
        </p:spPr>
      </p:pic>
      <p:sp>
        <p:nvSpPr>
          <p:cNvPr id="36" name="文本框 35"/>
          <p:cNvSpPr txBox="1"/>
          <p:nvPr/>
        </p:nvSpPr>
        <p:spPr>
          <a:xfrm>
            <a:off x="-37465" y="4291965"/>
            <a:ext cx="19196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/>
              <a:t>Processed data</a:t>
            </a:r>
            <a:endParaRPr lang="en-US" altLang="zh-CN" b="1"/>
          </a:p>
        </p:txBody>
      </p:sp>
      <p:cxnSp>
        <p:nvCxnSpPr>
          <p:cNvPr id="37" name="直接箭头连接符 36"/>
          <p:cNvCxnSpPr/>
          <p:nvPr/>
        </p:nvCxnSpPr>
        <p:spPr>
          <a:xfrm flipV="1">
            <a:off x="917575" y="4642485"/>
            <a:ext cx="5080" cy="828675"/>
          </a:xfrm>
          <a:prstGeom prst="straightConnector1">
            <a:avLst/>
          </a:prstGeom>
          <a:ln w="31750">
            <a:solidFill>
              <a:srgbClr val="32323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9" name="右箭头 38"/>
          <p:cNvSpPr/>
          <p:nvPr/>
        </p:nvSpPr>
        <p:spPr>
          <a:xfrm>
            <a:off x="1476375" y="3602355"/>
            <a:ext cx="408305" cy="406400"/>
          </a:xfrm>
          <a:prstGeom prst="rightArrow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右箭头 40"/>
          <p:cNvSpPr/>
          <p:nvPr/>
        </p:nvSpPr>
        <p:spPr>
          <a:xfrm>
            <a:off x="9620885" y="1856740"/>
            <a:ext cx="586740" cy="462915"/>
          </a:xfrm>
          <a:prstGeom prst="rightArrow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矩形 41"/>
          <p:cNvSpPr/>
          <p:nvPr/>
        </p:nvSpPr>
        <p:spPr>
          <a:xfrm>
            <a:off x="10605770" y="1084580"/>
            <a:ext cx="2908300" cy="2393950"/>
          </a:xfrm>
          <a:prstGeom prst="rect">
            <a:avLst/>
          </a:prstGeom>
          <a:solidFill>
            <a:srgbClr val="C8E5B3"/>
          </a:solidFill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1600">
              <a:sym typeface="+mn-ea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13904595" y="1092200"/>
            <a:ext cx="2908300" cy="2393950"/>
          </a:xfrm>
          <a:prstGeom prst="rect">
            <a:avLst/>
          </a:prstGeom>
          <a:solidFill>
            <a:srgbClr val="C8E5B3"/>
          </a:solidFill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1600">
              <a:sym typeface="+mn-e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17202785" y="1084580"/>
            <a:ext cx="2908300" cy="2393950"/>
          </a:xfrm>
          <a:prstGeom prst="rect">
            <a:avLst/>
          </a:prstGeom>
          <a:solidFill>
            <a:srgbClr val="C8E5B3"/>
          </a:solidFill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1600">
              <a:sym typeface="+mn-ea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10959465" y="1216660"/>
            <a:ext cx="21882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400" b="1"/>
              <a:t>Comparison</a:t>
            </a:r>
            <a:endParaRPr lang="en-US" altLang="zh-CN" sz="2400" b="1"/>
          </a:p>
        </p:txBody>
      </p:sp>
      <p:sp>
        <p:nvSpPr>
          <p:cNvPr id="46" name="文本框 45"/>
          <p:cNvSpPr txBox="1"/>
          <p:nvPr/>
        </p:nvSpPr>
        <p:spPr>
          <a:xfrm>
            <a:off x="14342745" y="1234440"/>
            <a:ext cx="20815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400" b="1">
                <a:solidFill>
                  <a:schemeClr val="tx1"/>
                </a:solidFill>
              </a:rPr>
              <a:t>Simulation</a:t>
            </a:r>
            <a:endParaRPr lang="en-US" altLang="zh-CN" sz="2400" b="1">
              <a:solidFill>
                <a:schemeClr val="tx1"/>
              </a:solidFill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17202785" y="1240790"/>
            <a:ext cx="29394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400" b="1">
                <a:solidFill>
                  <a:schemeClr val="tx1"/>
                </a:solidFill>
              </a:rPr>
              <a:t>Evaluation </a:t>
            </a:r>
            <a:endParaRPr lang="en-US" sz="2400" b="1">
              <a:solidFill>
                <a:schemeClr val="tx1"/>
              </a:solidFill>
            </a:endParaRPr>
          </a:p>
        </p:txBody>
      </p:sp>
      <p:sp>
        <p:nvSpPr>
          <p:cNvPr id="49" name="圆角矩形 48"/>
          <p:cNvSpPr/>
          <p:nvPr/>
        </p:nvSpPr>
        <p:spPr>
          <a:xfrm>
            <a:off x="10896600" y="1887855"/>
            <a:ext cx="2365375" cy="377825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t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Rank </a:t>
            </a: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sp>
        <p:nvSpPr>
          <p:cNvPr id="50" name="圆角矩形 49"/>
          <p:cNvSpPr/>
          <p:nvPr/>
        </p:nvSpPr>
        <p:spPr>
          <a:xfrm>
            <a:off x="10896600" y="2724785"/>
            <a:ext cx="2365375" cy="377825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t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Percentage</a:t>
            </a: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11599545" y="2287905"/>
            <a:ext cx="9239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400" b="1">
                <a:solidFill>
                  <a:srgbClr val="FF0000"/>
                </a:solidFill>
              </a:rPr>
              <a:t>VS</a:t>
            </a:r>
            <a:endParaRPr lang="en-US" altLang="zh-CN" sz="2400" b="1">
              <a:solidFill>
                <a:srgbClr val="FF0000"/>
              </a:solidFill>
            </a:endParaRPr>
          </a:p>
        </p:txBody>
      </p:sp>
      <p:sp>
        <p:nvSpPr>
          <p:cNvPr id="55" name="圆角矩形 54"/>
          <p:cNvSpPr/>
          <p:nvPr/>
        </p:nvSpPr>
        <p:spPr>
          <a:xfrm>
            <a:off x="17473930" y="1832610"/>
            <a:ext cx="2365375" cy="377825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t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Elimination Stability</a:t>
            </a: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sp>
        <p:nvSpPr>
          <p:cNvPr id="56" name="圆角矩形 55"/>
          <p:cNvSpPr/>
          <p:nvPr/>
        </p:nvSpPr>
        <p:spPr>
          <a:xfrm>
            <a:off x="17473930" y="2741930"/>
            <a:ext cx="2365375" cy="387350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t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Judge‑Save Impact</a:t>
            </a: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sp>
        <p:nvSpPr>
          <p:cNvPr id="57" name="圆角矩形 56"/>
          <p:cNvSpPr/>
          <p:nvPr/>
        </p:nvSpPr>
        <p:spPr>
          <a:xfrm>
            <a:off x="17473930" y="2280920"/>
            <a:ext cx="2365375" cy="382905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t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Method Discrepancy</a:t>
            </a: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10612120" y="3623310"/>
            <a:ext cx="9498965" cy="59880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2800" b="1">
                <a:solidFill>
                  <a:schemeClr val="tx1"/>
                </a:solidFill>
                <a:sym typeface="+mn-ea"/>
              </a:rPr>
              <a:t>Recommendation</a:t>
            </a:r>
            <a:endParaRPr lang="en-US" altLang="zh-CN" sz="28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10282555" y="4817110"/>
            <a:ext cx="10116185" cy="3590925"/>
          </a:xfrm>
          <a:prstGeom prst="rect">
            <a:avLst/>
          </a:prstGeom>
          <a:noFill/>
          <a:ln w="28575" cmpd="dbl">
            <a:solidFill>
              <a:schemeClr val="tx1"/>
            </a:solidFill>
            <a:prstDash val="lgDash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1454765" y="4891405"/>
            <a:ext cx="780796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800" b="1"/>
              <a:t>Progressive Technical Fairness System</a:t>
            </a:r>
            <a:endParaRPr lang="en-US" altLang="zh-CN" sz="2800" b="1"/>
          </a:p>
        </p:txBody>
      </p:sp>
      <p:sp>
        <p:nvSpPr>
          <p:cNvPr id="3" name="矩形 2"/>
          <p:cNvSpPr/>
          <p:nvPr/>
        </p:nvSpPr>
        <p:spPr>
          <a:xfrm>
            <a:off x="10959465" y="5488940"/>
            <a:ext cx="8610600" cy="2598420"/>
          </a:xfrm>
          <a:prstGeom prst="rect">
            <a:avLst/>
          </a:prstGeom>
          <a:solidFill>
            <a:srgbClr val="FCE6D5"/>
          </a:solidFill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1600">
              <a:sym typeface="+mn-ea"/>
            </a:endParaRPr>
          </a:p>
        </p:txBody>
      </p:sp>
      <p:pic>
        <p:nvPicPr>
          <p:cNvPr id="76" name="图片 75" descr="id75ktvdx2s941hzwbkpb99fdj71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8615025" y="6028055"/>
            <a:ext cx="2984500" cy="2962910"/>
          </a:xfrm>
          <a:prstGeom prst="rect">
            <a:avLst/>
          </a:prstGeom>
        </p:spPr>
      </p:pic>
      <p:sp>
        <p:nvSpPr>
          <p:cNvPr id="4" name="下箭头 3"/>
          <p:cNvSpPr/>
          <p:nvPr/>
        </p:nvSpPr>
        <p:spPr>
          <a:xfrm>
            <a:off x="15066645" y="4536440"/>
            <a:ext cx="547370" cy="221615"/>
          </a:xfrm>
          <a:prstGeom prst="downArrow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右箭头 5"/>
          <p:cNvSpPr/>
          <p:nvPr/>
        </p:nvSpPr>
        <p:spPr>
          <a:xfrm>
            <a:off x="9620885" y="6355080"/>
            <a:ext cx="586740" cy="462915"/>
          </a:xfrm>
          <a:prstGeom prst="rightArrow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本框 16"/>
              <p:cNvSpPr txBox="1"/>
              <p:nvPr/>
            </p:nvSpPr>
            <p:spPr>
              <a:xfrm>
                <a:off x="13305155" y="6779895"/>
                <a:ext cx="5709285" cy="660400"/>
              </a:xfrm>
              <a:prstGeom prst="rect">
                <a:avLst/>
              </a:prstGeom>
              <a:noFill/>
            </p:spPr>
            <p:txBody>
              <a:bodyPr wrap="none" rtlCol="0" anchor="t">
                <a:no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sz="24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𝑖</m:t>
                          </m:r>
                          <m:r>
                            <a:rPr lang="en-US" altLang="zh-CN" sz="24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,</m:t>
                          </m:r>
                          <m:r>
                            <a:rPr lang="en-US" altLang="zh-CN" sz="24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sz="24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24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𝐽</m:t>
                          </m:r>
                        </m:sub>
                      </m:sSub>
                      <m:r>
                        <a:rPr lang="en-US" altLang="zh-CN" sz="24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(</m:t>
                      </m:r>
                      <m:r>
                        <a:rPr lang="en-US" altLang="zh-CN" sz="24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𝑡</m:t>
                      </m:r>
                      <m:r>
                        <a:rPr lang="en-US" altLang="zh-CN" sz="24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)</m:t>
                      </m:r>
                      <m:sSub>
                        <m:sSubPr>
                          <m:ctrlPr>
                            <a:rPr lang="en-US" altLang="zh-CN" sz="24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altLang="zh-CN" sz="2400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𝐽</m:t>
                              </m:r>
                            </m:e>
                          </m:acc>
                        </m:e>
                        <m:sub>
                          <m:r>
                            <a:rPr lang="en-US" altLang="zh-CN" sz="24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𝑖</m:t>
                          </m:r>
                          <m:r>
                            <a:rPr lang="en-US" altLang="zh-CN" sz="24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,</m:t>
                          </m:r>
                          <m:r>
                            <a:rPr lang="en-US" altLang="zh-CN" sz="24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sz="24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+(</m:t>
                      </m:r>
                      <m:r>
                        <a:rPr lang="en-US" altLang="zh-CN" sz="24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1</m:t>
                      </m:r>
                      <m:r>
                        <a:rPr lang="en-US" altLang="zh-CN" sz="24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sz="24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24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𝐽</m:t>
                          </m:r>
                        </m:sub>
                      </m:sSub>
                      <m:r>
                        <a:rPr lang="en-US" altLang="zh-CN" sz="24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(</m:t>
                      </m:r>
                      <m:r>
                        <a:rPr lang="en-US" altLang="zh-CN" sz="24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𝑡</m:t>
                      </m:r>
                      <m:r>
                        <a:rPr lang="en-US" altLang="zh-CN" sz="2400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))</m:t>
                      </m:r>
                      <m:sSub>
                        <m:sSubPr>
                          <m:ctrlPr>
                            <a:rPr lang="en-US" altLang="zh-CN" sz="24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altLang="zh-CN" sz="2400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𝐹</m:t>
                              </m:r>
                            </m:e>
                          </m:acc>
                        </m:e>
                        <m:sub>
                          <m:r>
                            <a:rPr lang="en-US" altLang="zh-CN" sz="24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𝑖</m:t>
                          </m:r>
                          <m:r>
                            <a:rPr lang="en-US" altLang="zh-CN" sz="24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,</m:t>
                          </m:r>
                          <m:r>
                            <a:rPr lang="en-US" altLang="zh-CN" sz="2400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zh-CN" altLang="en-US" sz="2400" i="1">
                  <a:latin typeface="DejaVu Math TeX Gyre" panose="02000503000000000000" charset="0"/>
                  <a:cs typeface="DejaVu Math TeX Gyre" panose="02000503000000000000" charset="0"/>
                </a:endParaRPr>
              </a:p>
            </p:txBody>
          </p:sp>
        </mc:Choice>
        <mc:Fallback>
          <p:sp>
            <p:nvSpPr>
              <p:cNvPr id="17" name="文本框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05155" y="6779895"/>
                <a:ext cx="5709285" cy="660400"/>
              </a:xfrm>
              <a:prstGeom prst="rect">
                <a:avLst/>
              </a:prstGeom>
              <a:blipFill rotWithShape="1"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图片 18" descr="dynamic_weights_minimal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1306810" y="6355080"/>
            <a:ext cx="2188845" cy="1469390"/>
          </a:xfrm>
          <a:prstGeom prst="rect">
            <a:avLst/>
          </a:prstGeom>
        </p:spPr>
      </p:pic>
      <p:sp>
        <p:nvSpPr>
          <p:cNvPr id="281" name="文本框 280"/>
          <p:cNvSpPr txBox="1"/>
          <p:nvPr>
            <p:custDataLst>
              <p:tags r:id="rId21"/>
            </p:custDataLst>
          </p:nvPr>
        </p:nvSpPr>
        <p:spPr>
          <a:xfrm>
            <a:off x="12353925" y="5632450"/>
            <a:ext cx="5972810" cy="6623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400" b="1"/>
              <a:t>Dynamic Weighting</a:t>
            </a:r>
            <a:endParaRPr lang="en-US" altLang="zh-CN" sz="2400"/>
          </a:p>
          <a:p>
            <a:pPr algn="ctr"/>
            <a:r>
              <a:rPr lang="en-US" altLang="zh-CN" sz="2400">
                <a:solidFill>
                  <a:srgbClr val="FF0000"/>
                </a:solidFill>
                <a:sym typeface="+mn-ea"/>
              </a:rPr>
              <a:t>Fan-driven Early   </a:t>
            </a:r>
            <a:r>
              <a:rPr lang="en-US" altLang="zh-CN" sz="2400">
                <a:solidFill>
                  <a:srgbClr val="0070C0"/>
                </a:solidFill>
                <a:sym typeface="+mn-ea"/>
              </a:rPr>
              <a:t>Judge-driven Late</a:t>
            </a:r>
            <a:endParaRPr lang="en-US" altLang="zh-CN" sz="2400">
              <a:solidFill>
                <a:srgbClr val="0070C0"/>
              </a:solidFill>
              <a:sym typeface="+mn-ea"/>
            </a:endParaRPr>
          </a:p>
        </p:txBody>
      </p:sp>
      <p:pic>
        <p:nvPicPr>
          <p:cNvPr id="20" name="图片 19" descr="controversial_jerry_rice_rank_over_weeks"/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4236065" y="1835150"/>
            <a:ext cx="2422525" cy="14173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矩形 57"/>
          <p:cNvSpPr/>
          <p:nvPr/>
        </p:nvSpPr>
        <p:spPr>
          <a:xfrm>
            <a:off x="810260" y="2738120"/>
            <a:ext cx="4570095" cy="748030"/>
          </a:xfrm>
          <a:prstGeom prst="rect">
            <a:avLst/>
          </a:prstGeom>
          <a:solidFill>
            <a:srgbClr val="FCE6D5"/>
          </a:solidFill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1600">
              <a:sym typeface="+mn-ea"/>
            </a:endParaRPr>
          </a:p>
        </p:txBody>
      </p:sp>
      <p:sp>
        <p:nvSpPr>
          <p:cNvPr id="238" name="矩形 237"/>
          <p:cNvSpPr/>
          <p:nvPr/>
        </p:nvSpPr>
        <p:spPr>
          <a:xfrm>
            <a:off x="810260" y="1066800"/>
            <a:ext cx="4570730" cy="1189990"/>
          </a:xfrm>
          <a:prstGeom prst="rect">
            <a:avLst/>
          </a:prstGeom>
          <a:solidFill>
            <a:srgbClr val="FADBDF"/>
          </a:solidFill>
          <a:ln w="12700" cmpd="sng">
            <a:solidFill>
              <a:schemeClr val="accent1">
                <a:shade val="50000"/>
              </a:schemeClr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12" name="图片 311" descr="测试报告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367500" y="5722620"/>
            <a:ext cx="828040" cy="828040"/>
          </a:xfrm>
          <a:prstGeom prst="rect">
            <a:avLst/>
          </a:prstGeom>
        </p:spPr>
      </p:pic>
      <p:sp>
        <p:nvSpPr>
          <p:cNvPr id="313" name="文本框 312"/>
          <p:cNvSpPr txBox="1"/>
          <p:nvPr/>
        </p:nvSpPr>
        <p:spPr>
          <a:xfrm>
            <a:off x="18987770" y="6622415"/>
            <a:ext cx="1550035" cy="42735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 b="1">
                <a:sym typeface="+mn-ea"/>
              </a:rPr>
              <a:t> Memo</a:t>
            </a:r>
            <a:endParaRPr lang="en-US" altLang="zh-CN" b="1">
              <a:sym typeface="+mn-ea"/>
            </a:endParaRPr>
          </a:p>
        </p:txBody>
      </p:sp>
      <p:sp>
        <p:nvSpPr>
          <p:cNvPr id="321" name="文本框 320"/>
          <p:cNvSpPr txBox="1"/>
          <p:nvPr/>
        </p:nvSpPr>
        <p:spPr>
          <a:xfrm>
            <a:off x="1318895" y="448310"/>
            <a:ext cx="64325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800" b="1">
                <a:sym typeface="+mn-ea"/>
              </a:rPr>
              <a:t>Bayesian Inference Framework</a:t>
            </a:r>
            <a:endParaRPr lang="en-US" altLang="zh-CN" sz="2800" b="1">
              <a:sym typeface="+mn-ea"/>
            </a:endParaRPr>
          </a:p>
        </p:txBody>
      </p:sp>
      <p:sp>
        <p:nvSpPr>
          <p:cNvPr id="322" name="矩形 321"/>
          <p:cNvSpPr/>
          <p:nvPr/>
        </p:nvSpPr>
        <p:spPr>
          <a:xfrm>
            <a:off x="630555" y="448310"/>
            <a:ext cx="7512685" cy="3249295"/>
          </a:xfrm>
          <a:prstGeom prst="rect">
            <a:avLst/>
          </a:prstGeom>
          <a:noFill/>
          <a:ln w="28575" cmpd="dbl">
            <a:solidFill>
              <a:schemeClr val="tx1"/>
            </a:solidFill>
            <a:prstDash val="lgDash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8" name="直接箭头连接符 37"/>
          <p:cNvCxnSpPr/>
          <p:nvPr/>
        </p:nvCxnSpPr>
        <p:spPr>
          <a:xfrm>
            <a:off x="19763105" y="4817110"/>
            <a:ext cx="0" cy="7560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图片 14" descr="posterior_small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28795" y="2794000"/>
            <a:ext cx="869950" cy="640080"/>
          </a:xfrm>
          <a:prstGeom prst="rect">
            <a:avLst/>
          </a:prstGeom>
        </p:spPr>
      </p:pic>
      <p:pic>
        <p:nvPicPr>
          <p:cNvPr id="16" name="图片 15" descr="prior_small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96410" y="1127760"/>
            <a:ext cx="802640" cy="591820"/>
          </a:xfrm>
          <a:prstGeom prst="rect">
            <a:avLst/>
          </a:prstGeom>
        </p:spPr>
      </p:pic>
      <p:sp>
        <p:nvSpPr>
          <p:cNvPr id="52" name="圆角矩形 51"/>
          <p:cNvSpPr/>
          <p:nvPr/>
        </p:nvSpPr>
        <p:spPr>
          <a:xfrm>
            <a:off x="949960" y="1766570"/>
            <a:ext cx="2035810" cy="374650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t" anchorCtr="0" forceAA="0" compatLnSpc="1">
            <a:noAutofit/>
          </a:bodyPr>
          <a:p>
            <a:pPr algn="ctr"/>
            <a:r>
              <a:rPr lang="en-US" altLang="zh-CN">
                <a:sym typeface="+mn-ea"/>
              </a:rPr>
              <a:t>Data-Driven Prior</a:t>
            </a: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23" name="直接箭头连接符 22"/>
          <p:cNvCxnSpPr/>
          <p:nvPr/>
        </p:nvCxnSpPr>
        <p:spPr>
          <a:xfrm flipH="1">
            <a:off x="2495550" y="2259965"/>
            <a:ext cx="635" cy="47625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3" name="圆角矩形 52"/>
          <p:cNvSpPr/>
          <p:nvPr/>
        </p:nvSpPr>
        <p:spPr>
          <a:xfrm>
            <a:off x="3164840" y="1763395"/>
            <a:ext cx="2063115" cy="377825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t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Smoothness Prior</a:t>
            </a: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967740" y="2878455"/>
            <a:ext cx="3607435" cy="539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400" b="1"/>
              <a:t>Posterior Distribution</a:t>
            </a:r>
            <a:endParaRPr lang="en-US" altLang="zh-CN" sz="2400" b="1"/>
          </a:p>
        </p:txBody>
      </p:sp>
      <p:sp>
        <p:nvSpPr>
          <p:cNvPr id="61" name="文本框 60"/>
          <p:cNvSpPr txBox="1"/>
          <p:nvPr/>
        </p:nvSpPr>
        <p:spPr>
          <a:xfrm>
            <a:off x="1184275" y="1193800"/>
            <a:ext cx="34347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400" b="1"/>
              <a:t>Prior Distribution</a:t>
            </a:r>
            <a:endParaRPr lang="en-US" altLang="zh-CN" sz="2400" b="1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2" name="文本框 61"/>
              <p:cNvSpPr txBox="1"/>
              <p:nvPr/>
            </p:nvSpPr>
            <p:spPr>
              <a:xfrm>
                <a:off x="2533015" y="2322830"/>
                <a:ext cx="1824990" cy="424180"/>
              </a:xfrm>
              <a:prstGeom prst="rect">
                <a:avLst/>
              </a:prstGeom>
              <a:noFill/>
            </p:spPr>
            <p:txBody>
              <a:bodyPr wrap="none" rtlCol="0" anchor="t">
                <a:no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𝑃</m:t>
                      </m:r>
                      <m:r>
                        <a:rPr lang="en-US" altLang="zh-CN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|</m:t>
                      </m:r>
                      <m:sSub>
                        <m:sSubPr>
                          <m:ctrlP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, </m:t>
                      </m:r>
                      <m:sSub>
                        <m:sSubPr>
                          <m:ctrlP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𝐽</m:t>
                          </m:r>
                        </m:e>
                        <m:sub>
                          <m: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)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62" name="文本框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3015" y="2322830"/>
                <a:ext cx="1824990" cy="424180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矩形 62"/>
          <p:cNvSpPr/>
          <p:nvPr/>
        </p:nvSpPr>
        <p:spPr>
          <a:xfrm>
            <a:off x="6083300" y="1066800"/>
            <a:ext cx="1863725" cy="241935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1600">
              <a:sym typeface="+mn-ea"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5212715" y="3105785"/>
            <a:ext cx="10128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400"/>
              <a:t>MCMC    </a:t>
            </a:r>
            <a:endParaRPr lang="en-US" altLang="zh-CN" sz="1400"/>
          </a:p>
        </p:txBody>
      </p:sp>
      <p:cxnSp>
        <p:nvCxnSpPr>
          <p:cNvPr id="66" name="直接箭头连接符 65"/>
          <p:cNvCxnSpPr/>
          <p:nvPr/>
        </p:nvCxnSpPr>
        <p:spPr>
          <a:xfrm>
            <a:off x="5380355" y="3096895"/>
            <a:ext cx="708025" cy="254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67" name="图片 66" descr="蒙特卡洛仿真_48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20690" y="2642235"/>
            <a:ext cx="396875" cy="396875"/>
          </a:xfrm>
          <a:prstGeom prst="rect">
            <a:avLst/>
          </a:prstGeom>
        </p:spPr>
      </p:pic>
      <p:pic>
        <p:nvPicPr>
          <p:cNvPr id="68" name="图片 67" descr="mcmc_result_small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559550" y="2778760"/>
            <a:ext cx="964565" cy="62738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9" name="文本框 68"/>
              <p:cNvSpPr txBox="1"/>
              <p:nvPr/>
            </p:nvSpPr>
            <p:spPr>
              <a:xfrm>
                <a:off x="6054344" y="2218626"/>
                <a:ext cx="1974850" cy="46164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(</m:t>
                              </m:r>
                              <m:r>
                                <a:rPr lang="en-US" altLang="zh-CN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1</m:t>
                              </m:r>
                              <m:r>
                                <a:rPr lang="en-US" altLang="zh-CN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)</m:t>
                              </m:r>
                            </m:sup>
                          </m:sSubSup>
                          <m:r>
                            <a:rPr lang="en-US" altLang="zh-CN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, ..., </m:t>
                          </m:r>
                          <m:sSubSup>
                            <m:sSubSupPr>
                              <m:ctrlPr>
                                <a:rPr lang="en-US" altLang="zh-CN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(</m:t>
                              </m:r>
                              <m:r>
                                <a:rPr lang="en-US" altLang="zh-CN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𝑁</m:t>
                              </m:r>
                              <m:r>
                                <a:rPr lang="en-US" altLang="zh-CN" i="1">
                                  <a:latin typeface="DejaVu Math TeX Gyre" panose="02000503000000000000" charset="0"/>
                                  <a:cs typeface="DejaVu Math TeX Gyre" panose="02000503000000000000" charset="0"/>
                                </a:rPr>
                                <m:t>)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69" name="文本框 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4344" y="2218626"/>
                <a:ext cx="1974850" cy="461645"/>
              </a:xfrm>
              <a:prstGeom prst="rect">
                <a:avLst/>
              </a:prstGeom>
              <a:blipFill rotWithShape="1">
                <a:blip r:embed="rId12"/>
                <a:stretch>
                  <a:fillRect l="-13" t="-124" r="13" b="1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文本框 69"/>
          <p:cNvSpPr txBox="1"/>
          <p:nvPr/>
        </p:nvSpPr>
        <p:spPr>
          <a:xfrm>
            <a:off x="6215380" y="1207770"/>
            <a:ext cx="153606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400" b="1"/>
              <a:t>Posterior samples</a:t>
            </a:r>
            <a:endParaRPr lang="en-US" altLang="zh-CN" sz="2400" b="1"/>
          </a:p>
        </p:txBody>
      </p:sp>
      <p:sp>
        <p:nvSpPr>
          <p:cNvPr id="71" name="矩形 70"/>
          <p:cNvSpPr/>
          <p:nvPr/>
        </p:nvSpPr>
        <p:spPr>
          <a:xfrm>
            <a:off x="630555" y="3916680"/>
            <a:ext cx="7513320" cy="4491355"/>
          </a:xfrm>
          <a:prstGeom prst="rect">
            <a:avLst/>
          </a:prstGeom>
          <a:noFill/>
          <a:ln w="28575" cmpd="dbl">
            <a:solidFill>
              <a:schemeClr val="tx1"/>
            </a:solidFill>
            <a:prstDash val="lgDash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4618990" y="4573905"/>
            <a:ext cx="3174365" cy="2247900"/>
          </a:xfrm>
          <a:prstGeom prst="rect">
            <a:avLst/>
          </a:prstGeom>
          <a:solidFill>
            <a:srgbClr val="C8E5B3"/>
          </a:solidFill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1600">
              <a:sym typeface="+mn-ea"/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535305" y="3967480"/>
            <a:ext cx="789622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800" b="1">
                <a:sym typeface="+mn-ea"/>
              </a:rPr>
              <a:t>Dual-Track Hierarchical Model</a:t>
            </a:r>
            <a:endParaRPr lang="en-US" altLang="zh-CN" sz="2800" b="1"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39495" y="4570095"/>
            <a:ext cx="3174365" cy="2247900"/>
          </a:xfrm>
          <a:prstGeom prst="rect">
            <a:avLst/>
          </a:prstGeom>
          <a:solidFill>
            <a:srgbClr val="C8E5B3"/>
          </a:solidFill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1600"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539875" y="4642485"/>
            <a:ext cx="20377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/>
              <a:t>Judges Track</a:t>
            </a:r>
            <a:endParaRPr lang="en-US" altLang="zh-CN" sz="2000"/>
          </a:p>
        </p:txBody>
      </p:sp>
      <p:sp>
        <p:nvSpPr>
          <p:cNvPr id="8" name="文本框 7"/>
          <p:cNvSpPr txBox="1"/>
          <p:nvPr/>
        </p:nvSpPr>
        <p:spPr>
          <a:xfrm>
            <a:off x="5198745" y="4660265"/>
            <a:ext cx="20377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/>
              <a:t>Fan-Vote Track</a:t>
            </a:r>
            <a:endParaRPr lang="en-US" altLang="zh-CN" sz="2000"/>
          </a:p>
        </p:txBody>
      </p:sp>
      <p:sp>
        <p:nvSpPr>
          <p:cNvPr id="9" name="圆角矩形 8"/>
          <p:cNvSpPr/>
          <p:nvPr/>
        </p:nvSpPr>
        <p:spPr>
          <a:xfrm>
            <a:off x="1381125" y="5111115"/>
            <a:ext cx="2364740" cy="377825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t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Celebrity traits</a:t>
            </a: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1393825" y="5650230"/>
            <a:ext cx="2364740" cy="377825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t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Week trend</a:t>
            </a: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1400175" y="6202045"/>
            <a:ext cx="2364740" cy="377825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t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Partner effect</a:t>
            </a: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5056505" y="5127625"/>
            <a:ext cx="2365375" cy="377825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t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Celebrity traits</a:t>
            </a: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5069205" y="5666740"/>
            <a:ext cx="2365375" cy="377825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t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Judges’ score</a:t>
            </a: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5075555" y="6218555"/>
            <a:ext cx="2365375" cy="377825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t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Partner effect</a:t>
            </a: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sp>
        <p:nvSpPr>
          <p:cNvPr id="22" name="下箭头 21"/>
          <p:cNvSpPr/>
          <p:nvPr/>
        </p:nvSpPr>
        <p:spPr>
          <a:xfrm>
            <a:off x="2196465" y="6887845"/>
            <a:ext cx="895350" cy="304800"/>
          </a:xfrm>
          <a:prstGeom prst="downArrow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下箭头 23"/>
          <p:cNvSpPr/>
          <p:nvPr/>
        </p:nvSpPr>
        <p:spPr>
          <a:xfrm>
            <a:off x="5758180" y="6891655"/>
            <a:ext cx="895350" cy="304800"/>
          </a:xfrm>
          <a:prstGeom prst="downArrow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9" name="圆角矩形 278"/>
          <p:cNvSpPr/>
          <p:nvPr>
            <p:custDataLst>
              <p:tags r:id="rId13"/>
            </p:custDataLst>
          </p:nvPr>
        </p:nvSpPr>
        <p:spPr>
          <a:xfrm>
            <a:off x="1047115" y="7263130"/>
            <a:ext cx="3174365" cy="840105"/>
          </a:xfrm>
          <a:prstGeom prst="roundRect">
            <a:avLst>
              <a:gd name="adj" fmla="val 5234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Judges’ scores</a:t>
            </a:r>
            <a:endParaRPr lang="en-US" altLang="zh-CN">
              <a:solidFill>
                <a:schemeClr val="tx1"/>
              </a:solidFill>
            </a:endParaRPr>
          </a:p>
          <a:p>
            <a:pPr algn="ctr"/>
            <a:r>
              <a:rPr lang="en-US" altLang="zh-CN">
                <a:solidFill>
                  <a:schemeClr val="tx1"/>
                </a:solidFill>
              </a:rPr>
              <a:t>Technical evaluation</a:t>
            </a:r>
            <a:endParaRPr lang="en-US" altLang="zh-CN">
              <a:solidFill>
                <a:schemeClr val="tx1"/>
              </a:solidFill>
            </a:endParaRPr>
          </a:p>
          <a:p>
            <a:pPr algn="ctr"/>
            <a:r>
              <a:rPr lang="en-US" altLang="zh-CN">
                <a:solidFill>
                  <a:schemeClr val="tx1"/>
                </a:solidFill>
              </a:rPr>
              <a:t>ICC</a:t>
            </a:r>
            <a:r>
              <a:rPr lang="en-US" altLang="en-US">
                <a:solidFill>
                  <a:schemeClr val="tx1"/>
                </a:solidFill>
              </a:rPr>
              <a:t>ᴶ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26" name="圆角矩形 25"/>
          <p:cNvSpPr/>
          <p:nvPr>
            <p:custDataLst>
              <p:tags r:id="rId14"/>
            </p:custDataLst>
          </p:nvPr>
        </p:nvSpPr>
        <p:spPr>
          <a:xfrm>
            <a:off x="4618990" y="7251065"/>
            <a:ext cx="3174365" cy="871220"/>
          </a:xfrm>
          <a:prstGeom prst="roundRect">
            <a:avLst>
              <a:gd name="adj" fmla="val 5234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Fan votes</a:t>
            </a:r>
            <a:endParaRPr lang="en-US" altLang="zh-CN">
              <a:solidFill>
                <a:schemeClr val="tx1"/>
              </a:solidFill>
            </a:endParaRPr>
          </a:p>
          <a:p>
            <a:pPr algn="ctr"/>
            <a:r>
              <a:rPr lang="en-US" altLang="zh-CN">
                <a:solidFill>
                  <a:schemeClr val="tx1"/>
                </a:solidFill>
              </a:rPr>
              <a:t>Popularity outcome</a:t>
            </a:r>
            <a:endParaRPr lang="en-US" altLang="zh-CN">
              <a:solidFill>
                <a:schemeClr val="tx1"/>
              </a:solidFill>
            </a:endParaRPr>
          </a:p>
          <a:p>
            <a:pPr algn="ctr"/>
            <a:r>
              <a:rPr lang="en-US" altLang="zh-CN">
                <a:solidFill>
                  <a:schemeClr val="tx1"/>
                </a:solidFill>
              </a:rPr>
              <a:t>ICC</a:t>
            </a:r>
            <a:r>
              <a:rPr lang="en-US" altLang="en-US">
                <a:solidFill>
                  <a:schemeClr val="tx1"/>
                </a:solidFill>
              </a:rPr>
              <a:t>ᶠ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30" name="任意多边形 29"/>
          <p:cNvSpPr/>
          <p:nvPr/>
        </p:nvSpPr>
        <p:spPr>
          <a:xfrm>
            <a:off x="7795895" y="2656840"/>
            <a:ext cx="532130" cy="3151505"/>
          </a:xfrm>
          <a:custGeom>
            <a:avLst/>
            <a:gdLst>
              <a:gd name="connisteX0" fmla="*/ 147955 w 532130"/>
              <a:gd name="connsiteY0" fmla="*/ 0 h 3151505"/>
              <a:gd name="connisteX1" fmla="*/ 532130 w 532130"/>
              <a:gd name="connsiteY1" fmla="*/ 0 h 3151505"/>
              <a:gd name="connisteX2" fmla="*/ 532130 w 532130"/>
              <a:gd name="connsiteY2" fmla="*/ 3151505 h 3151505"/>
              <a:gd name="connisteX3" fmla="*/ 0 w 532130"/>
              <a:gd name="connsiteY3" fmla="*/ 3151505 h 315150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532130" h="3151505">
                <a:moveTo>
                  <a:pt x="147955" y="0"/>
                </a:moveTo>
                <a:lnTo>
                  <a:pt x="532130" y="0"/>
                </a:lnTo>
                <a:lnTo>
                  <a:pt x="532130" y="3151505"/>
                </a:lnTo>
                <a:lnTo>
                  <a:pt x="0" y="3151505"/>
                </a:lnTo>
              </a:path>
            </a:pathLst>
          </a:custGeom>
          <a:noFill/>
          <a:ln w="28575">
            <a:solidFill>
              <a:srgbClr val="20202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6978650" y="1602740"/>
            <a:ext cx="2053590" cy="4843780"/>
          </a:xfrm>
          <a:prstGeom prst="rect">
            <a:avLst/>
          </a:prstGeom>
          <a:solidFill>
            <a:schemeClr val="bg2">
              <a:lumMod val="95000"/>
            </a:schemeClr>
          </a:solidFill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1" name="圆角矩形 50"/>
          <p:cNvSpPr/>
          <p:nvPr/>
        </p:nvSpPr>
        <p:spPr>
          <a:xfrm>
            <a:off x="7073265" y="4478655"/>
            <a:ext cx="1880870" cy="10800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0" name="圆角矩形 49"/>
          <p:cNvSpPr/>
          <p:nvPr/>
        </p:nvSpPr>
        <p:spPr>
          <a:xfrm>
            <a:off x="7064375" y="2223135"/>
            <a:ext cx="1880870" cy="10800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7" name="矩形 46"/>
          <p:cNvSpPr/>
          <p:nvPr/>
        </p:nvSpPr>
        <p:spPr>
          <a:xfrm>
            <a:off x="2283460" y="6691630"/>
            <a:ext cx="6590665" cy="59880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1600">
              <a:sym typeface="+mn-ea"/>
            </a:endParaRPr>
          </a:p>
        </p:txBody>
      </p:sp>
      <p:sp>
        <p:nvSpPr>
          <p:cNvPr id="228" name="矩形 227"/>
          <p:cNvSpPr/>
          <p:nvPr/>
        </p:nvSpPr>
        <p:spPr>
          <a:xfrm>
            <a:off x="2263140" y="3878580"/>
            <a:ext cx="4396105" cy="256794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1600">
              <a:sym typeface="+mn-ea"/>
            </a:endParaRPr>
          </a:p>
        </p:txBody>
      </p:sp>
      <p:sp>
        <p:nvSpPr>
          <p:cNvPr id="230" name="文本框 229"/>
          <p:cNvSpPr txBox="1"/>
          <p:nvPr/>
        </p:nvSpPr>
        <p:spPr>
          <a:xfrm>
            <a:off x="134303" y="4016375"/>
            <a:ext cx="1764665" cy="3352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/>
              <a:t>Initial Seeds</a:t>
            </a:r>
            <a:endParaRPr lang="en-US" altLang="zh-CN" b="1"/>
          </a:p>
        </p:txBody>
      </p:sp>
      <p:sp>
        <p:nvSpPr>
          <p:cNvPr id="231" name="文本框 230"/>
          <p:cNvSpPr txBox="1"/>
          <p:nvPr/>
        </p:nvSpPr>
        <p:spPr>
          <a:xfrm>
            <a:off x="134938" y="1870710"/>
            <a:ext cx="17659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/>
              <a:t>Test data</a:t>
            </a:r>
            <a:endParaRPr lang="en-US" altLang="zh-CN" b="1"/>
          </a:p>
        </p:txBody>
      </p:sp>
      <p:sp>
        <p:nvSpPr>
          <p:cNvPr id="232" name="文本框 231"/>
          <p:cNvSpPr txBox="1"/>
          <p:nvPr/>
        </p:nvSpPr>
        <p:spPr>
          <a:xfrm>
            <a:off x="134620" y="6235065"/>
            <a:ext cx="17665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/>
              <a:t>Seed Queue</a:t>
            </a:r>
            <a:endParaRPr lang="en-US" altLang="zh-CN" b="1"/>
          </a:p>
        </p:txBody>
      </p:sp>
      <p:sp>
        <p:nvSpPr>
          <p:cNvPr id="233" name="右箭头 232"/>
          <p:cNvSpPr/>
          <p:nvPr/>
        </p:nvSpPr>
        <p:spPr>
          <a:xfrm>
            <a:off x="1642110" y="5645785"/>
            <a:ext cx="360000" cy="43200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34" name="肘形连接符 233"/>
          <p:cNvCxnSpPr>
            <a:stCxn id="295" idx="3"/>
            <a:endCxn id="232" idx="2"/>
          </p:cNvCxnSpPr>
          <p:nvPr/>
        </p:nvCxnSpPr>
        <p:spPr>
          <a:xfrm flipH="1">
            <a:off x="1017905" y="5546725"/>
            <a:ext cx="17245965" cy="1056640"/>
          </a:xfrm>
          <a:prstGeom prst="bentConnector4">
            <a:avLst>
              <a:gd name="adj1" fmla="val -3346"/>
              <a:gd name="adj2" fmla="val 200120"/>
            </a:avLst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5" name="直接箭头连接符 234"/>
          <p:cNvCxnSpPr/>
          <p:nvPr/>
        </p:nvCxnSpPr>
        <p:spPr>
          <a:xfrm>
            <a:off x="1003935" y="2294890"/>
            <a:ext cx="0" cy="7560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直接箭头连接符 235"/>
          <p:cNvCxnSpPr/>
          <p:nvPr/>
        </p:nvCxnSpPr>
        <p:spPr>
          <a:xfrm>
            <a:off x="1003935" y="4508500"/>
            <a:ext cx="0" cy="7560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7" name="图片 236" descr="队列-copy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3090" y="5433695"/>
            <a:ext cx="801370" cy="801370"/>
          </a:xfrm>
          <a:prstGeom prst="rect">
            <a:avLst/>
          </a:prstGeom>
        </p:spPr>
      </p:pic>
      <p:sp>
        <p:nvSpPr>
          <p:cNvPr id="238" name="矩形 237"/>
          <p:cNvSpPr/>
          <p:nvPr/>
        </p:nvSpPr>
        <p:spPr>
          <a:xfrm>
            <a:off x="2267585" y="1593215"/>
            <a:ext cx="4396105" cy="21005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mpd="sng">
            <a:solidFill>
              <a:schemeClr val="accent1">
                <a:shade val="50000"/>
              </a:schemeClr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0" name="圆角矩形 239"/>
          <p:cNvSpPr/>
          <p:nvPr/>
        </p:nvSpPr>
        <p:spPr>
          <a:xfrm>
            <a:off x="2616397" y="5854155"/>
            <a:ext cx="1764000" cy="432000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241" name="圆角矩形 240"/>
          <p:cNvSpPr/>
          <p:nvPr/>
        </p:nvSpPr>
        <p:spPr>
          <a:xfrm>
            <a:off x="2597347" y="5171614"/>
            <a:ext cx="1764000" cy="432000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242" name="圆角矩形 241"/>
          <p:cNvSpPr/>
          <p:nvPr/>
        </p:nvSpPr>
        <p:spPr>
          <a:xfrm>
            <a:off x="4730312" y="4514940"/>
            <a:ext cx="1764000" cy="432000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243" name="圆角矩形 242"/>
          <p:cNvSpPr/>
          <p:nvPr/>
        </p:nvSpPr>
        <p:spPr>
          <a:xfrm>
            <a:off x="4730312" y="5171614"/>
            <a:ext cx="1764000" cy="432000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244" name="圆角矩形 243"/>
          <p:cNvSpPr/>
          <p:nvPr/>
        </p:nvSpPr>
        <p:spPr>
          <a:xfrm>
            <a:off x="4730312" y="5871384"/>
            <a:ext cx="1764000" cy="432000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245" name="圆角矩形 244"/>
          <p:cNvSpPr/>
          <p:nvPr/>
        </p:nvSpPr>
        <p:spPr>
          <a:xfrm>
            <a:off x="2597150" y="4515775"/>
            <a:ext cx="1764030" cy="431165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Vehicle</a:t>
            </a: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sp>
        <p:nvSpPr>
          <p:cNvPr id="246" name="矩形 245"/>
          <p:cNvSpPr/>
          <p:nvPr/>
        </p:nvSpPr>
        <p:spPr>
          <a:xfrm>
            <a:off x="2606040" y="4489450"/>
            <a:ext cx="1764030" cy="431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2">
                    <a:lumMod val="95000"/>
                  </a:schemeClr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sp>
        <p:nvSpPr>
          <p:cNvPr id="247" name="文本框 246"/>
          <p:cNvSpPr txBox="1"/>
          <p:nvPr/>
        </p:nvSpPr>
        <p:spPr>
          <a:xfrm>
            <a:off x="2597150" y="5181600"/>
            <a:ext cx="1764030" cy="4318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>
                <a:sym typeface="+mn-ea"/>
              </a:rPr>
              <a:t>Vegetation</a:t>
            </a:r>
            <a:endParaRPr lang="en-US" altLang="zh-CN">
              <a:sym typeface="+mn-ea"/>
            </a:endParaRPr>
          </a:p>
        </p:txBody>
      </p:sp>
      <p:sp>
        <p:nvSpPr>
          <p:cNvPr id="248" name="文本框 247"/>
          <p:cNvSpPr txBox="1"/>
          <p:nvPr/>
        </p:nvSpPr>
        <p:spPr>
          <a:xfrm>
            <a:off x="4730115" y="5181600"/>
            <a:ext cx="1764030" cy="4318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>
                <a:sym typeface="+mn-ea"/>
              </a:rPr>
              <a:t>Animal</a:t>
            </a:r>
            <a:endParaRPr lang="en-US" altLang="zh-CN">
              <a:sym typeface="+mn-ea"/>
            </a:endParaRPr>
          </a:p>
        </p:txBody>
      </p:sp>
      <p:sp>
        <p:nvSpPr>
          <p:cNvPr id="250" name="文本框 249"/>
          <p:cNvSpPr txBox="1"/>
          <p:nvPr/>
        </p:nvSpPr>
        <p:spPr>
          <a:xfrm>
            <a:off x="4730115" y="4530725"/>
            <a:ext cx="1764030" cy="4318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>
                <a:sym typeface="+mn-ea"/>
              </a:rPr>
              <a:t>Person</a:t>
            </a:r>
            <a:endParaRPr lang="en-US" altLang="zh-CN">
              <a:sym typeface="+mn-ea"/>
            </a:endParaRPr>
          </a:p>
        </p:txBody>
      </p:sp>
      <p:sp>
        <p:nvSpPr>
          <p:cNvPr id="251" name="文本框 250"/>
          <p:cNvSpPr txBox="1"/>
          <p:nvPr/>
        </p:nvSpPr>
        <p:spPr>
          <a:xfrm>
            <a:off x="2597150" y="5871210"/>
            <a:ext cx="1764030" cy="4318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zh-CN" altLang="en-US">
                <a:sym typeface="+mn-ea"/>
              </a:rPr>
              <a:t>Infrastructure</a:t>
            </a:r>
            <a:endParaRPr lang="zh-CN" altLang="en-US">
              <a:sym typeface="+mn-ea"/>
            </a:endParaRPr>
          </a:p>
        </p:txBody>
      </p:sp>
      <p:sp>
        <p:nvSpPr>
          <p:cNvPr id="254" name="矩形 253"/>
          <p:cNvSpPr/>
          <p:nvPr/>
        </p:nvSpPr>
        <p:spPr>
          <a:xfrm>
            <a:off x="9664700" y="928370"/>
            <a:ext cx="8988425" cy="3023870"/>
          </a:xfrm>
          <a:prstGeom prst="rect">
            <a:avLst/>
          </a:prstGeom>
          <a:noFill/>
          <a:ln w="28575" cmpd="dbl">
            <a:solidFill>
              <a:schemeClr val="tx1"/>
            </a:solidFill>
            <a:prstDash val="lgDash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61" name="矩形 260"/>
          <p:cNvSpPr/>
          <p:nvPr/>
        </p:nvSpPr>
        <p:spPr>
          <a:xfrm>
            <a:off x="9664700" y="4404360"/>
            <a:ext cx="8989060" cy="3023870"/>
          </a:xfrm>
          <a:prstGeom prst="rect">
            <a:avLst/>
          </a:prstGeom>
          <a:noFill/>
          <a:ln w="28575" cmpd="dbl">
            <a:solidFill>
              <a:schemeClr val="tx1"/>
            </a:solidFill>
            <a:prstDash val="lgDash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62" name="矩形 261"/>
          <p:cNvSpPr/>
          <p:nvPr/>
        </p:nvSpPr>
        <p:spPr>
          <a:xfrm>
            <a:off x="9824085" y="1631950"/>
            <a:ext cx="2728595" cy="2099945"/>
          </a:xfrm>
          <a:prstGeom prst="rect">
            <a:avLst/>
          </a:prstGeom>
          <a:solidFill>
            <a:srgbClr val="C8E5B3"/>
          </a:solidFill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1600">
              <a:sym typeface="+mn-ea"/>
            </a:endParaRPr>
          </a:p>
        </p:txBody>
      </p:sp>
      <p:sp>
        <p:nvSpPr>
          <p:cNvPr id="263" name="圆角矩形 262"/>
          <p:cNvSpPr/>
          <p:nvPr/>
        </p:nvSpPr>
        <p:spPr>
          <a:xfrm>
            <a:off x="9902190" y="2115820"/>
            <a:ext cx="2520000" cy="540000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t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264" name="矩形 263"/>
          <p:cNvSpPr/>
          <p:nvPr/>
        </p:nvSpPr>
        <p:spPr>
          <a:xfrm>
            <a:off x="12808585" y="1631315"/>
            <a:ext cx="2728595" cy="210121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1600">
              <a:sym typeface="+mn-ea"/>
            </a:endParaRPr>
          </a:p>
        </p:txBody>
      </p:sp>
      <p:sp>
        <p:nvSpPr>
          <p:cNvPr id="265" name="圆角矩形 264"/>
          <p:cNvSpPr/>
          <p:nvPr/>
        </p:nvSpPr>
        <p:spPr>
          <a:xfrm>
            <a:off x="9902190" y="2929255"/>
            <a:ext cx="2520000" cy="540000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t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266" name="文本框 265"/>
          <p:cNvSpPr txBox="1"/>
          <p:nvPr/>
        </p:nvSpPr>
        <p:spPr>
          <a:xfrm>
            <a:off x="9905365" y="2175510"/>
            <a:ext cx="2519680" cy="443865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ym typeface="+mn-ea"/>
              </a:rPr>
              <a:t>Sensor Specification</a:t>
            </a:r>
            <a:endParaRPr lang="en-US" altLang="zh-CN">
              <a:sym typeface="+mn-ea"/>
            </a:endParaRPr>
          </a:p>
        </p:txBody>
      </p:sp>
      <p:sp>
        <p:nvSpPr>
          <p:cNvPr id="267" name="文本框 266"/>
          <p:cNvSpPr txBox="1"/>
          <p:nvPr/>
        </p:nvSpPr>
        <p:spPr>
          <a:xfrm>
            <a:off x="9902190" y="3007360"/>
            <a:ext cx="2522855" cy="460375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p>
            <a:pPr algn="ctr"/>
            <a:r>
              <a:rPr lang="en-US" altLang="zh-CN">
                <a:sym typeface="+mn-ea"/>
              </a:rPr>
              <a:t>Beam Generation</a:t>
            </a:r>
            <a:endParaRPr lang="en-US" altLang="zh-CN">
              <a:sym typeface="+mn-ea"/>
            </a:endParaRPr>
          </a:p>
        </p:txBody>
      </p:sp>
      <p:sp>
        <p:nvSpPr>
          <p:cNvPr id="268" name="文本框 267"/>
          <p:cNvSpPr txBox="1"/>
          <p:nvPr/>
        </p:nvSpPr>
        <p:spPr>
          <a:xfrm>
            <a:off x="9823450" y="1655445"/>
            <a:ext cx="2729230" cy="2305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>
                <a:sym typeface="+mn-ea"/>
              </a:rPr>
              <a:t>Virtual LiDAR Setup</a:t>
            </a:r>
            <a:endParaRPr lang="en-US" altLang="zh-CN" b="1">
              <a:sym typeface="+mn-ea"/>
            </a:endParaRPr>
          </a:p>
        </p:txBody>
      </p:sp>
      <p:sp>
        <p:nvSpPr>
          <p:cNvPr id="269" name="文本框 268"/>
          <p:cNvSpPr txBox="1"/>
          <p:nvPr/>
        </p:nvSpPr>
        <p:spPr>
          <a:xfrm>
            <a:off x="12808585" y="1630680"/>
            <a:ext cx="2727325" cy="4438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>
                <a:sym typeface="+mn-ea"/>
              </a:rPr>
              <a:t>Beam Propagatio</a:t>
            </a:r>
            <a:r>
              <a:rPr lang="zh-CN" altLang="en-US" b="1">
                <a:sym typeface="+mn-ea"/>
              </a:rPr>
              <a:t>n</a:t>
            </a:r>
            <a:endParaRPr lang="en-US" altLang="zh-CN" b="1">
              <a:sym typeface="+mn-ea"/>
            </a:endParaRPr>
          </a:p>
        </p:txBody>
      </p:sp>
      <p:sp>
        <p:nvSpPr>
          <p:cNvPr id="270" name="圆角矩形 269"/>
          <p:cNvSpPr/>
          <p:nvPr/>
        </p:nvSpPr>
        <p:spPr>
          <a:xfrm>
            <a:off x="12939395" y="2115820"/>
            <a:ext cx="2520000" cy="540000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t" anchorCtr="0" forceAA="0" compatLnSpc="1">
            <a:noAutofit/>
          </a:bodyPr>
          <a:p>
            <a:pPr lvl="0" algn="ctr">
              <a:lnSpc>
                <a:spcPct val="120000"/>
              </a:lnSpc>
              <a:buClrTx/>
              <a:buSzTx/>
              <a:buFontTx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Range Computation</a:t>
            </a: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sp>
        <p:nvSpPr>
          <p:cNvPr id="271" name="圆角矩形 270"/>
          <p:cNvSpPr/>
          <p:nvPr/>
        </p:nvSpPr>
        <p:spPr>
          <a:xfrm>
            <a:off x="12939395" y="2929255"/>
            <a:ext cx="2520000" cy="540000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t" anchorCtr="0" forceAA="0" compatLnSpc="1">
            <a:noAutofit/>
          </a:bodyPr>
          <a:p>
            <a:pPr lvl="0" algn="ctr">
              <a:lnSpc>
                <a:spcPct val="120000"/>
              </a:lnSpc>
              <a:buClrTx/>
              <a:buSzTx/>
              <a:buFontTx/>
            </a:pPr>
            <a:r>
              <a:rPr lang="zh-CN" altLang="en-US">
                <a:sym typeface="+mn-ea"/>
              </a:rPr>
              <a:t>Reflectivity Modeling</a:t>
            </a: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sp>
        <p:nvSpPr>
          <p:cNvPr id="273" name="矩形 272"/>
          <p:cNvSpPr/>
          <p:nvPr/>
        </p:nvSpPr>
        <p:spPr>
          <a:xfrm>
            <a:off x="15803880" y="1631950"/>
            <a:ext cx="2728595" cy="210121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1600">
              <a:sym typeface="+mn-ea"/>
            </a:endParaRPr>
          </a:p>
        </p:txBody>
      </p:sp>
      <p:sp>
        <p:nvSpPr>
          <p:cNvPr id="274" name="文本框 273"/>
          <p:cNvSpPr txBox="1"/>
          <p:nvPr/>
        </p:nvSpPr>
        <p:spPr>
          <a:xfrm>
            <a:off x="15805150" y="1637665"/>
            <a:ext cx="2727325" cy="4438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b="1">
                <a:sym typeface="+mn-ea"/>
              </a:rPr>
              <a:t>Point Cloud Generation</a:t>
            </a:r>
            <a:endParaRPr lang="zh-CN" altLang="en-US" b="1">
              <a:sym typeface="+mn-ea"/>
            </a:endParaRPr>
          </a:p>
          <a:p>
            <a:pPr algn="ctr"/>
            <a:endParaRPr lang="zh-CN" altLang="en-US" b="1">
              <a:sym typeface="+mn-ea"/>
            </a:endParaRPr>
          </a:p>
        </p:txBody>
      </p:sp>
      <p:sp>
        <p:nvSpPr>
          <p:cNvPr id="275" name="文本框 274"/>
          <p:cNvSpPr txBox="1"/>
          <p:nvPr/>
        </p:nvSpPr>
        <p:spPr>
          <a:xfrm>
            <a:off x="15963900" y="2115820"/>
            <a:ext cx="2255520" cy="3943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endParaRPr lang="zh-CN" altLang="en-US"/>
          </a:p>
        </p:txBody>
      </p:sp>
      <p:sp>
        <p:nvSpPr>
          <p:cNvPr id="276" name="圆角矩形 275"/>
          <p:cNvSpPr/>
          <p:nvPr/>
        </p:nvSpPr>
        <p:spPr>
          <a:xfrm>
            <a:off x="15935960" y="2115820"/>
            <a:ext cx="2520000" cy="540000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t" anchorCtr="0" forceAA="0" compatLnSpc="1">
            <a:noAutofit/>
          </a:bodyPr>
          <a:p>
            <a:pPr lvl="0" algn="ctr">
              <a:lnSpc>
                <a:spcPct val="120000"/>
              </a:lnSpc>
              <a:buClrTx/>
              <a:buSzTx/>
              <a:buFontTx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Point Computation</a:t>
            </a: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sp>
        <p:nvSpPr>
          <p:cNvPr id="277" name="圆角矩形 276"/>
          <p:cNvSpPr/>
          <p:nvPr/>
        </p:nvSpPr>
        <p:spPr>
          <a:xfrm>
            <a:off x="15935960" y="2929255"/>
            <a:ext cx="2548255" cy="539750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t" anchorCtr="0" forceAA="0" compatLnSpc="1">
            <a:noAutofit/>
          </a:bodyPr>
          <a:p>
            <a:pPr lvl="0" algn="ctr">
              <a:lnSpc>
                <a:spcPct val="120000"/>
              </a:lnSpc>
              <a:buClrTx/>
              <a:buSzTx/>
              <a:buFontTx/>
            </a:pPr>
            <a:endParaRPr lang="en-US" altLang="zh-CN">
              <a:sym typeface="+mn-ea"/>
            </a:endParaRPr>
          </a:p>
        </p:txBody>
      </p:sp>
      <p:sp>
        <p:nvSpPr>
          <p:cNvPr id="279" name="圆角矩形 278"/>
          <p:cNvSpPr/>
          <p:nvPr>
            <p:custDataLst>
              <p:tags r:id="rId3"/>
            </p:custDataLst>
          </p:nvPr>
        </p:nvSpPr>
        <p:spPr>
          <a:xfrm>
            <a:off x="11367135" y="5081270"/>
            <a:ext cx="5048885" cy="2005330"/>
          </a:xfrm>
          <a:prstGeom prst="roundRect">
            <a:avLst>
              <a:gd name="adj" fmla="val 5234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80" name="334E55B0-647D-440b-865C-3EC943EB4CBC-6" descr="/Users/gaoxinyu/Library/Containers/com.kingsoft.wpsoffice.mac/Data/tmp/wpsoffice.cEbuJowpsoffic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12245" y="6153785"/>
            <a:ext cx="2155190" cy="636905"/>
          </a:xfrm>
          <a:prstGeom prst="rect">
            <a:avLst/>
          </a:prstGeom>
        </p:spPr>
      </p:pic>
      <p:sp>
        <p:nvSpPr>
          <p:cNvPr id="281" name="文本框 280"/>
          <p:cNvSpPr txBox="1"/>
          <p:nvPr>
            <p:custDataLst>
              <p:tags r:id="rId5"/>
            </p:custDataLst>
          </p:nvPr>
        </p:nvSpPr>
        <p:spPr>
          <a:xfrm>
            <a:off x="11431905" y="5187950"/>
            <a:ext cx="4983480" cy="6623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>
                <a:sym typeface="+mn-ea"/>
              </a:rPr>
              <a:t>Diversity</a:t>
            </a:r>
            <a:r>
              <a:rPr lang="en-US" altLang="zh-CN" b="1"/>
              <a:t> Guidance</a:t>
            </a:r>
            <a:r>
              <a:rPr lang="en-US" altLang="zh-CN"/>
              <a:t> : </a:t>
            </a:r>
            <a:r>
              <a:rPr lang="zh-CN" altLang="en-US">
                <a:sym typeface="+mn-ea"/>
              </a:rPr>
              <a:t>Measuring the </a:t>
            </a:r>
            <a:r>
              <a:rPr lang="en-US" altLang="zh-CN">
                <a:sym typeface="+mn-ea"/>
              </a:rPr>
              <a:t>diversity </a:t>
            </a:r>
            <a:r>
              <a:rPr lang="zh-CN" altLang="en-US">
                <a:sym typeface="+mn-ea"/>
              </a:rPr>
              <a:t>of </a:t>
            </a:r>
            <a:r>
              <a:rPr lang="en-US" altLang="zh-CN">
                <a:sym typeface="+mn-ea"/>
              </a:rPr>
              <a:t>generate point cloud S</a:t>
            </a:r>
            <a:endParaRPr lang="en-US" altLang="zh-CN">
              <a:sym typeface="+mn-ea"/>
            </a:endParaRPr>
          </a:p>
        </p:txBody>
      </p:sp>
      <p:grpSp>
        <p:nvGrpSpPr>
          <p:cNvPr id="282" name="组合 281"/>
          <p:cNvGrpSpPr/>
          <p:nvPr/>
        </p:nvGrpSpPr>
        <p:grpSpPr>
          <a:xfrm>
            <a:off x="13916660" y="5905291"/>
            <a:ext cx="2372103" cy="975298"/>
            <a:chOff x="2806" y="-6735"/>
            <a:chExt cx="6271" cy="2677"/>
          </a:xfrm>
        </p:grpSpPr>
        <p:sp>
          <p:nvSpPr>
            <p:cNvPr id="283" name="椭圆 282"/>
            <p:cNvSpPr/>
            <p:nvPr/>
          </p:nvSpPr>
          <p:spPr>
            <a:xfrm>
              <a:off x="2806" y="-6735"/>
              <a:ext cx="6271" cy="2677"/>
            </a:xfrm>
            <a:prstGeom prst="ellipse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pic>
          <p:nvPicPr>
            <p:cNvPr id="284" name="图片 283" descr="交通标志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400" y="-6233"/>
              <a:ext cx="1154" cy="1154"/>
            </a:xfrm>
            <a:prstGeom prst="rect">
              <a:avLst/>
            </a:prstGeom>
          </p:spPr>
        </p:pic>
        <p:pic>
          <p:nvPicPr>
            <p:cNvPr id="285" name="图片 284" descr="步行"/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965" y="-5830"/>
              <a:ext cx="853" cy="853"/>
            </a:xfrm>
            <a:prstGeom prst="rect">
              <a:avLst/>
            </a:prstGeom>
          </p:spPr>
        </p:pic>
        <p:pic>
          <p:nvPicPr>
            <p:cNvPr id="286" name="图片 285" descr="_汽车票"/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6415" y="-6449"/>
              <a:ext cx="918" cy="918"/>
            </a:xfrm>
            <a:prstGeom prst="rect">
              <a:avLst/>
            </a:prstGeom>
          </p:spPr>
        </p:pic>
        <p:pic>
          <p:nvPicPr>
            <p:cNvPr id="287" name="图片 286" descr="步行"/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578" y="-5364"/>
              <a:ext cx="725" cy="725"/>
            </a:xfrm>
            <a:prstGeom prst="rect">
              <a:avLst/>
            </a:prstGeom>
          </p:spPr>
        </p:pic>
        <p:pic>
          <p:nvPicPr>
            <p:cNvPr id="288" name="图片 287" descr="_汽车票"/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7333" y="-6158"/>
              <a:ext cx="918" cy="918"/>
            </a:xfrm>
            <a:prstGeom prst="rect">
              <a:avLst/>
            </a:prstGeom>
          </p:spPr>
        </p:pic>
        <p:pic>
          <p:nvPicPr>
            <p:cNvPr id="289" name="图片 288" descr="_汽车票"/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6415" y="-5531"/>
              <a:ext cx="918" cy="918"/>
            </a:xfrm>
            <a:prstGeom prst="rect">
              <a:avLst/>
            </a:prstGeom>
          </p:spPr>
        </p:pic>
        <p:pic>
          <p:nvPicPr>
            <p:cNvPr id="290" name="图片 289" descr="交通标志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063" y="-5577"/>
              <a:ext cx="1154" cy="1154"/>
            </a:xfrm>
            <a:prstGeom prst="rect">
              <a:avLst/>
            </a:prstGeom>
          </p:spPr>
        </p:pic>
        <p:pic>
          <p:nvPicPr>
            <p:cNvPr id="291" name="图片 290" descr="自行车-母婴"/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4978" y="-6688"/>
              <a:ext cx="1105" cy="1110"/>
            </a:xfrm>
            <a:prstGeom prst="rect">
              <a:avLst/>
            </a:prstGeom>
          </p:spPr>
        </p:pic>
      </p:grpSp>
      <p:sp>
        <p:nvSpPr>
          <p:cNvPr id="293" name="文本框 292"/>
          <p:cNvSpPr txBox="1"/>
          <p:nvPr/>
        </p:nvSpPr>
        <p:spPr>
          <a:xfrm>
            <a:off x="9664700" y="6370955"/>
            <a:ext cx="16605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/>
              <a:t>Transformed</a:t>
            </a:r>
            <a:endParaRPr lang="en-US" altLang="zh-CN" b="1"/>
          </a:p>
          <a:p>
            <a:pPr algn="ctr"/>
            <a:r>
              <a:rPr lang="en-US" altLang="zh-CN" b="1"/>
              <a:t>point cloud</a:t>
            </a:r>
            <a:endParaRPr lang="en-US" altLang="zh-CN" b="1"/>
          </a:p>
        </p:txBody>
      </p:sp>
      <p:cxnSp>
        <p:nvCxnSpPr>
          <p:cNvPr id="294" name="直接箭头连接符 293"/>
          <p:cNvCxnSpPr/>
          <p:nvPr/>
        </p:nvCxnSpPr>
        <p:spPr>
          <a:xfrm>
            <a:off x="10920730" y="5871845"/>
            <a:ext cx="45783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95" name="菱形 294"/>
          <p:cNvSpPr/>
          <p:nvPr/>
        </p:nvSpPr>
        <p:spPr>
          <a:xfrm>
            <a:off x="16694785" y="5166995"/>
            <a:ext cx="1569085" cy="759460"/>
          </a:xfrm>
          <a:prstGeom prst="diamond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000">
              <a:solidFill>
                <a:schemeClr val="tx1"/>
              </a:solidFill>
            </a:endParaRPr>
          </a:p>
        </p:txBody>
      </p:sp>
      <p:sp>
        <p:nvSpPr>
          <p:cNvPr id="296" name="流程图: 过程 295"/>
          <p:cNvSpPr/>
          <p:nvPr>
            <p:custDataLst>
              <p:tags r:id="rId14"/>
            </p:custDataLst>
          </p:nvPr>
        </p:nvSpPr>
        <p:spPr>
          <a:xfrm>
            <a:off x="16694785" y="6480175"/>
            <a:ext cx="1524635" cy="580390"/>
          </a:xfrm>
          <a:prstGeom prst="flowChartProcess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Discarded</a:t>
            </a:r>
            <a:endParaRPr lang="en-US" altLang="zh-CN">
              <a:solidFill>
                <a:schemeClr val="tx1"/>
              </a:solidFill>
            </a:endParaRPr>
          </a:p>
        </p:txBody>
      </p:sp>
      <p:cxnSp>
        <p:nvCxnSpPr>
          <p:cNvPr id="297" name="直接箭头连接符 296"/>
          <p:cNvCxnSpPr>
            <a:stCxn id="295" idx="2"/>
            <a:endCxn id="296" idx="0"/>
          </p:cNvCxnSpPr>
          <p:nvPr/>
        </p:nvCxnSpPr>
        <p:spPr>
          <a:xfrm flipH="1">
            <a:off x="17457420" y="5926455"/>
            <a:ext cx="22225" cy="55372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98" name="文本框 297"/>
          <p:cNvSpPr txBox="1"/>
          <p:nvPr/>
        </p:nvSpPr>
        <p:spPr>
          <a:xfrm>
            <a:off x="17485360" y="6040120"/>
            <a:ext cx="42037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600"/>
              <a:t>N</a:t>
            </a:r>
            <a:endParaRPr lang="en-US" altLang="zh-CN" sz="1600"/>
          </a:p>
        </p:txBody>
      </p:sp>
      <p:cxnSp>
        <p:nvCxnSpPr>
          <p:cNvPr id="301" name="直接箭头连接符 300"/>
          <p:cNvCxnSpPr/>
          <p:nvPr/>
        </p:nvCxnSpPr>
        <p:spPr>
          <a:xfrm>
            <a:off x="16407765" y="5541645"/>
            <a:ext cx="28702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02" name="文本框 301"/>
          <p:cNvSpPr txBox="1"/>
          <p:nvPr/>
        </p:nvSpPr>
        <p:spPr>
          <a:xfrm>
            <a:off x="9542780" y="7750175"/>
            <a:ext cx="3876675" cy="5410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600"/>
              <a:t>Add seeds back to the queue</a:t>
            </a:r>
            <a:endParaRPr lang="en-US" altLang="zh-CN" sz="1600"/>
          </a:p>
        </p:txBody>
      </p:sp>
      <p:sp>
        <p:nvSpPr>
          <p:cNvPr id="303" name="文本框 302"/>
          <p:cNvSpPr txBox="1"/>
          <p:nvPr/>
        </p:nvSpPr>
        <p:spPr>
          <a:xfrm>
            <a:off x="18904585" y="1978025"/>
            <a:ext cx="17170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/>
              <a:t>Test dataset</a:t>
            </a:r>
            <a:endParaRPr lang="en-US" altLang="zh-CN" b="1"/>
          </a:p>
        </p:txBody>
      </p:sp>
      <p:grpSp>
        <p:nvGrpSpPr>
          <p:cNvPr id="304" name="组合 303"/>
          <p:cNvGrpSpPr/>
          <p:nvPr/>
        </p:nvGrpSpPr>
        <p:grpSpPr>
          <a:xfrm>
            <a:off x="19321145" y="1059180"/>
            <a:ext cx="902335" cy="862965"/>
            <a:chOff x="2244" y="177"/>
            <a:chExt cx="960" cy="960"/>
          </a:xfrm>
        </p:grpSpPr>
        <p:pic>
          <p:nvPicPr>
            <p:cNvPr id="305" name="图片 304" descr="24gl-fileEmpty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2244" y="177"/>
              <a:ext cx="960" cy="960"/>
            </a:xfrm>
            <a:prstGeom prst="rect">
              <a:avLst/>
            </a:prstGeom>
          </p:spPr>
        </p:pic>
        <p:pic>
          <p:nvPicPr>
            <p:cNvPr id="306" name="图片 305" descr="点云数据"/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2412" y="506"/>
              <a:ext cx="671" cy="483"/>
            </a:xfrm>
            <a:prstGeom prst="rect">
              <a:avLst/>
            </a:prstGeom>
          </p:spPr>
        </p:pic>
      </p:grpSp>
      <p:cxnSp>
        <p:nvCxnSpPr>
          <p:cNvPr id="307" name="直接箭头连接符 306"/>
          <p:cNvCxnSpPr/>
          <p:nvPr/>
        </p:nvCxnSpPr>
        <p:spPr>
          <a:xfrm>
            <a:off x="18685510" y="1458595"/>
            <a:ext cx="61468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09" name="图片 308" descr="激光雷达"/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9306540" y="3295650"/>
            <a:ext cx="866140" cy="866140"/>
          </a:xfrm>
          <a:prstGeom prst="rect">
            <a:avLst/>
          </a:prstGeom>
        </p:spPr>
      </p:pic>
      <p:sp>
        <p:nvSpPr>
          <p:cNvPr id="310" name="文本框 309"/>
          <p:cNvSpPr txBox="1"/>
          <p:nvPr/>
        </p:nvSpPr>
        <p:spPr>
          <a:xfrm>
            <a:off x="18685510" y="4161790"/>
            <a:ext cx="2265680" cy="5810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 b="1">
                <a:sym typeface="+mn-ea"/>
              </a:rPr>
              <a:t>LiDAR-based </a:t>
            </a:r>
            <a:endParaRPr lang="en-US" altLang="zh-CN" b="1">
              <a:sym typeface="+mn-ea"/>
            </a:endParaRPr>
          </a:p>
          <a:p>
            <a:pPr algn="ctr"/>
            <a:r>
              <a:rPr lang="en-US" altLang="zh-CN" b="1">
                <a:sym typeface="+mn-ea"/>
              </a:rPr>
              <a:t>perception system</a:t>
            </a:r>
            <a:endParaRPr lang="en-US" altLang="zh-CN" b="1">
              <a:sym typeface="+mn-ea"/>
            </a:endParaRPr>
          </a:p>
        </p:txBody>
      </p:sp>
      <p:pic>
        <p:nvPicPr>
          <p:cNvPr id="312" name="图片 311" descr="测试报告"/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9367500" y="5722620"/>
            <a:ext cx="828040" cy="828040"/>
          </a:xfrm>
          <a:prstGeom prst="rect">
            <a:avLst/>
          </a:prstGeom>
        </p:spPr>
      </p:pic>
      <p:sp>
        <p:nvSpPr>
          <p:cNvPr id="313" name="文本框 312"/>
          <p:cNvSpPr txBox="1"/>
          <p:nvPr/>
        </p:nvSpPr>
        <p:spPr>
          <a:xfrm>
            <a:off x="18740120" y="6622415"/>
            <a:ext cx="2155825" cy="6927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 b="1">
                <a:sym typeface="+mn-ea"/>
              </a:rPr>
              <a:t>Test  Report</a:t>
            </a:r>
            <a:endParaRPr lang="en-US" altLang="zh-CN" b="1">
              <a:sym typeface="+mn-ea"/>
            </a:endParaRPr>
          </a:p>
        </p:txBody>
      </p:sp>
      <p:grpSp>
        <p:nvGrpSpPr>
          <p:cNvPr id="315" name="组合 314"/>
          <p:cNvGrpSpPr/>
          <p:nvPr/>
        </p:nvGrpSpPr>
        <p:grpSpPr>
          <a:xfrm>
            <a:off x="525145" y="895350"/>
            <a:ext cx="935990" cy="975360"/>
            <a:chOff x="873" y="721"/>
            <a:chExt cx="1360" cy="1360"/>
          </a:xfrm>
        </p:grpSpPr>
        <p:pic>
          <p:nvPicPr>
            <p:cNvPr id="316" name="图片 315" descr="点云数据"/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1208" y="1220"/>
              <a:ext cx="692" cy="488"/>
            </a:xfrm>
            <a:prstGeom prst="rect">
              <a:avLst/>
            </a:prstGeom>
          </p:spPr>
        </p:pic>
        <p:pic>
          <p:nvPicPr>
            <p:cNvPr id="317" name="图片 316" descr="数据集"/>
            <p:cNvPicPr>
              <a:picLocks noChangeAspect="1"/>
            </p:cNvPicPr>
            <p:nvPr/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873" y="721"/>
              <a:ext cx="1360" cy="1360"/>
            </a:xfrm>
            <a:prstGeom prst="rect">
              <a:avLst/>
            </a:prstGeom>
          </p:spPr>
        </p:pic>
      </p:grpSp>
      <p:grpSp>
        <p:nvGrpSpPr>
          <p:cNvPr id="318" name="组合 317"/>
          <p:cNvGrpSpPr/>
          <p:nvPr/>
        </p:nvGrpSpPr>
        <p:grpSpPr>
          <a:xfrm>
            <a:off x="593090" y="3181350"/>
            <a:ext cx="838835" cy="862330"/>
            <a:chOff x="873" y="3352"/>
            <a:chExt cx="1260" cy="1234"/>
          </a:xfrm>
        </p:grpSpPr>
        <p:pic>
          <p:nvPicPr>
            <p:cNvPr id="319" name="图片 318" descr="24gl-fileEmpty"/>
            <p:cNvPicPr>
              <a:picLocks noChangeAspect="1"/>
            </p:cNvPicPr>
            <p:nvPr>
              <p:custDataLst>
                <p:tags r:id="rId26"/>
              </p:custDataLst>
            </p:nvPr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873" y="3352"/>
              <a:ext cx="1261" cy="1235"/>
            </a:xfrm>
            <a:prstGeom prst="rect">
              <a:avLst/>
            </a:prstGeom>
          </p:spPr>
        </p:pic>
        <p:pic>
          <p:nvPicPr>
            <p:cNvPr id="320" name="图片 319" descr="点云数据"/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1168" y="3783"/>
              <a:ext cx="692" cy="488"/>
            </a:xfrm>
            <a:prstGeom prst="rect">
              <a:avLst/>
            </a:prstGeom>
          </p:spPr>
        </p:pic>
      </p:grpSp>
      <p:sp>
        <p:nvSpPr>
          <p:cNvPr id="321" name="文本框 320"/>
          <p:cNvSpPr txBox="1"/>
          <p:nvPr/>
        </p:nvSpPr>
        <p:spPr>
          <a:xfrm>
            <a:off x="2440940" y="1012190"/>
            <a:ext cx="64325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800" b="1">
                <a:sym typeface="+mn-ea"/>
              </a:rPr>
              <a:t>Semantic Entity Insertion Operator</a:t>
            </a:r>
            <a:endParaRPr lang="en-US" altLang="zh-CN" sz="2800" b="1">
              <a:sym typeface="+mn-ea"/>
            </a:endParaRPr>
          </a:p>
        </p:txBody>
      </p:sp>
      <p:sp>
        <p:nvSpPr>
          <p:cNvPr id="322" name="矩形 321"/>
          <p:cNvSpPr/>
          <p:nvPr/>
        </p:nvSpPr>
        <p:spPr>
          <a:xfrm>
            <a:off x="2096135" y="895985"/>
            <a:ext cx="7072630" cy="6550660"/>
          </a:xfrm>
          <a:prstGeom prst="rect">
            <a:avLst/>
          </a:prstGeom>
          <a:noFill/>
          <a:ln w="28575" cmpd="dbl">
            <a:solidFill>
              <a:schemeClr val="tx1"/>
            </a:solidFill>
            <a:prstDash val="lgDash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4" name="文本框 323"/>
          <p:cNvSpPr txBox="1"/>
          <p:nvPr/>
        </p:nvSpPr>
        <p:spPr>
          <a:xfrm>
            <a:off x="2263140" y="3946525"/>
            <a:ext cx="4400550" cy="4946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400" b="1">
                <a:sym typeface="+mn-ea"/>
              </a:rPr>
              <a:t>Entity </a:t>
            </a:r>
            <a:r>
              <a:rPr lang="en-US" altLang="zh-CN" sz="2400" b="1">
                <a:sym typeface="+mn-ea"/>
              </a:rPr>
              <a:t>Database</a:t>
            </a:r>
            <a:endParaRPr lang="en-US" altLang="zh-CN" sz="2400" b="1">
              <a:sym typeface="+mn-ea"/>
            </a:endParaRPr>
          </a:p>
        </p:txBody>
      </p:sp>
      <p:cxnSp>
        <p:nvCxnSpPr>
          <p:cNvPr id="2" name="直接箭头连接符 1"/>
          <p:cNvCxnSpPr>
            <a:stCxn id="228" idx="3"/>
          </p:cNvCxnSpPr>
          <p:nvPr/>
        </p:nvCxnSpPr>
        <p:spPr>
          <a:xfrm>
            <a:off x="6659245" y="5162550"/>
            <a:ext cx="3600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9542780" y="1035685"/>
            <a:ext cx="9065260" cy="4794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buClrTx/>
              <a:buSzTx/>
              <a:buFontTx/>
            </a:pPr>
            <a:r>
              <a:rPr lang="en-US" altLang="zh-CN" sz="2800" b="1"/>
              <a:t>Semantic-Aware LiDAR Simulation</a:t>
            </a:r>
            <a:endParaRPr lang="en-US" altLang="zh-CN" sz="2800" b="1"/>
          </a:p>
        </p:txBody>
      </p:sp>
      <p:sp>
        <p:nvSpPr>
          <p:cNvPr id="7" name="文本框 6"/>
          <p:cNvSpPr txBox="1"/>
          <p:nvPr/>
        </p:nvSpPr>
        <p:spPr>
          <a:xfrm>
            <a:off x="9664065" y="4498340"/>
            <a:ext cx="8944610" cy="6064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 sz="2800" b="1">
                <a:sym typeface="+mn-ea"/>
              </a:rPr>
              <a:t>Semantic Diversity</a:t>
            </a:r>
            <a:r>
              <a:rPr lang="en-US" altLang="zh-CN" sz="2800" b="1">
                <a:sym typeface="+mn-ea"/>
              </a:rPr>
              <a:t>-</a:t>
            </a:r>
            <a:r>
              <a:rPr lang="en-US" altLang="zh-CN" sz="2800" b="1">
                <a:sym typeface="+mn-ea"/>
              </a:rPr>
              <a:t>Guided Testing</a:t>
            </a:r>
            <a:endParaRPr lang="en-US" altLang="zh-CN" sz="2800" b="1">
              <a:sym typeface="+mn-ea"/>
            </a:endParaRPr>
          </a:p>
        </p:txBody>
      </p:sp>
      <p:cxnSp>
        <p:nvCxnSpPr>
          <p:cNvPr id="9" name="直接箭头连接符 8"/>
          <p:cNvCxnSpPr/>
          <p:nvPr/>
        </p:nvCxnSpPr>
        <p:spPr>
          <a:xfrm>
            <a:off x="6663690" y="2715260"/>
            <a:ext cx="3600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4730115" y="5881370"/>
            <a:ext cx="1764030" cy="4318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>
                <a:sym typeface="+mn-ea"/>
              </a:rPr>
              <a:t>Others</a:t>
            </a:r>
            <a:endParaRPr lang="en-US" altLang="zh-CN">
              <a:sym typeface="+mn-ea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2596515" y="2984500"/>
            <a:ext cx="3877310" cy="494030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576830" y="3035300"/>
            <a:ext cx="3896360" cy="4311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>
                <a:sym typeface="+mn-ea"/>
              </a:rPr>
              <a:t>Semantic Constraints</a:t>
            </a:r>
            <a:endParaRPr lang="en-US" altLang="zh-CN"/>
          </a:p>
        </p:txBody>
      </p:sp>
      <p:sp>
        <p:nvSpPr>
          <p:cNvPr id="22" name="圆角矩形 21"/>
          <p:cNvSpPr/>
          <p:nvPr/>
        </p:nvSpPr>
        <p:spPr>
          <a:xfrm>
            <a:off x="2597150" y="2226310"/>
            <a:ext cx="3877310" cy="494030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2597150" y="2277110"/>
            <a:ext cx="3896995" cy="4940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>
                <a:sym typeface="+mn-ea"/>
              </a:rPr>
              <a:t>Spatial Constraints</a:t>
            </a:r>
            <a:endParaRPr lang="en-US" altLang="zh-CN"/>
          </a:p>
        </p:txBody>
      </p:sp>
      <p:sp>
        <p:nvSpPr>
          <p:cNvPr id="24" name="文本框 23"/>
          <p:cNvSpPr txBox="1"/>
          <p:nvPr/>
        </p:nvSpPr>
        <p:spPr>
          <a:xfrm>
            <a:off x="15887700" y="2956560"/>
            <a:ext cx="2720975" cy="4235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ctr">
              <a:lnSpc>
                <a:spcPct val="120000"/>
              </a:lnSpc>
              <a:buClrTx/>
              <a:buSzTx/>
              <a:buFontTx/>
            </a:pPr>
            <a:r>
              <a:rPr lang="zh-CN" altLang="en-US">
                <a:sym typeface="+mn-ea"/>
              </a:rPr>
              <a:t>Scene Integration</a:t>
            </a:r>
            <a:endParaRPr lang="zh-CN" altLang="en-US">
              <a:sym typeface="+mn-ea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10029190" y="5454015"/>
            <a:ext cx="866140" cy="866140"/>
            <a:chOff x="873" y="3352"/>
            <a:chExt cx="1260" cy="1234"/>
          </a:xfrm>
          <a:solidFill>
            <a:schemeClr val="accent1">
              <a:lumMod val="75000"/>
            </a:schemeClr>
          </a:solidFill>
        </p:grpSpPr>
        <p:pic>
          <p:nvPicPr>
            <p:cNvPr id="27" name="图片 26" descr="24gl-fileEmpty"/>
            <p:cNvPicPr>
              <a:picLocks noChangeAspect="1"/>
            </p:cNvPicPr>
            <p:nvPr>
              <p:custDataLst>
                <p:tags r:id="rId27"/>
              </p:custDataLst>
            </p:nvPr>
          </p:nvPicPr>
          <p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873" y="3352"/>
              <a:ext cx="1261" cy="1235"/>
            </a:xfrm>
            <a:prstGeom prst="rect">
              <a:avLst/>
            </a:prstGeom>
          </p:spPr>
        </p:pic>
        <p:pic>
          <p:nvPicPr>
            <p:cNvPr id="28" name="图片 27" descr="点云数据"/>
            <p:cNvPicPr>
              <a:picLocks noChangeAspect="1"/>
            </p:cNvPicPr>
            <p:nvPr/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1168" y="3783"/>
              <a:ext cx="692" cy="488"/>
            </a:xfrm>
            <a:prstGeom prst="rect">
              <a:avLst/>
            </a:prstGeom>
          </p:spPr>
        </p:pic>
      </p:grpSp>
      <p:sp>
        <p:nvSpPr>
          <p:cNvPr id="33" name="右箭头 32"/>
          <p:cNvSpPr/>
          <p:nvPr/>
        </p:nvSpPr>
        <p:spPr>
          <a:xfrm>
            <a:off x="9252585" y="2187575"/>
            <a:ext cx="360000" cy="43200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右箭头 33"/>
          <p:cNvSpPr/>
          <p:nvPr/>
        </p:nvSpPr>
        <p:spPr>
          <a:xfrm rot="5400000">
            <a:off x="10311688" y="3983868"/>
            <a:ext cx="360000" cy="43200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7" name="直接箭头连接符 36"/>
          <p:cNvCxnSpPr/>
          <p:nvPr/>
        </p:nvCxnSpPr>
        <p:spPr>
          <a:xfrm>
            <a:off x="19763105" y="2360930"/>
            <a:ext cx="0" cy="7560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/>
          <p:cNvCxnSpPr/>
          <p:nvPr/>
        </p:nvCxnSpPr>
        <p:spPr>
          <a:xfrm>
            <a:off x="19763105" y="4817110"/>
            <a:ext cx="0" cy="7560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/>
          <p:cNvCxnSpPr/>
          <p:nvPr/>
        </p:nvCxnSpPr>
        <p:spPr>
          <a:xfrm>
            <a:off x="15545435" y="2780030"/>
            <a:ext cx="324000" cy="0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1" name="直接箭头连接符 40"/>
          <p:cNvCxnSpPr/>
          <p:nvPr/>
        </p:nvCxnSpPr>
        <p:spPr>
          <a:xfrm>
            <a:off x="12552680" y="2780030"/>
            <a:ext cx="324000" cy="0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3" name="文本框 42"/>
          <p:cNvSpPr txBox="1"/>
          <p:nvPr/>
        </p:nvSpPr>
        <p:spPr>
          <a:xfrm>
            <a:off x="16841470" y="5352415"/>
            <a:ext cx="140017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ym typeface="+mn-ea"/>
              </a:rPr>
              <a:t>Increased?</a:t>
            </a:r>
            <a:endParaRPr lang="en-US" altLang="zh-CN">
              <a:sym typeface="+mn-ea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3570605" y="6747510"/>
            <a:ext cx="4064000" cy="4603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buClrTx/>
              <a:buSzTx/>
              <a:buFontTx/>
            </a:pPr>
            <a:r>
              <a:rPr lang="en-US" altLang="zh-CN" sz="2400" b="1"/>
              <a:t>Metamorphic Relations</a:t>
            </a:r>
            <a:endParaRPr lang="en-US" altLang="zh-CN" sz="2400" b="1"/>
          </a:p>
        </p:txBody>
      </p:sp>
      <p:sp>
        <p:nvSpPr>
          <p:cNvPr id="46" name="文本框 45"/>
          <p:cNvSpPr txBox="1"/>
          <p:nvPr/>
        </p:nvSpPr>
        <p:spPr>
          <a:xfrm>
            <a:off x="2283460" y="1630680"/>
            <a:ext cx="4375785" cy="4337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400" b="1">
                <a:sym typeface="+mn-ea"/>
              </a:rPr>
              <a:t>Semantic Pose Generation</a:t>
            </a:r>
            <a:endParaRPr lang="en-US" altLang="zh-CN" sz="2000" b="1">
              <a:sym typeface="+mn-ea"/>
            </a:endParaRPr>
          </a:p>
        </p:txBody>
      </p:sp>
      <p:cxnSp>
        <p:nvCxnSpPr>
          <p:cNvPr id="48" name="直接箭头连接符 47"/>
          <p:cNvCxnSpPr>
            <a:endCxn id="3" idx="2"/>
          </p:cNvCxnSpPr>
          <p:nvPr/>
        </p:nvCxnSpPr>
        <p:spPr>
          <a:xfrm flipV="1">
            <a:off x="8003540" y="6446520"/>
            <a:ext cx="1905" cy="24511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8232755" y="5161915"/>
            <a:ext cx="42037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600"/>
              <a:t>Y</a:t>
            </a:r>
            <a:endParaRPr lang="en-US" altLang="zh-CN" sz="1600"/>
          </a:p>
        </p:txBody>
      </p:sp>
      <p:sp>
        <p:nvSpPr>
          <p:cNvPr id="11" name="文本框 10"/>
          <p:cNvSpPr txBox="1"/>
          <p:nvPr/>
        </p:nvSpPr>
        <p:spPr>
          <a:xfrm>
            <a:off x="7064375" y="3364865"/>
            <a:ext cx="1950022" cy="5219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>
                <a:sym typeface="+mn-ea"/>
              </a:rPr>
              <a:t>Instance-level Operator</a:t>
            </a:r>
            <a:r>
              <a:rPr lang="en-US" altLang="zh-CN" b="1">
                <a:sym typeface="+mn-ea"/>
              </a:rPr>
              <a:t>s</a:t>
            </a:r>
            <a:endParaRPr lang="en-US" altLang="zh-CN" b="1"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913245" y="5606415"/>
            <a:ext cx="2170430" cy="4445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 b="1">
                <a:sym typeface="+mn-ea"/>
              </a:rPr>
              <a:t>Interaction-level Operator</a:t>
            </a:r>
            <a:r>
              <a:rPr lang="en-US" altLang="zh-CN" b="1">
                <a:sym typeface="+mn-ea"/>
              </a:rPr>
              <a:t>s</a:t>
            </a:r>
            <a:endParaRPr lang="en-US" altLang="zh-CN" b="1"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055485" y="1679575"/>
            <a:ext cx="1976120" cy="4203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 sz="2400" b="1">
                <a:sym typeface="+mn-ea"/>
              </a:rPr>
              <a:t>Operator</a:t>
            </a:r>
            <a:endParaRPr lang="en-US" altLang="zh-CN" sz="2400" b="1">
              <a:sym typeface="+mn-ea"/>
            </a:endParaRPr>
          </a:p>
        </p:txBody>
      </p:sp>
      <p:pic>
        <p:nvPicPr>
          <p:cNvPr id="31" name="图片 30" descr="骑车"/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7213600" y="4611370"/>
            <a:ext cx="709295" cy="709295"/>
          </a:xfrm>
          <a:prstGeom prst="rect">
            <a:avLst/>
          </a:prstGeom>
        </p:spPr>
      </p:pic>
      <p:pic>
        <p:nvPicPr>
          <p:cNvPr id="32" name="图片 31" descr="gou"/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8017510" y="4561840"/>
            <a:ext cx="796925" cy="796925"/>
          </a:xfrm>
          <a:prstGeom prst="rect">
            <a:avLst/>
          </a:prstGeom>
        </p:spPr>
      </p:pic>
      <p:sp>
        <p:nvSpPr>
          <p:cNvPr id="35" name="文本框 34"/>
          <p:cNvSpPr txBox="1"/>
          <p:nvPr/>
        </p:nvSpPr>
        <p:spPr>
          <a:xfrm>
            <a:off x="7555865" y="5201285"/>
            <a:ext cx="9410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。。。</a:t>
            </a:r>
            <a:endParaRPr lang="zh-CN" altLang="en-US"/>
          </a:p>
        </p:txBody>
      </p:sp>
      <p:pic>
        <p:nvPicPr>
          <p:cNvPr id="36" name="图片 35" descr="行人 (1)"/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6927850" y="2233295"/>
            <a:ext cx="852805" cy="852805"/>
          </a:xfrm>
          <a:prstGeom prst="rect">
            <a:avLst/>
          </a:prstGeom>
        </p:spPr>
      </p:pic>
      <p:pic>
        <p:nvPicPr>
          <p:cNvPr id="42" name="图片 41" descr="狗"/>
          <p:cNvPicPr>
            <a:picLocks noChangeAspect="1"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8235950" y="2335530"/>
            <a:ext cx="708660" cy="708660"/>
          </a:xfrm>
          <a:prstGeom prst="rect">
            <a:avLst/>
          </a:prstGeom>
        </p:spPr>
      </p:pic>
      <p:pic>
        <p:nvPicPr>
          <p:cNvPr id="45" name="图片 44" descr="自行车 (1)"/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7486650" y="2272030"/>
            <a:ext cx="941070" cy="941070"/>
          </a:xfrm>
          <a:prstGeom prst="rect">
            <a:avLst/>
          </a:prstGeom>
        </p:spPr>
      </p:pic>
      <p:sp>
        <p:nvSpPr>
          <p:cNvPr id="49" name="文本框 48"/>
          <p:cNvSpPr txBox="1"/>
          <p:nvPr/>
        </p:nvSpPr>
        <p:spPr>
          <a:xfrm>
            <a:off x="7590790" y="2932430"/>
            <a:ext cx="9410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。。。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/>
          <p:cNvSpPr/>
          <p:nvPr/>
        </p:nvSpPr>
        <p:spPr>
          <a:xfrm>
            <a:off x="2288540" y="1481455"/>
            <a:ext cx="4462145" cy="12312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1600">
              <a:sym typeface="+mn-ea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2283460" y="9179560"/>
            <a:ext cx="6590665" cy="59880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1600"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055485" y="1355725"/>
            <a:ext cx="1906905" cy="5962650"/>
          </a:xfrm>
          <a:prstGeom prst="rect">
            <a:avLst/>
          </a:prstGeom>
          <a:solidFill>
            <a:schemeClr val="bg2">
              <a:lumMod val="95000"/>
            </a:schemeClr>
          </a:solidFill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8" name="矩形 227"/>
          <p:cNvSpPr/>
          <p:nvPr/>
        </p:nvSpPr>
        <p:spPr>
          <a:xfrm>
            <a:off x="2263140" y="4887595"/>
            <a:ext cx="4451350" cy="243078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1600">
              <a:sym typeface="+mn-ea"/>
            </a:endParaRPr>
          </a:p>
        </p:txBody>
      </p:sp>
      <p:sp>
        <p:nvSpPr>
          <p:cNvPr id="230" name="文本框 229"/>
          <p:cNvSpPr txBox="1"/>
          <p:nvPr/>
        </p:nvSpPr>
        <p:spPr>
          <a:xfrm>
            <a:off x="134303" y="4016375"/>
            <a:ext cx="1764665" cy="3352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/>
              <a:t>Initial Seeds</a:t>
            </a:r>
            <a:endParaRPr lang="en-US" altLang="zh-CN" b="1"/>
          </a:p>
        </p:txBody>
      </p:sp>
      <p:sp>
        <p:nvSpPr>
          <p:cNvPr id="231" name="文本框 230"/>
          <p:cNvSpPr txBox="1"/>
          <p:nvPr/>
        </p:nvSpPr>
        <p:spPr>
          <a:xfrm>
            <a:off x="134938" y="1870710"/>
            <a:ext cx="17659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/>
              <a:t>Test data</a:t>
            </a:r>
            <a:endParaRPr lang="en-US" altLang="zh-CN" b="1"/>
          </a:p>
        </p:txBody>
      </p:sp>
      <p:sp>
        <p:nvSpPr>
          <p:cNvPr id="232" name="文本框 231"/>
          <p:cNvSpPr txBox="1"/>
          <p:nvPr/>
        </p:nvSpPr>
        <p:spPr>
          <a:xfrm>
            <a:off x="134620" y="6235065"/>
            <a:ext cx="17665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/>
              <a:t>Seed Queue</a:t>
            </a:r>
            <a:endParaRPr lang="en-US" altLang="zh-CN" b="1"/>
          </a:p>
        </p:txBody>
      </p:sp>
      <p:sp>
        <p:nvSpPr>
          <p:cNvPr id="233" name="右箭头 232"/>
          <p:cNvSpPr/>
          <p:nvPr/>
        </p:nvSpPr>
        <p:spPr>
          <a:xfrm>
            <a:off x="1642110" y="5645785"/>
            <a:ext cx="360000" cy="43200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34" name="肘形连接符 233"/>
          <p:cNvCxnSpPr>
            <a:stCxn id="295" idx="3"/>
            <a:endCxn id="232" idx="2"/>
          </p:cNvCxnSpPr>
          <p:nvPr/>
        </p:nvCxnSpPr>
        <p:spPr>
          <a:xfrm flipH="1">
            <a:off x="1017905" y="5546725"/>
            <a:ext cx="17245965" cy="1056640"/>
          </a:xfrm>
          <a:prstGeom prst="bentConnector4">
            <a:avLst>
              <a:gd name="adj1" fmla="val -3346"/>
              <a:gd name="adj2" fmla="val 200120"/>
            </a:avLst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5" name="直接箭头连接符 234"/>
          <p:cNvCxnSpPr/>
          <p:nvPr/>
        </p:nvCxnSpPr>
        <p:spPr>
          <a:xfrm>
            <a:off x="1003935" y="2294890"/>
            <a:ext cx="0" cy="7560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直接箭头连接符 235"/>
          <p:cNvCxnSpPr/>
          <p:nvPr/>
        </p:nvCxnSpPr>
        <p:spPr>
          <a:xfrm>
            <a:off x="1003935" y="4508500"/>
            <a:ext cx="0" cy="7560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7" name="图片 236" descr="队列-copy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3090" y="5433695"/>
            <a:ext cx="801370" cy="801370"/>
          </a:xfrm>
          <a:prstGeom prst="rect">
            <a:avLst/>
          </a:prstGeom>
        </p:spPr>
      </p:pic>
      <p:sp>
        <p:nvSpPr>
          <p:cNvPr id="238" name="矩形 237"/>
          <p:cNvSpPr/>
          <p:nvPr/>
        </p:nvSpPr>
        <p:spPr>
          <a:xfrm>
            <a:off x="2283460" y="2863850"/>
            <a:ext cx="4451350" cy="19107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mpd="sng">
            <a:solidFill>
              <a:schemeClr val="accent1">
                <a:shade val="50000"/>
              </a:schemeClr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0" name="圆角矩形 239"/>
          <p:cNvSpPr/>
          <p:nvPr/>
        </p:nvSpPr>
        <p:spPr>
          <a:xfrm>
            <a:off x="2616397" y="6776810"/>
            <a:ext cx="1764000" cy="432000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241" name="圆角矩形 240"/>
          <p:cNvSpPr/>
          <p:nvPr/>
        </p:nvSpPr>
        <p:spPr>
          <a:xfrm>
            <a:off x="2597347" y="6151419"/>
            <a:ext cx="1764000" cy="432000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242" name="圆角矩形 241"/>
          <p:cNvSpPr/>
          <p:nvPr/>
        </p:nvSpPr>
        <p:spPr>
          <a:xfrm>
            <a:off x="4730312" y="5513795"/>
            <a:ext cx="1764000" cy="432000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243" name="圆角矩形 242"/>
          <p:cNvSpPr/>
          <p:nvPr/>
        </p:nvSpPr>
        <p:spPr>
          <a:xfrm>
            <a:off x="4730312" y="6151419"/>
            <a:ext cx="1764000" cy="432000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244" name="圆角矩形 243"/>
          <p:cNvSpPr/>
          <p:nvPr/>
        </p:nvSpPr>
        <p:spPr>
          <a:xfrm>
            <a:off x="4730312" y="6794039"/>
            <a:ext cx="1764000" cy="432000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245" name="圆角矩形 244"/>
          <p:cNvSpPr/>
          <p:nvPr/>
        </p:nvSpPr>
        <p:spPr>
          <a:xfrm>
            <a:off x="2606040" y="5514630"/>
            <a:ext cx="1764030" cy="431165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Vehicle</a:t>
            </a: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sp>
        <p:nvSpPr>
          <p:cNvPr id="246" name="矩形 245"/>
          <p:cNvSpPr/>
          <p:nvPr/>
        </p:nvSpPr>
        <p:spPr>
          <a:xfrm>
            <a:off x="2606040" y="5412105"/>
            <a:ext cx="1764030" cy="431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2">
                    <a:lumMod val="95000"/>
                  </a:schemeClr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sp>
        <p:nvSpPr>
          <p:cNvPr id="247" name="文本框 246"/>
          <p:cNvSpPr txBox="1"/>
          <p:nvPr/>
        </p:nvSpPr>
        <p:spPr>
          <a:xfrm>
            <a:off x="2597150" y="6161405"/>
            <a:ext cx="1764030" cy="4318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>
                <a:sym typeface="+mn-ea"/>
              </a:rPr>
              <a:t>Vegetation</a:t>
            </a:r>
            <a:endParaRPr lang="en-US" altLang="zh-CN">
              <a:sym typeface="+mn-ea"/>
            </a:endParaRPr>
          </a:p>
        </p:txBody>
      </p:sp>
      <p:sp>
        <p:nvSpPr>
          <p:cNvPr id="248" name="文本框 247"/>
          <p:cNvSpPr txBox="1"/>
          <p:nvPr/>
        </p:nvSpPr>
        <p:spPr>
          <a:xfrm>
            <a:off x="4730115" y="6161405"/>
            <a:ext cx="1764030" cy="4318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>
                <a:sym typeface="+mn-ea"/>
              </a:rPr>
              <a:t>Animal</a:t>
            </a:r>
            <a:endParaRPr lang="en-US" altLang="zh-CN">
              <a:sym typeface="+mn-ea"/>
            </a:endParaRPr>
          </a:p>
        </p:txBody>
      </p:sp>
      <p:sp>
        <p:nvSpPr>
          <p:cNvPr id="250" name="文本框 249"/>
          <p:cNvSpPr txBox="1"/>
          <p:nvPr/>
        </p:nvSpPr>
        <p:spPr>
          <a:xfrm>
            <a:off x="4730115" y="5529580"/>
            <a:ext cx="1764030" cy="4318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>
                <a:sym typeface="+mn-ea"/>
              </a:rPr>
              <a:t>Person</a:t>
            </a:r>
            <a:endParaRPr lang="en-US" altLang="zh-CN">
              <a:sym typeface="+mn-ea"/>
            </a:endParaRPr>
          </a:p>
        </p:txBody>
      </p:sp>
      <p:sp>
        <p:nvSpPr>
          <p:cNvPr id="251" name="文本框 250"/>
          <p:cNvSpPr txBox="1"/>
          <p:nvPr/>
        </p:nvSpPr>
        <p:spPr>
          <a:xfrm>
            <a:off x="2616200" y="6793865"/>
            <a:ext cx="1764030" cy="4318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zh-CN" altLang="en-US">
                <a:sym typeface="+mn-ea"/>
              </a:rPr>
              <a:t>Infrastructure</a:t>
            </a:r>
            <a:endParaRPr lang="zh-CN" altLang="en-US">
              <a:sym typeface="+mn-ea"/>
            </a:endParaRPr>
          </a:p>
        </p:txBody>
      </p:sp>
      <p:sp>
        <p:nvSpPr>
          <p:cNvPr id="254" name="矩形 253"/>
          <p:cNvSpPr/>
          <p:nvPr/>
        </p:nvSpPr>
        <p:spPr>
          <a:xfrm>
            <a:off x="9664700" y="306070"/>
            <a:ext cx="8988425" cy="3176270"/>
          </a:xfrm>
          <a:prstGeom prst="rect">
            <a:avLst/>
          </a:prstGeom>
          <a:noFill/>
          <a:ln w="28575" cmpd="dbl">
            <a:solidFill>
              <a:schemeClr val="tx1"/>
            </a:solidFill>
            <a:prstDash val="lgDash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61" name="矩形 260"/>
          <p:cNvSpPr/>
          <p:nvPr/>
        </p:nvSpPr>
        <p:spPr>
          <a:xfrm>
            <a:off x="9664700" y="4404360"/>
            <a:ext cx="8989060" cy="3600000"/>
          </a:xfrm>
          <a:prstGeom prst="rect">
            <a:avLst/>
          </a:prstGeom>
          <a:noFill/>
          <a:ln w="28575" cmpd="dbl">
            <a:solidFill>
              <a:schemeClr val="tx1"/>
            </a:solidFill>
            <a:prstDash val="lgDash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62" name="矩形 261"/>
          <p:cNvSpPr/>
          <p:nvPr/>
        </p:nvSpPr>
        <p:spPr>
          <a:xfrm>
            <a:off x="9824085" y="996950"/>
            <a:ext cx="2728595" cy="22987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1600">
              <a:sym typeface="+mn-ea"/>
            </a:endParaRPr>
          </a:p>
        </p:txBody>
      </p:sp>
      <p:sp>
        <p:nvSpPr>
          <p:cNvPr id="263" name="圆角矩形 262"/>
          <p:cNvSpPr/>
          <p:nvPr/>
        </p:nvSpPr>
        <p:spPr>
          <a:xfrm>
            <a:off x="9902190" y="1658620"/>
            <a:ext cx="2520000" cy="540000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t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264" name="矩形 263"/>
          <p:cNvSpPr/>
          <p:nvPr/>
        </p:nvSpPr>
        <p:spPr>
          <a:xfrm>
            <a:off x="12808585" y="996315"/>
            <a:ext cx="2728595" cy="22987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1600">
              <a:sym typeface="+mn-ea"/>
            </a:endParaRPr>
          </a:p>
        </p:txBody>
      </p:sp>
      <p:sp>
        <p:nvSpPr>
          <p:cNvPr id="265" name="圆角矩形 264"/>
          <p:cNvSpPr/>
          <p:nvPr/>
        </p:nvSpPr>
        <p:spPr>
          <a:xfrm>
            <a:off x="9902190" y="2472055"/>
            <a:ext cx="2520000" cy="540000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t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267" name="文本框 266"/>
          <p:cNvSpPr txBox="1"/>
          <p:nvPr/>
        </p:nvSpPr>
        <p:spPr>
          <a:xfrm>
            <a:off x="9902190" y="1751330"/>
            <a:ext cx="2522855" cy="460375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p>
            <a:pPr algn="ctr"/>
            <a:r>
              <a:rPr lang="en-US" altLang="zh-CN">
                <a:sym typeface="+mn-ea"/>
              </a:rPr>
              <a:t>Beam Generation</a:t>
            </a:r>
            <a:endParaRPr lang="en-US" altLang="zh-CN">
              <a:sym typeface="+mn-ea"/>
            </a:endParaRPr>
          </a:p>
        </p:txBody>
      </p:sp>
      <p:sp>
        <p:nvSpPr>
          <p:cNvPr id="268" name="文本框 267"/>
          <p:cNvSpPr txBox="1"/>
          <p:nvPr/>
        </p:nvSpPr>
        <p:spPr>
          <a:xfrm>
            <a:off x="9823450" y="1122045"/>
            <a:ext cx="2729230" cy="2305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>
                <a:sym typeface="+mn-ea"/>
              </a:rPr>
              <a:t>Virtual LiDAR Setup</a:t>
            </a:r>
            <a:endParaRPr lang="en-US" altLang="zh-CN" b="1">
              <a:sym typeface="+mn-ea"/>
            </a:endParaRPr>
          </a:p>
        </p:txBody>
      </p:sp>
      <p:sp>
        <p:nvSpPr>
          <p:cNvPr id="269" name="文本框 268"/>
          <p:cNvSpPr txBox="1"/>
          <p:nvPr/>
        </p:nvSpPr>
        <p:spPr>
          <a:xfrm>
            <a:off x="12808585" y="1097280"/>
            <a:ext cx="2727325" cy="4438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>
                <a:sym typeface="+mn-ea"/>
              </a:rPr>
              <a:t>Beam Propagatio</a:t>
            </a:r>
            <a:r>
              <a:rPr lang="zh-CN" altLang="en-US" b="1">
                <a:sym typeface="+mn-ea"/>
              </a:rPr>
              <a:t>n</a:t>
            </a:r>
            <a:endParaRPr lang="en-US" altLang="zh-CN" b="1">
              <a:sym typeface="+mn-ea"/>
            </a:endParaRPr>
          </a:p>
        </p:txBody>
      </p:sp>
      <p:sp>
        <p:nvSpPr>
          <p:cNvPr id="270" name="圆角矩形 269"/>
          <p:cNvSpPr/>
          <p:nvPr/>
        </p:nvSpPr>
        <p:spPr>
          <a:xfrm>
            <a:off x="12939395" y="1658620"/>
            <a:ext cx="2520000" cy="540000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t" anchorCtr="0" forceAA="0" compatLnSpc="1">
            <a:noAutofit/>
          </a:bodyPr>
          <a:p>
            <a:pPr lvl="0" algn="ctr">
              <a:lnSpc>
                <a:spcPct val="130000"/>
              </a:lnSpc>
              <a:buClrTx/>
              <a:buSzTx/>
              <a:buFontTx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Range Computation</a:t>
            </a: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sp>
        <p:nvSpPr>
          <p:cNvPr id="271" name="圆角矩形 270"/>
          <p:cNvSpPr/>
          <p:nvPr/>
        </p:nvSpPr>
        <p:spPr>
          <a:xfrm>
            <a:off x="12939395" y="2472055"/>
            <a:ext cx="2520000" cy="540000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t" anchorCtr="0" forceAA="0" compatLnSpc="1">
            <a:noAutofit/>
          </a:bodyPr>
          <a:p>
            <a:pPr lvl="0" algn="ctr">
              <a:lnSpc>
                <a:spcPct val="120000"/>
              </a:lnSpc>
              <a:buClrTx/>
              <a:buSzTx/>
              <a:buFontTx/>
            </a:pPr>
            <a:r>
              <a:rPr lang="zh-CN" altLang="en-US">
                <a:sym typeface="+mn-ea"/>
              </a:rPr>
              <a:t>Reflectivity Modeling</a:t>
            </a: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sp>
        <p:nvSpPr>
          <p:cNvPr id="273" name="矩形 272"/>
          <p:cNvSpPr/>
          <p:nvPr/>
        </p:nvSpPr>
        <p:spPr>
          <a:xfrm>
            <a:off x="15803880" y="996950"/>
            <a:ext cx="2728595" cy="22987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1600">
              <a:sym typeface="+mn-ea"/>
            </a:endParaRPr>
          </a:p>
        </p:txBody>
      </p:sp>
      <p:sp>
        <p:nvSpPr>
          <p:cNvPr id="274" name="文本框 273"/>
          <p:cNvSpPr txBox="1"/>
          <p:nvPr/>
        </p:nvSpPr>
        <p:spPr>
          <a:xfrm>
            <a:off x="15805150" y="1104265"/>
            <a:ext cx="2727325" cy="4438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b="1">
                <a:sym typeface="+mn-ea"/>
              </a:rPr>
              <a:t>Point Cloud Generation</a:t>
            </a:r>
            <a:endParaRPr lang="zh-CN" altLang="en-US" b="1">
              <a:sym typeface="+mn-ea"/>
            </a:endParaRPr>
          </a:p>
          <a:p>
            <a:pPr algn="ctr"/>
            <a:endParaRPr lang="zh-CN" altLang="en-US" b="1">
              <a:sym typeface="+mn-ea"/>
            </a:endParaRPr>
          </a:p>
        </p:txBody>
      </p:sp>
      <p:sp>
        <p:nvSpPr>
          <p:cNvPr id="275" name="文本框 274"/>
          <p:cNvSpPr txBox="1"/>
          <p:nvPr/>
        </p:nvSpPr>
        <p:spPr>
          <a:xfrm>
            <a:off x="15963900" y="1658620"/>
            <a:ext cx="2255520" cy="3943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endParaRPr lang="zh-CN" altLang="en-US"/>
          </a:p>
        </p:txBody>
      </p:sp>
      <p:sp>
        <p:nvSpPr>
          <p:cNvPr id="276" name="圆角矩形 275"/>
          <p:cNvSpPr/>
          <p:nvPr/>
        </p:nvSpPr>
        <p:spPr>
          <a:xfrm>
            <a:off x="15935960" y="1658620"/>
            <a:ext cx="2520000" cy="540000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t" anchorCtr="0" forceAA="0" compatLnSpc="1">
            <a:noAutofit/>
          </a:bodyPr>
          <a:p>
            <a:pPr lvl="0" algn="ctr">
              <a:lnSpc>
                <a:spcPct val="130000"/>
              </a:lnSpc>
              <a:buClrTx/>
              <a:buSzTx/>
              <a:buFontTx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Point Computation</a:t>
            </a: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sp>
        <p:nvSpPr>
          <p:cNvPr id="277" name="圆角矩形 276"/>
          <p:cNvSpPr/>
          <p:nvPr/>
        </p:nvSpPr>
        <p:spPr>
          <a:xfrm>
            <a:off x="15935960" y="2472055"/>
            <a:ext cx="2548255" cy="539750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t" anchorCtr="0" forceAA="0" compatLnSpc="1">
            <a:noAutofit/>
          </a:bodyPr>
          <a:p>
            <a:pPr lvl="0" algn="ctr">
              <a:lnSpc>
                <a:spcPct val="120000"/>
              </a:lnSpc>
              <a:buClrTx/>
              <a:buSzTx/>
              <a:buFontTx/>
            </a:pPr>
            <a:endParaRPr lang="en-US" altLang="zh-CN">
              <a:sym typeface="+mn-ea"/>
            </a:endParaRPr>
          </a:p>
        </p:txBody>
      </p:sp>
      <p:sp>
        <p:nvSpPr>
          <p:cNvPr id="279" name="圆角矩形 278"/>
          <p:cNvSpPr/>
          <p:nvPr>
            <p:custDataLst>
              <p:tags r:id="rId3"/>
            </p:custDataLst>
          </p:nvPr>
        </p:nvSpPr>
        <p:spPr>
          <a:xfrm>
            <a:off x="11367135" y="5081270"/>
            <a:ext cx="5048885" cy="2005330"/>
          </a:xfrm>
          <a:prstGeom prst="roundRect">
            <a:avLst>
              <a:gd name="adj" fmla="val 5234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80" name="334E55B0-647D-440b-865C-3EC943EB4CBC-4" descr="/Users/gaoxinyu/Library/Containers/com.kingsoft.wpsoffice.mac/Data/tmp/wpsoffice.cEbuJowpsoffic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12245" y="6153785"/>
            <a:ext cx="2155190" cy="636905"/>
          </a:xfrm>
          <a:prstGeom prst="rect">
            <a:avLst/>
          </a:prstGeom>
        </p:spPr>
      </p:pic>
      <p:sp>
        <p:nvSpPr>
          <p:cNvPr id="281" name="文本框 280"/>
          <p:cNvSpPr txBox="1"/>
          <p:nvPr>
            <p:custDataLst>
              <p:tags r:id="rId5"/>
            </p:custDataLst>
          </p:nvPr>
        </p:nvSpPr>
        <p:spPr>
          <a:xfrm>
            <a:off x="11431905" y="5137150"/>
            <a:ext cx="4983480" cy="6623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>
                <a:sym typeface="+mn-ea"/>
              </a:rPr>
              <a:t>Diversity</a:t>
            </a:r>
            <a:r>
              <a:rPr lang="en-US" altLang="zh-CN" b="1"/>
              <a:t> Guidance</a:t>
            </a:r>
            <a:r>
              <a:rPr lang="en-US" altLang="zh-CN"/>
              <a:t> : </a:t>
            </a:r>
            <a:r>
              <a:rPr lang="zh-CN" altLang="en-US">
                <a:sym typeface="+mn-ea"/>
              </a:rPr>
              <a:t>Measuring the </a:t>
            </a:r>
            <a:r>
              <a:rPr lang="en-US" altLang="zh-CN">
                <a:sym typeface="+mn-ea"/>
              </a:rPr>
              <a:t>diversity </a:t>
            </a:r>
            <a:r>
              <a:rPr lang="zh-CN" altLang="en-US">
                <a:sym typeface="+mn-ea"/>
              </a:rPr>
              <a:t>of </a:t>
            </a:r>
            <a:r>
              <a:rPr lang="en-US" altLang="zh-CN">
                <a:sym typeface="+mn-ea"/>
              </a:rPr>
              <a:t>generate point cloud S</a:t>
            </a:r>
            <a:endParaRPr lang="en-US" altLang="zh-CN">
              <a:sym typeface="+mn-ea"/>
            </a:endParaRPr>
          </a:p>
        </p:txBody>
      </p:sp>
      <p:grpSp>
        <p:nvGrpSpPr>
          <p:cNvPr id="282" name="组合 281"/>
          <p:cNvGrpSpPr/>
          <p:nvPr/>
        </p:nvGrpSpPr>
        <p:grpSpPr>
          <a:xfrm>
            <a:off x="13916660" y="5905291"/>
            <a:ext cx="2372103" cy="975298"/>
            <a:chOff x="2806" y="-6735"/>
            <a:chExt cx="6271" cy="2677"/>
          </a:xfrm>
        </p:grpSpPr>
        <p:sp>
          <p:nvSpPr>
            <p:cNvPr id="283" name="椭圆 282"/>
            <p:cNvSpPr/>
            <p:nvPr/>
          </p:nvSpPr>
          <p:spPr>
            <a:xfrm>
              <a:off x="2806" y="-6735"/>
              <a:ext cx="6271" cy="2677"/>
            </a:xfrm>
            <a:prstGeom prst="ellipse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pic>
          <p:nvPicPr>
            <p:cNvPr id="284" name="图片 283" descr="交通标志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400" y="-6233"/>
              <a:ext cx="1154" cy="1154"/>
            </a:xfrm>
            <a:prstGeom prst="rect">
              <a:avLst/>
            </a:prstGeom>
          </p:spPr>
        </p:pic>
        <p:pic>
          <p:nvPicPr>
            <p:cNvPr id="285" name="图片 284" descr="步行"/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965" y="-5830"/>
              <a:ext cx="853" cy="853"/>
            </a:xfrm>
            <a:prstGeom prst="rect">
              <a:avLst/>
            </a:prstGeom>
          </p:spPr>
        </p:pic>
        <p:pic>
          <p:nvPicPr>
            <p:cNvPr id="286" name="图片 285" descr="_汽车票"/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6415" y="-6449"/>
              <a:ext cx="918" cy="918"/>
            </a:xfrm>
            <a:prstGeom prst="rect">
              <a:avLst/>
            </a:prstGeom>
          </p:spPr>
        </p:pic>
        <p:pic>
          <p:nvPicPr>
            <p:cNvPr id="287" name="图片 286" descr="步行"/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578" y="-5364"/>
              <a:ext cx="725" cy="725"/>
            </a:xfrm>
            <a:prstGeom prst="rect">
              <a:avLst/>
            </a:prstGeom>
          </p:spPr>
        </p:pic>
        <p:pic>
          <p:nvPicPr>
            <p:cNvPr id="288" name="图片 287" descr="_汽车票"/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7333" y="-6158"/>
              <a:ext cx="918" cy="918"/>
            </a:xfrm>
            <a:prstGeom prst="rect">
              <a:avLst/>
            </a:prstGeom>
          </p:spPr>
        </p:pic>
        <p:pic>
          <p:nvPicPr>
            <p:cNvPr id="289" name="图片 288" descr="_汽车票"/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6415" y="-5531"/>
              <a:ext cx="918" cy="918"/>
            </a:xfrm>
            <a:prstGeom prst="rect">
              <a:avLst/>
            </a:prstGeom>
          </p:spPr>
        </p:pic>
        <p:pic>
          <p:nvPicPr>
            <p:cNvPr id="290" name="图片 289" descr="交通标志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063" y="-5577"/>
              <a:ext cx="1154" cy="1154"/>
            </a:xfrm>
            <a:prstGeom prst="rect">
              <a:avLst/>
            </a:prstGeom>
          </p:spPr>
        </p:pic>
        <p:pic>
          <p:nvPicPr>
            <p:cNvPr id="291" name="图片 290" descr="自行车-母婴"/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4978" y="-6688"/>
              <a:ext cx="1105" cy="1110"/>
            </a:xfrm>
            <a:prstGeom prst="rect">
              <a:avLst/>
            </a:prstGeom>
          </p:spPr>
        </p:pic>
      </p:grpSp>
      <p:sp>
        <p:nvSpPr>
          <p:cNvPr id="293" name="文本框 292"/>
          <p:cNvSpPr txBox="1"/>
          <p:nvPr/>
        </p:nvSpPr>
        <p:spPr>
          <a:xfrm>
            <a:off x="9664700" y="6370955"/>
            <a:ext cx="16605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/>
              <a:t>Transformed</a:t>
            </a:r>
            <a:endParaRPr lang="en-US" altLang="zh-CN" b="1"/>
          </a:p>
          <a:p>
            <a:pPr algn="ctr"/>
            <a:r>
              <a:rPr lang="en-US" altLang="zh-CN" b="1"/>
              <a:t>point cloud</a:t>
            </a:r>
            <a:endParaRPr lang="en-US" altLang="zh-CN" b="1"/>
          </a:p>
        </p:txBody>
      </p:sp>
      <p:cxnSp>
        <p:nvCxnSpPr>
          <p:cNvPr id="294" name="直接箭头连接符 293"/>
          <p:cNvCxnSpPr/>
          <p:nvPr/>
        </p:nvCxnSpPr>
        <p:spPr>
          <a:xfrm>
            <a:off x="10920730" y="5871845"/>
            <a:ext cx="45783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95" name="菱形 294"/>
          <p:cNvSpPr/>
          <p:nvPr/>
        </p:nvSpPr>
        <p:spPr>
          <a:xfrm>
            <a:off x="16694785" y="5166995"/>
            <a:ext cx="1569085" cy="759460"/>
          </a:xfrm>
          <a:prstGeom prst="diamond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000">
              <a:solidFill>
                <a:schemeClr val="tx1"/>
              </a:solidFill>
            </a:endParaRPr>
          </a:p>
        </p:txBody>
      </p:sp>
      <p:sp>
        <p:nvSpPr>
          <p:cNvPr id="296" name="流程图: 过程 295"/>
          <p:cNvSpPr/>
          <p:nvPr>
            <p:custDataLst>
              <p:tags r:id="rId14"/>
            </p:custDataLst>
          </p:nvPr>
        </p:nvSpPr>
        <p:spPr>
          <a:xfrm>
            <a:off x="16880840" y="6504940"/>
            <a:ext cx="1217295" cy="555625"/>
          </a:xfrm>
          <a:prstGeom prst="flowChartProcess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>
                <a:solidFill>
                  <a:schemeClr val="tx1"/>
                </a:solidFill>
              </a:rPr>
              <a:t>Discarded</a:t>
            </a:r>
            <a:endParaRPr lang="en-US" altLang="zh-CN" sz="1600">
              <a:solidFill>
                <a:schemeClr val="tx1"/>
              </a:solidFill>
            </a:endParaRPr>
          </a:p>
        </p:txBody>
      </p:sp>
      <p:cxnSp>
        <p:nvCxnSpPr>
          <p:cNvPr id="297" name="直接箭头连接符 296"/>
          <p:cNvCxnSpPr>
            <a:stCxn id="295" idx="2"/>
            <a:endCxn id="296" idx="0"/>
          </p:cNvCxnSpPr>
          <p:nvPr/>
        </p:nvCxnSpPr>
        <p:spPr>
          <a:xfrm>
            <a:off x="17479645" y="5926455"/>
            <a:ext cx="10160" cy="57848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98" name="文本框 297"/>
          <p:cNvSpPr txBox="1"/>
          <p:nvPr/>
        </p:nvSpPr>
        <p:spPr>
          <a:xfrm>
            <a:off x="17637760" y="5963920"/>
            <a:ext cx="42037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000"/>
              <a:t>N</a:t>
            </a:r>
            <a:endParaRPr lang="en-US" altLang="zh-CN" sz="1000"/>
          </a:p>
        </p:txBody>
      </p:sp>
      <p:cxnSp>
        <p:nvCxnSpPr>
          <p:cNvPr id="301" name="直接箭头连接符 300"/>
          <p:cNvCxnSpPr/>
          <p:nvPr/>
        </p:nvCxnSpPr>
        <p:spPr>
          <a:xfrm>
            <a:off x="16407765" y="5541645"/>
            <a:ext cx="28702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02" name="文本框 301"/>
          <p:cNvSpPr txBox="1"/>
          <p:nvPr/>
        </p:nvSpPr>
        <p:spPr>
          <a:xfrm>
            <a:off x="9542780" y="7750175"/>
            <a:ext cx="3876675" cy="5410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600"/>
              <a:t>Add seeds back to the queue</a:t>
            </a:r>
            <a:endParaRPr lang="en-US" altLang="zh-CN" sz="1600"/>
          </a:p>
        </p:txBody>
      </p:sp>
      <p:sp>
        <p:nvSpPr>
          <p:cNvPr id="303" name="文本框 302"/>
          <p:cNvSpPr txBox="1"/>
          <p:nvPr/>
        </p:nvSpPr>
        <p:spPr>
          <a:xfrm>
            <a:off x="18608040" y="1971040"/>
            <a:ext cx="17170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/>
              <a:t>Test dataset</a:t>
            </a:r>
            <a:endParaRPr lang="en-US" altLang="zh-CN" b="1"/>
          </a:p>
        </p:txBody>
      </p:sp>
      <p:grpSp>
        <p:nvGrpSpPr>
          <p:cNvPr id="304" name="组合 303"/>
          <p:cNvGrpSpPr/>
          <p:nvPr/>
        </p:nvGrpSpPr>
        <p:grpSpPr>
          <a:xfrm>
            <a:off x="19321145" y="1059180"/>
            <a:ext cx="902335" cy="862965"/>
            <a:chOff x="2244" y="177"/>
            <a:chExt cx="960" cy="960"/>
          </a:xfrm>
        </p:grpSpPr>
        <p:pic>
          <p:nvPicPr>
            <p:cNvPr id="305" name="图片 304" descr="24gl-fileEmpty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2244" y="177"/>
              <a:ext cx="960" cy="960"/>
            </a:xfrm>
            <a:prstGeom prst="rect">
              <a:avLst/>
            </a:prstGeom>
          </p:spPr>
        </p:pic>
        <p:pic>
          <p:nvPicPr>
            <p:cNvPr id="306" name="图片 305" descr="点云数据"/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2412" y="506"/>
              <a:ext cx="671" cy="483"/>
            </a:xfrm>
            <a:prstGeom prst="rect">
              <a:avLst/>
            </a:prstGeom>
          </p:spPr>
        </p:pic>
      </p:grpSp>
      <p:cxnSp>
        <p:nvCxnSpPr>
          <p:cNvPr id="307" name="直接箭头连接符 306"/>
          <p:cNvCxnSpPr/>
          <p:nvPr/>
        </p:nvCxnSpPr>
        <p:spPr>
          <a:xfrm>
            <a:off x="18685510" y="1458595"/>
            <a:ext cx="61468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09" name="图片 308" descr="激光雷达"/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9306540" y="3295650"/>
            <a:ext cx="866140" cy="866140"/>
          </a:xfrm>
          <a:prstGeom prst="rect">
            <a:avLst/>
          </a:prstGeom>
        </p:spPr>
      </p:pic>
      <p:sp>
        <p:nvSpPr>
          <p:cNvPr id="310" name="文本框 309"/>
          <p:cNvSpPr txBox="1"/>
          <p:nvPr/>
        </p:nvSpPr>
        <p:spPr>
          <a:xfrm>
            <a:off x="18685510" y="4161790"/>
            <a:ext cx="2265680" cy="5810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 b="1">
                <a:sym typeface="+mn-ea"/>
              </a:rPr>
              <a:t>LiDAR-based </a:t>
            </a:r>
            <a:endParaRPr lang="en-US" altLang="zh-CN" b="1">
              <a:sym typeface="+mn-ea"/>
            </a:endParaRPr>
          </a:p>
          <a:p>
            <a:pPr algn="ctr"/>
            <a:r>
              <a:rPr lang="en-US" altLang="zh-CN" b="1">
                <a:sym typeface="+mn-ea"/>
              </a:rPr>
              <a:t>perception system</a:t>
            </a:r>
            <a:endParaRPr lang="en-US" altLang="zh-CN" b="1">
              <a:sym typeface="+mn-ea"/>
            </a:endParaRPr>
          </a:p>
        </p:txBody>
      </p:sp>
      <p:pic>
        <p:nvPicPr>
          <p:cNvPr id="312" name="图片 311" descr="测试报告"/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9367500" y="5722620"/>
            <a:ext cx="828040" cy="828040"/>
          </a:xfrm>
          <a:prstGeom prst="rect">
            <a:avLst/>
          </a:prstGeom>
        </p:spPr>
      </p:pic>
      <p:sp>
        <p:nvSpPr>
          <p:cNvPr id="313" name="文本框 312"/>
          <p:cNvSpPr txBox="1"/>
          <p:nvPr/>
        </p:nvSpPr>
        <p:spPr>
          <a:xfrm>
            <a:off x="18740120" y="6622415"/>
            <a:ext cx="2155825" cy="6927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 b="1">
                <a:sym typeface="+mn-ea"/>
              </a:rPr>
              <a:t>Test  Report</a:t>
            </a:r>
            <a:endParaRPr lang="en-US" altLang="zh-CN" b="1">
              <a:sym typeface="+mn-ea"/>
            </a:endParaRPr>
          </a:p>
        </p:txBody>
      </p:sp>
      <p:grpSp>
        <p:nvGrpSpPr>
          <p:cNvPr id="315" name="组合 314"/>
          <p:cNvGrpSpPr/>
          <p:nvPr/>
        </p:nvGrpSpPr>
        <p:grpSpPr>
          <a:xfrm>
            <a:off x="525145" y="895350"/>
            <a:ext cx="935990" cy="975360"/>
            <a:chOff x="873" y="721"/>
            <a:chExt cx="1360" cy="1360"/>
          </a:xfrm>
        </p:grpSpPr>
        <p:pic>
          <p:nvPicPr>
            <p:cNvPr id="316" name="图片 315" descr="点云数据"/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1208" y="1220"/>
              <a:ext cx="692" cy="488"/>
            </a:xfrm>
            <a:prstGeom prst="rect">
              <a:avLst/>
            </a:prstGeom>
          </p:spPr>
        </p:pic>
        <p:pic>
          <p:nvPicPr>
            <p:cNvPr id="317" name="图片 316" descr="数据集"/>
            <p:cNvPicPr>
              <a:picLocks noChangeAspect="1"/>
            </p:cNvPicPr>
            <p:nvPr/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873" y="721"/>
              <a:ext cx="1360" cy="1360"/>
            </a:xfrm>
            <a:prstGeom prst="rect">
              <a:avLst/>
            </a:prstGeom>
          </p:spPr>
        </p:pic>
      </p:grpSp>
      <p:grpSp>
        <p:nvGrpSpPr>
          <p:cNvPr id="318" name="组合 317"/>
          <p:cNvGrpSpPr/>
          <p:nvPr/>
        </p:nvGrpSpPr>
        <p:grpSpPr>
          <a:xfrm>
            <a:off x="593090" y="3181350"/>
            <a:ext cx="838835" cy="862330"/>
            <a:chOff x="873" y="3352"/>
            <a:chExt cx="1260" cy="1234"/>
          </a:xfrm>
        </p:grpSpPr>
        <p:pic>
          <p:nvPicPr>
            <p:cNvPr id="319" name="图片 318" descr="24gl-fileEmpty"/>
            <p:cNvPicPr>
              <a:picLocks noChangeAspect="1"/>
            </p:cNvPicPr>
            <p:nvPr>
              <p:custDataLst>
                <p:tags r:id="rId26"/>
              </p:custDataLst>
            </p:nvPr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873" y="3352"/>
              <a:ext cx="1261" cy="1235"/>
            </a:xfrm>
            <a:prstGeom prst="rect">
              <a:avLst/>
            </a:prstGeom>
          </p:spPr>
        </p:pic>
        <p:pic>
          <p:nvPicPr>
            <p:cNvPr id="320" name="图片 319" descr="点云数据"/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1168" y="3783"/>
              <a:ext cx="692" cy="488"/>
            </a:xfrm>
            <a:prstGeom prst="rect">
              <a:avLst/>
            </a:prstGeom>
          </p:spPr>
        </p:pic>
      </p:grpSp>
      <p:sp>
        <p:nvSpPr>
          <p:cNvPr id="321" name="文本框 320"/>
          <p:cNvSpPr txBox="1"/>
          <p:nvPr/>
        </p:nvSpPr>
        <p:spPr>
          <a:xfrm>
            <a:off x="2440940" y="600075"/>
            <a:ext cx="64325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800" b="1">
                <a:sym typeface="+mn-ea"/>
              </a:rPr>
              <a:t>Semantic Entity Insertion Operator</a:t>
            </a:r>
            <a:endParaRPr lang="en-US" altLang="zh-CN" sz="2800" b="1">
              <a:sym typeface="+mn-ea"/>
            </a:endParaRPr>
          </a:p>
        </p:txBody>
      </p:sp>
      <p:sp>
        <p:nvSpPr>
          <p:cNvPr id="322" name="矩形 321"/>
          <p:cNvSpPr/>
          <p:nvPr/>
        </p:nvSpPr>
        <p:spPr>
          <a:xfrm>
            <a:off x="2096135" y="600710"/>
            <a:ext cx="7072630" cy="6845935"/>
          </a:xfrm>
          <a:prstGeom prst="rect">
            <a:avLst/>
          </a:prstGeom>
          <a:noFill/>
          <a:ln w="28575" cmpd="dbl">
            <a:solidFill>
              <a:schemeClr val="tx1"/>
            </a:solidFill>
            <a:prstDash val="lgDash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328" name="组合 327"/>
          <p:cNvGrpSpPr/>
          <p:nvPr/>
        </p:nvGrpSpPr>
        <p:grpSpPr>
          <a:xfrm>
            <a:off x="6905625" y="1648460"/>
            <a:ext cx="2234565" cy="1303020"/>
            <a:chOff x="10806" y="4579"/>
            <a:chExt cx="3394" cy="1723"/>
          </a:xfrm>
        </p:grpSpPr>
        <p:sp>
          <p:nvSpPr>
            <p:cNvPr id="256" name="文本框 255"/>
            <p:cNvSpPr txBox="1"/>
            <p:nvPr/>
          </p:nvSpPr>
          <p:spPr>
            <a:xfrm>
              <a:off x="10806" y="5623"/>
              <a:ext cx="3394" cy="67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n-US" altLang="zh-CN" b="1"/>
                <a:t>Physically</a:t>
              </a:r>
              <a:endParaRPr lang="en-US" altLang="zh-CN" b="1"/>
            </a:p>
            <a:p>
              <a:pPr algn="ctr"/>
              <a:r>
                <a:rPr lang="en-US" altLang="zh-CN" b="1"/>
                <a:t> and Semantic Plausible </a:t>
              </a:r>
              <a:r>
                <a:rPr lang="en-US" altLang="zh-CN" b="1"/>
                <a:t>Pose</a:t>
              </a:r>
              <a:endParaRPr lang="en-US" altLang="zh-CN" b="1"/>
            </a:p>
          </p:txBody>
        </p:sp>
        <p:pic>
          <p:nvPicPr>
            <p:cNvPr id="458" name="图片 457" descr="平面直角坐标系"/>
            <p:cNvPicPr>
              <a:picLocks noChangeAspect="1"/>
            </p:cNvPicPr>
            <p:nvPr/>
          </p:nvPicPr>
          <p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11468" y="4579"/>
              <a:ext cx="968" cy="983"/>
            </a:xfrm>
            <a:prstGeom prst="rect">
              <a:avLst/>
            </a:prstGeom>
          </p:spPr>
        </p:pic>
        <p:grpSp>
          <p:nvGrpSpPr>
            <p:cNvPr id="459" name="组合 458"/>
            <p:cNvGrpSpPr/>
            <p:nvPr/>
          </p:nvGrpSpPr>
          <p:grpSpPr>
            <a:xfrm rot="18960000">
              <a:off x="11911" y="4720"/>
              <a:ext cx="117" cy="524"/>
              <a:chOff x="14084" y="7910"/>
              <a:chExt cx="660" cy="2210"/>
            </a:xfrm>
            <a:solidFill>
              <a:schemeClr val="accent1">
                <a:lumMod val="75000"/>
              </a:schemeClr>
            </a:solidFill>
          </p:grpSpPr>
          <p:grpSp>
            <p:nvGrpSpPr>
              <p:cNvPr id="460" name="组合 459"/>
              <p:cNvGrpSpPr/>
              <p:nvPr/>
            </p:nvGrpSpPr>
            <p:grpSpPr>
              <a:xfrm>
                <a:off x="14084" y="7910"/>
                <a:ext cx="660" cy="2211"/>
                <a:chOff x="14084" y="7910"/>
                <a:chExt cx="660" cy="2211"/>
              </a:xfrm>
              <a:grpFill/>
            </p:grpSpPr>
            <p:sp>
              <p:nvSpPr>
                <p:cNvPr id="461" name="矩形 460"/>
                <p:cNvSpPr/>
                <p:nvPr/>
              </p:nvSpPr>
              <p:spPr>
                <a:xfrm>
                  <a:off x="14084" y="8711"/>
                  <a:ext cx="660" cy="1411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cxnSp>
              <p:nvCxnSpPr>
                <p:cNvPr id="462" name="直接箭头连接符 461"/>
                <p:cNvCxnSpPr>
                  <a:stCxn id="461" idx="0"/>
                </p:cNvCxnSpPr>
                <p:nvPr/>
              </p:nvCxnSpPr>
              <p:spPr>
                <a:xfrm flipH="1" flipV="1">
                  <a:off x="14403" y="7910"/>
                  <a:ext cx="0" cy="801"/>
                </a:xfrm>
                <a:prstGeom prst="straightConnector1">
                  <a:avLst/>
                </a:prstGeom>
                <a:grpFill/>
                <a:ln w="6350">
                  <a:solidFill>
                    <a:schemeClr val="tx1"/>
                  </a:solidFill>
                  <a:tailEnd type="arrow" w="sm" len="med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63" name="椭圆 462"/>
              <p:cNvSpPr/>
              <p:nvPr/>
            </p:nvSpPr>
            <p:spPr>
              <a:xfrm>
                <a:off x="14355" y="9341"/>
                <a:ext cx="119" cy="119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464" name="组合 463"/>
            <p:cNvGrpSpPr/>
            <p:nvPr/>
          </p:nvGrpSpPr>
          <p:grpSpPr>
            <a:xfrm>
              <a:off x="11549" y="5315"/>
              <a:ext cx="193" cy="192"/>
              <a:chOff x="7747" y="9660"/>
              <a:chExt cx="176" cy="192"/>
            </a:xfrm>
          </p:grpSpPr>
          <p:sp>
            <p:nvSpPr>
              <p:cNvPr id="465" name="椭圆 464"/>
              <p:cNvSpPr/>
              <p:nvPr/>
            </p:nvSpPr>
            <p:spPr>
              <a:xfrm>
                <a:off x="7747" y="9660"/>
                <a:ext cx="176" cy="192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66" name="椭圆 465"/>
              <p:cNvSpPr/>
              <p:nvPr>
                <p:custDataLst>
                  <p:tags r:id="rId29"/>
                </p:custDataLst>
              </p:nvPr>
            </p:nvSpPr>
            <p:spPr>
              <a:xfrm>
                <a:off x="7812" y="9724"/>
                <a:ext cx="57" cy="57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68" name="文本框 467"/>
                <p:cNvSpPr txBox="1"/>
                <p:nvPr/>
              </p:nvSpPr>
              <p:spPr>
                <a:xfrm>
                  <a:off x="12002" y="4680"/>
                  <a:ext cx="1385" cy="453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altLang="zh-CN" sz="1400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x</m:t>
                        </m:r>
                        <m:r>
                          <a:rPr lang="en-US" altLang="zh-CN" sz="1400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CN" sz="1400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y</m:t>
                        </m:r>
                        <m:r>
                          <a:rPr lang="en-US" altLang="zh-CN" sz="1400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CN" sz="1400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z</m:t>
                        </m:r>
                        <m:r>
                          <a:rPr lang="en-US" altLang="zh-CN" sz="1400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1400" i="1">
                                <a:latin typeface="Cambria Math" panose="02040503050406030204" charset="0"/>
                                <a:cs typeface="Cambria Math" panose="02040503050406030204" charset="0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lang="en-US" altLang="zh-CN" sz="1400" i="1">
                                <a:latin typeface="Cambria Math" panose="02040503050406030204" charset="0"/>
                                <a:cs typeface="Cambria Math" panose="02040503050406030204" charset="0"/>
                                <a:sym typeface="+mn-ea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sz="1400" i="1">
                                <a:latin typeface="Cambria Math" panose="02040503050406030204" charset="0"/>
                                <a:cs typeface="Cambria Math" panose="02040503050406030204" charset="0"/>
                                <a:sym typeface="+mn-ea"/>
                              </a:rPr>
                              <m:t>𝑧</m:t>
                            </m:r>
                          </m:sub>
                        </m:sSub>
                        <m:r>
                          <a:rPr lang="en-US" altLang="zh-CN" sz="1400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)</m:t>
                        </m:r>
                      </m:oMath>
                    </m:oMathPara>
                  </a14:m>
                  <a:endParaRPr lang="en-US" altLang="zh-CN" sz="1400">
                    <a:latin typeface="Cambria Math" panose="02040503050406030204" charset="0"/>
                    <a:cs typeface="Cambria Math" panose="02040503050406030204" charset="0"/>
                    <a:sym typeface="+mn-ea"/>
                  </a:endParaRPr>
                </a:p>
              </p:txBody>
            </p:sp>
          </mc:Choice>
          <mc:Fallback>
            <p:sp>
              <p:nvSpPr>
                <p:cNvPr id="468" name="文本框 46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02" y="4680"/>
                  <a:ext cx="1385" cy="453"/>
                </a:xfrm>
                <a:prstGeom prst="rect">
                  <a:avLst/>
                </a:prstGeom>
                <a:blipFill rotWithShape="1">
                  <a:blip r:embed="rId30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" name="直接箭头连接符 1"/>
          <p:cNvCxnSpPr>
            <a:stCxn id="228" idx="3"/>
          </p:cNvCxnSpPr>
          <p:nvPr/>
        </p:nvCxnSpPr>
        <p:spPr>
          <a:xfrm>
            <a:off x="6714490" y="6102985"/>
            <a:ext cx="3810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439" name="图片 438"/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32"/>
          <a:stretch>
            <a:fillRect/>
          </a:stretch>
        </p:blipFill>
        <p:spPr>
          <a:xfrm>
            <a:off x="7465695" y="5551805"/>
            <a:ext cx="1217930" cy="69278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934200" y="6404610"/>
            <a:ext cx="2155190" cy="4311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/>
              <a:t>Entity </a:t>
            </a:r>
            <a:endParaRPr lang="en-US" altLang="zh-CN" b="1"/>
          </a:p>
          <a:p>
            <a:pPr algn="ctr"/>
            <a:r>
              <a:rPr lang="en-US" altLang="zh-CN" b="1"/>
              <a:t>instance</a:t>
            </a:r>
            <a:endParaRPr lang="en-US" altLang="zh-CN" b="1"/>
          </a:p>
        </p:txBody>
      </p:sp>
      <p:sp>
        <p:nvSpPr>
          <p:cNvPr id="6" name="文本框 5"/>
          <p:cNvSpPr txBox="1"/>
          <p:nvPr/>
        </p:nvSpPr>
        <p:spPr>
          <a:xfrm>
            <a:off x="9542780" y="400685"/>
            <a:ext cx="9065260" cy="4794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buClrTx/>
              <a:buSzTx/>
              <a:buFontTx/>
            </a:pPr>
            <a:r>
              <a:rPr lang="en-US" altLang="zh-CN" sz="2800" b="1"/>
              <a:t>Semantic-Aware LiDAR Simulation</a:t>
            </a:r>
            <a:endParaRPr lang="en-US" altLang="zh-CN" sz="2800" b="1"/>
          </a:p>
        </p:txBody>
      </p:sp>
      <p:sp>
        <p:nvSpPr>
          <p:cNvPr id="7" name="文本框 6"/>
          <p:cNvSpPr txBox="1"/>
          <p:nvPr/>
        </p:nvSpPr>
        <p:spPr>
          <a:xfrm>
            <a:off x="9664065" y="4498340"/>
            <a:ext cx="8944610" cy="6064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 sz="2800" b="1">
                <a:sym typeface="+mn-ea"/>
              </a:rPr>
              <a:t>Semantic Diversity</a:t>
            </a:r>
            <a:r>
              <a:rPr lang="en-US" altLang="zh-CN" sz="2800" b="1">
                <a:sym typeface="+mn-ea"/>
              </a:rPr>
              <a:t>-</a:t>
            </a:r>
            <a:r>
              <a:rPr lang="en-US" altLang="zh-CN" sz="2800" b="1">
                <a:sym typeface="+mn-ea"/>
              </a:rPr>
              <a:t>Guided Testing</a:t>
            </a:r>
            <a:endParaRPr lang="en-US" altLang="zh-CN" sz="2800" b="1">
              <a:sym typeface="+mn-ea"/>
            </a:endParaRPr>
          </a:p>
        </p:txBody>
      </p:sp>
      <p:cxnSp>
        <p:nvCxnSpPr>
          <p:cNvPr id="9" name="直接箭头连接符 8"/>
          <p:cNvCxnSpPr/>
          <p:nvPr/>
        </p:nvCxnSpPr>
        <p:spPr>
          <a:xfrm>
            <a:off x="6730365" y="3796030"/>
            <a:ext cx="3810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4730115" y="6804025"/>
            <a:ext cx="1764030" cy="4318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>
                <a:sym typeface="+mn-ea"/>
              </a:rPr>
              <a:t>Others</a:t>
            </a:r>
            <a:endParaRPr lang="en-US" altLang="zh-CN">
              <a:sym typeface="+mn-ea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2612390" y="4065270"/>
            <a:ext cx="3877310" cy="494030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592705" y="4116070"/>
            <a:ext cx="3896360" cy="4311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>
                <a:sym typeface="+mn-ea"/>
              </a:rPr>
              <a:t>Semantic Constraints</a:t>
            </a:r>
            <a:endParaRPr lang="en-US" altLang="zh-CN" b="1"/>
          </a:p>
        </p:txBody>
      </p:sp>
      <p:sp>
        <p:nvSpPr>
          <p:cNvPr id="22" name="圆角矩形 21"/>
          <p:cNvSpPr/>
          <p:nvPr/>
        </p:nvSpPr>
        <p:spPr>
          <a:xfrm>
            <a:off x="2613025" y="3408680"/>
            <a:ext cx="3877310" cy="494030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2613025" y="3459480"/>
            <a:ext cx="3896995" cy="4940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>
                <a:sym typeface="+mn-ea"/>
              </a:rPr>
              <a:t>Spatial Constraints</a:t>
            </a:r>
            <a:endParaRPr lang="en-US" altLang="zh-CN" b="1"/>
          </a:p>
        </p:txBody>
      </p:sp>
      <p:grpSp>
        <p:nvGrpSpPr>
          <p:cNvPr id="26" name="组合 25"/>
          <p:cNvGrpSpPr/>
          <p:nvPr/>
        </p:nvGrpSpPr>
        <p:grpSpPr>
          <a:xfrm>
            <a:off x="10029190" y="5454015"/>
            <a:ext cx="866140" cy="866140"/>
            <a:chOff x="873" y="3352"/>
            <a:chExt cx="1260" cy="1234"/>
          </a:xfrm>
          <a:solidFill>
            <a:schemeClr val="accent1">
              <a:lumMod val="75000"/>
            </a:schemeClr>
          </a:solidFill>
        </p:grpSpPr>
        <p:pic>
          <p:nvPicPr>
            <p:cNvPr id="27" name="图片 26" descr="24gl-fileEmpty"/>
            <p:cNvPicPr>
              <a:picLocks noChangeAspect="1"/>
            </p:cNvPicPr>
            <p:nvPr>
              <p:custDataLst>
                <p:tags r:id="rId33"/>
              </p:custDataLst>
            </p:nvPr>
          </p:nvPicPr>
          <p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873" y="3352"/>
              <a:ext cx="1261" cy="1235"/>
            </a:xfrm>
            <a:prstGeom prst="rect">
              <a:avLst/>
            </a:prstGeom>
          </p:spPr>
        </p:pic>
        <p:pic>
          <p:nvPicPr>
            <p:cNvPr id="28" name="图片 27" descr="点云数据"/>
            <p:cNvPicPr>
              <a:picLocks noChangeAspect="1"/>
            </p:cNvPicPr>
            <p:nvPr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168" y="3783"/>
              <a:ext cx="692" cy="488"/>
            </a:xfrm>
            <a:prstGeom prst="rect">
              <a:avLst/>
            </a:prstGeom>
          </p:spPr>
        </p:pic>
      </p:grpSp>
      <p:sp>
        <p:nvSpPr>
          <p:cNvPr id="33" name="右箭头 32"/>
          <p:cNvSpPr/>
          <p:nvPr/>
        </p:nvSpPr>
        <p:spPr>
          <a:xfrm>
            <a:off x="9252585" y="1552575"/>
            <a:ext cx="360000" cy="43200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右箭头 33"/>
          <p:cNvSpPr/>
          <p:nvPr/>
        </p:nvSpPr>
        <p:spPr>
          <a:xfrm rot="5400000">
            <a:off x="10311688" y="3983868"/>
            <a:ext cx="360000" cy="43200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7" name="直接箭头连接符 36"/>
          <p:cNvCxnSpPr/>
          <p:nvPr/>
        </p:nvCxnSpPr>
        <p:spPr>
          <a:xfrm>
            <a:off x="19763105" y="2360930"/>
            <a:ext cx="0" cy="7560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/>
          <p:cNvCxnSpPr/>
          <p:nvPr/>
        </p:nvCxnSpPr>
        <p:spPr>
          <a:xfrm>
            <a:off x="19763105" y="4817110"/>
            <a:ext cx="0" cy="7560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/>
          <p:cNvCxnSpPr/>
          <p:nvPr/>
        </p:nvCxnSpPr>
        <p:spPr>
          <a:xfrm>
            <a:off x="15545435" y="2297430"/>
            <a:ext cx="324000" cy="0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1" name="直接箭头连接符 40"/>
          <p:cNvCxnSpPr/>
          <p:nvPr/>
        </p:nvCxnSpPr>
        <p:spPr>
          <a:xfrm>
            <a:off x="12552680" y="2297430"/>
            <a:ext cx="324000" cy="0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3" name="文本框 42"/>
          <p:cNvSpPr txBox="1"/>
          <p:nvPr/>
        </p:nvSpPr>
        <p:spPr>
          <a:xfrm>
            <a:off x="16919575" y="5377815"/>
            <a:ext cx="140017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600">
                <a:sym typeface="+mn-ea"/>
              </a:rPr>
              <a:t>Increased?</a:t>
            </a:r>
            <a:endParaRPr lang="en-US" altLang="zh-CN" sz="1600">
              <a:sym typeface="+mn-ea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3401695" y="9179560"/>
            <a:ext cx="4064000" cy="4603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buClrTx/>
              <a:buSzTx/>
              <a:buFontTx/>
            </a:pPr>
            <a:r>
              <a:rPr lang="en-US" altLang="zh-CN" sz="2400" b="1"/>
              <a:t>Metamorphic Relations</a:t>
            </a:r>
            <a:endParaRPr lang="en-US" altLang="zh-CN" sz="2400" b="1"/>
          </a:p>
        </p:txBody>
      </p:sp>
      <p:sp>
        <p:nvSpPr>
          <p:cNvPr id="46" name="文本框 45"/>
          <p:cNvSpPr txBox="1"/>
          <p:nvPr/>
        </p:nvSpPr>
        <p:spPr>
          <a:xfrm>
            <a:off x="2354580" y="2863850"/>
            <a:ext cx="4396105" cy="4337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400" b="1">
                <a:sym typeface="+mn-ea"/>
              </a:rPr>
              <a:t>Semantic Pose Generation</a:t>
            </a:r>
            <a:endParaRPr lang="en-US" altLang="zh-CN" sz="2000" b="1"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902190" y="2524125"/>
            <a:ext cx="2519680" cy="443865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>
                <a:sym typeface="+mn-ea"/>
              </a:rPr>
              <a:t>Sensor Specification</a:t>
            </a:r>
            <a:endParaRPr lang="en-US" altLang="zh-CN"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5887700" y="2499360"/>
            <a:ext cx="2720975" cy="4235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ctr">
              <a:lnSpc>
                <a:spcPct val="120000"/>
              </a:lnSpc>
              <a:buClrTx/>
              <a:buSzTx/>
              <a:buFontTx/>
            </a:pPr>
            <a:r>
              <a:rPr lang="zh-CN" altLang="en-US">
                <a:sym typeface="+mn-ea"/>
              </a:rPr>
              <a:t>Scene Integration</a:t>
            </a:r>
            <a:endParaRPr lang="zh-CN" altLang="en-US"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263140" y="4894580"/>
            <a:ext cx="4451350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400" b="1">
                <a:sym typeface="+mn-ea"/>
              </a:rPr>
              <a:t>Entity </a:t>
            </a:r>
            <a:r>
              <a:rPr lang="en-US" altLang="zh-CN" sz="2400" b="1">
                <a:sym typeface="+mn-ea"/>
              </a:rPr>
              <a:t>Database</a:t>
            </a:r>
            <a:endParaRPr lang="en-US" altLang="zh-CN" sz="2400" b="1">
              <a:sym typeface="+mn-ea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2506980" y="2052955"/>
            <a:ext cx="1949450" cy="572770"/>
            <a:chOff x="2849" y="12605"/>
            <a:chExt cx="3410" cy="902"/>
          </a:xfrm>
        </p:grpSpPr>
        <p:sp>
          <p:nvSpPr>
            <p:cNvPr id="15" name="圆角矩形 14"/>
            <p:cNvSpPr/>
            <p:nvPr/>
          </p:nvSpPr>
          <p:spPr>
            <a:xfrm>
              <a:off x="2849" y="12605"/>
              <a:ext cx="3394" cy="822"/>
            </a:xfrm>
            <a:prstGeom prst="roundRect">
              <a:avLst/>
            </a:prstGeom>
            <a:solidFill>
              <a:schemeClr val="bg2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en-US" altLang="zh-CN" sz="1600">
                <a:solidFill>
                  <a:schemeClr val="tx1"/>
                </a:solidFill>
                <a:sym typeface="+mn-ea"/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2849" y="12685"/>
              <a:ext cx="3411" cy="82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n-US" altLang="zh-CN" b="1">
                  <a:sym typeface="+mn-ea"/>
                </a:rPr>
                <a:t>Instance-level</a:t>
              </a:r>
              <a:endParaRPr lang="en-US" altLang="zh-CN" b="1">
                <a:sym typeface="+mn-ea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4661535" y="2052320"/>
            <a:ext cx="1949450" cy="572770"/>
            <a:chOff x="7712" y="12605"/>
            <a:chExt cx="3410" cy="902"/>
          </a:xfrm>
        </p:grpSpPr>
        <p:sp>
          <p:nvSpPr>
            <p:cNvPr id="17" name="圆角矩形 16"/>
            <p:cNvSpPr/>
            <p:nvPr/>
          </p:nvSpPr>
          <p:spPr>
            <a:xfrm>
              <a:off x="7712" y="12605"/>
              <a:ext cx="3394" cy="822"/>
            </a:xfrm>
            <a:prstGeom prst="roundRect">
              <a:avLst/>
            </a:prstGeom>
            <a:solidFill>
              <a:schemeClr val="bg2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en-US" altLang="zh-CN" sz="1600">
                <a:solidFill>
                  <a:schemeClr val="tx1"/>
                </a:solidFill>
                <a:sym typeface="+mn-ea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7712" y="12685"/>
              <a:ext cx="3411" cy="82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n-US" altLang="zh-CN" b="1">
                  <a:sym typeface="+mn-ea"/>
                </a:rPr>
                <a:t>interaction-level</a:t>
              </a:r>
              <a:endParaRPr lang="en-US" altLang="zh-CN" b="1">
                <a:sym typeface="+mn-ea"/>
              </a:endParaRPr>
            </a:p>
          </p:txBody>
        </p:sp>
      </p:grpSp>
      <p:cxnSp>
        <p:nvCxnSpPr>
          <p:cNvPr id="36" name="直接箭头连接符 35"/>
          <p:cNvCxnSpPr/>
          <p:nvPr/>
        </p:nvCxnSpPr>
        <p:spPr>
          <a:xfrm>
            <a:off x="6725285" y="2098040"/>
            <a:ext cx="3810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9" name="文本框 38"/>
          <p:cNvSpPr txBox="1"/>
          <p:nvPr/>
        </p:nvSpPr>
        <p:spPr>
          <a:xfrm>
            <a:off x="2334260" y="1520825"/>
            <a:ext cx="4396105" cy="4337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400" b="1">
                <a:sym typeface="+mn-ea"/>
              </a:rPr>
              <a:t>Insertion Operators</a:t>
            </a:r>
            <a:endParaRPr lang="en-US" altLang="zh-CN" sz="2000" b="1"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/>
          <p:cNvSpPr/>
          <p:nvPr/>
        </p:nvSpPr>
        <p:spPr>
          <a:xfrm>
            <a:off x="2283460" y="6691630"/>
            <a:ext cx="6590665" cy="59880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1600"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055485" y="1655445"/>
            <a:ext cx="1906905" cy="4791075"/>
          </a:xfrm>
          <a:prstGeom prst="rect">
            <a:avLst/>
          </a:prstGeom>
          <a:solidFill>
            <a:schemeClr val="bg2">
              <a:lumMod val="95000"/>
            </a:schemeClr>
          </a:solidFill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8" name="矩形 227"/>
          <p:cNvSpPr/>
          <p:nvPr/>
        </p:nvSpPr>
        <p:spPr>
          <a:xfrm>
            <a:off x="2263140" y="4964430"/>
            <a:ext cx="4451350" cy="148209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1600">
              <a:sym typeface="+mn-ea"/>
            </a:endParaRPr>
          </a:p>
        </p:txBody>
      </p:sp>
      <p:sp>
        <p:nvSpPr>
          <p:cNvPr id="230" name="文本框 229"/>
          <p:cNvSpPr txBox="1"/>
          <p:nvPr/>
        </p:nvSpPr>
        <p:spPr>
          <a:xfrm>
            <a:off x="134303" y="4016375"/>
            <a:ext cx="1764665" cy="3352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/>
              <a:t>Initial Seeds</a:t>
            </a:r>
            <a:endParaRPr lang="en-US" altLang="zh-CN" b="1"/>
          </a:p>
        </p:txBody>
      </p:sp>
      <p:sp>
        <p:nvSpPr>
          <p:cNvPr id="231" name="文本框 230"/>
          <p:cNvSpPr txBox="1"/>
          <p:nvPr/>
        </p:nvSpPr>
        <p:spPr>
          <a:xfrm>
            <a:off x="134938" y="1870710"/>
            <a:ext cx="17659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/>
              <a:t>Test data</a:t>
            </a:r>
            <a:endParaRPr lang="en-US" altLang="zh-CN" b="1"/>
          </a:p>
        </p:txBody>
      </p:sp>
      <p:sp>
        <p:nvSpPr>
          <p:cNvPr id="232" name="文本框 231"/>
          <p:cNvSpPr txBox="1"/>
          <p:nvPr/>
        </p:nvSpPr>
        <p:spPr>
          <a:xfrm>
            <a:off x="134620" y="6235065"/>
            <a:ext cx="17665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/>
              <a:t>Seed Queue</a:t>
            </a:r>
            <a:endParaRPr lang="en-US" altLang="zh-CN" b="1"/>
          </a:p>
        </p:txBody>
      </p:sp>
      <p:sp>
        <p:nvSpPr>
          <p:cNvPr id="233" name="右箭头 232"/>
          <p:cNvSpPr/>
          <p:nvPr/>
        </p:nvSpPr>
        <p:spPr>
          <a:xfrm>
            <a:off x="1642110" y="5645785"/>
            <a:ext cx="360000" cy="43200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34" name="肘形连接符 233"/>
          <p:cNvCxnSpPr>
            <a:stCxn id="295" idx="3"/>
            <a:endCxn id="232" idx="2"/>
          </p:cNvCxnSpPr>
          <p:nvPr/>
        </p:nvCxnSpPr>
        <p:spPr>
          <a:xfrm flipH="1">
            <a:off x="1017905" y="5546725"/>
            <a:ext cx="17245965" cy="1056640"/>
          </a:xfrm>
          <a:prstGeom prst="bentConnector4">
            <a:avLst>
              <a:gd name="adj1" fmla="val -3346"/>
              <a:gd name="adj2" fmla="val 200120"/>
            </a:avLst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5" name="直接箭头连接符 234"/>
          <p:cNvCxnSpPr/>
          <p:nvPr/>
        </p:nvCxnSpPr>
        <p:spPr>
          <a:xfrm>
            <a:off x="1003935" y="2294890"/>
            <a:ext cx="0" cy="7560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直接箭头连接符 235"/>
          <p:cNvCxnSpPr/>
          <p:nvPr/>
        </p:nvCxnSpPr>
        <p:spPr>
          <a:xfrm>
            <a:off x="1003935" y="4508500"/>
            <a:ext cx="0" cy="7560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7" name="图片 236" descr="队列-copy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3090" y="5433695"/>
            <a:ext cx="801370" cy="801370"/>
          </a:xfrm>
          <a:prstGeom prst="rect">
            <a:avLst/>
          </a:prstGeom>
        </p:spPr>
      </p:pic>
      <p:sp>
        <p:nvSpPr>
          <p:cNvPr id="238" name="矩形 237"/>
          <p:cNvSpPr/>
          <p:nvPr/>
        </p:nvSpPr>
        <p:spPr>
          <a:xfrm>
            <a:off x="2267585" y="1593215"/>
            <a:ext cx="4451350" cy="200469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mpd="sng">
            <a:solidFill>
              <a:schemeClr val="accent1">
                <a:shade val="50000"/>
              </a:schemeClr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4" name="矩形 253"/>
          <p:cNvSpPr/>
          <p:nvPr/>
        </p:nvSpPr>
        <p:spPr>
          <a:xfrm>
            <a:off x="9664700" y="928370"/>
            <a:ext cx="8988425" cy="3023870"/>
          </a:xfrm>
          <a:prstGeom prst="rect">
            <a:avLst/>
          </a:prstGeom>
          <a:noFill/>
          <a:ln w="28575" cmpd="dbl">
            <a:solidFill>
              <a:schemeClr val="tx1"/>
            </a:solidFill>
            <a:prstDash val="lgDash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61" name="矩形 260"/>
          <p:cNvSpPr/>
          <p:nvPr/>
        </p:nvSpPr>
        <p:spPr>
          <a:xfrm>
            <a:off x="9664700" y="4404360"/>
            <a:ext cx="8989060" cy="3023870"/>
          </a:xfrm>
          <a:prstGeom prst="rect">
            <a:avLst/>
          </a:prstGeom>
          <a:noFill/>
          <a:ln w="28575" cmpd="dbl">
            <a:solidFill>
              <a:schemeClr val="tx1"/>
            </a:solidFill>
            <a:prstDash val="lgDash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62" name="矩形 261"/>
          <p:cNvSpPr/>
          <p:nvPr/>
        </p:nvSpPr>
        <p:spPr>
          <a:xfrm>
            <a:off x="9824085" y="1631950"/>
            <a:ext cx="2728595" cy="209994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1600">
              <a:sym typeface="+mn-ea"/>
            </a:endParaRPr>
          </a:p>
        </p:txBody>
      </p:sp>
      <p:sp>
        <p:nvSpPr>
          <p:cNvPr id="263" name="圆角矩形 262"/>
          <p:cNvSpPr/>
          <p:nvPr/>
        </p:nvSpPr>
        <p:spPr>
          <a:xfrm>
            <a:off x="9902190" y="2115820"/>
            <a:ext cx="2520000" cy="540000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t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264" name="矩形 263"/>
          <p:cNvSpPr/>
          <p:nvPr/>
        </p:nvSpPr>
        <p:spPr>
          <a:xfrm>
            <a:off x="12808585" y="1631315"/>
            <a:ext cx="2728595" cy="210121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1600">
              <a:sym typeface="+mn-ea"/>
            </a:endParaRPr>
          </a:p>
        </p:txBody>
      </p:sp>
      <p:sp>
        <p:nvSpPr>
          <p:cNvPr id="265" name="圆角矩形 264"/>
          <p:cNvSpPr/>
          <p:nvPr/>
        </p:nvSpPr>
        <p:spPr>
          <a:xfrm>
            <a:off x="9902190" y="2929255"/>
            <a:ext cx="2520000" cy="540000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t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266" name="文本框 265"/>
          <p:cNvSpPr txBox="1"/>
          <p:nvPr/>
        </p:nvSpPr>
        <p:spPr>
          <a:xfrm>
            <a:off x="9902190" y="2981325"/>
            <a:ext cx="2519680" cy="443865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ym typeface="+mn-ea"/>
              </a:rPr>
              <a:t>Sensor Specification</a:t>
            </a:r>
            <a:endParaRPr lang="en-US" altLang="zh-CN">
              <a:sym typeface="+mn-ea"/>
            </a:endParaRPr>
          </a:p>
        </p:txBody>
      </p:sp>
      <p:sp>
        <p:nvSpPr>
          <p:cNvPr id="267" name="文本框 266"/>
          <p:cNvSpPr txBox="1"/>
          <p:nvPr/>
        </p:nvSpPr>
        <p:spPr>
          <a:xfrm>
            <a:off x="9902190" y="2183130"/>
            <a:ext cx="2522855" cy="460375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p>
            <a:pPr algn="ctr"/>
            <a:r>
              <a:rPr lang="en-US" altLang="zh-CN">
                <a:sym typeface="+mn-ea"/>
              </a:rPr>
              <a:t>Beam Generation</a:t>
            </a:r>
            <a:endParaRPr lang="en-US" altLang="zh-CN">
              <a:sym typeface="+mn-ea"/>
            </a:endParaRPr>
          </a:p>
        </p:txBody>
      </p:sp>
      <p:sp>
        <p:nvSpPr>
          <p:cNvPr id="268" name="文本框 267"/>
          <p:cNvSpPr txBox="1"/>
          <p:nvPr/>
        </p:nvSpPr>
        <p:spPr>
          <a:xfrm>
            <a:off x="9823450" y="1655445"/>
            <a:ext cx="2729230" cy="2305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>
                <a:sym typeface="+mn-ea"/>
              </a:rPr>
              <a:t>Virtual LiDAR Setup</a:t>
            </a:r>
            <a:endParaRPr lang="en-US" altLang="zh-CN" b="1">
              <a:sym typeface="+mn-ea"/>
            </a:endParaRPr>
          </a:p>
        </p:txBody>
      </p:sp>
      <p:sp>
        <p:nvSpPr>
          <p:cNvPr id="269" name="文本框 268"/>
          <p:cNvSpPr txBox="1"/>
          <p:nvPr/>
        </p:nvSpPr>
        <p:spPr>
          <a:xfrm>
            <a:off x="12808585" y="1630680"/>
            <a:ext cx="2727325" cy="4438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>
                <a:sym typeface="+mn-ea"/>
              </a:rPr>
              <a:t>Beam Propagatio</a:t>
            </a:r>
            <a:r>
              <a:rPr lang="zh-CN" altLang="en-US" b="1">
                <a:sym typeface="+mn-ea"/>
              </a:rPr>
              <a:t>n</a:t>
            </a:r>
            <a:endParaRPr lang="en-US" altLang="zh-CN" b="1">
              <a:sym typeface="+mn-ea"/>
            </a:endParaRPr>
          </a:p>
        </p:txBody>
      </p:sp>
      <p:sp>
        <p:nvSpPr>
          <p:cNvPr id="270" name="圆角矩形 269"/>
          <p:cNvSpPr/>
          <p:nvPr/>
        </p:nvSpPr>
        <p:spPr>
          <a:xfrm>
            <a:off x="12939395" y="2115820"/>
            <a:ext cx="2520000" cy="540000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t" anchorCtr="0" forceAA="0" compatLnSpc="1">
            <a:noAutofit/>
          </a:bodyPr>
          <a:p>
            <a:pPr lvl="0" algn="ctr">
              <a:lnSpc>
                <a:spcPct val="120000"/>
              </a:lnSpc>
              <a:buClrTx/>
              <a:buSzTx/>
              <a:buFontTx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Range Computation</a:t>
            </a: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sp>
        <p:nvSpPr>
          <p:cNvPr id="271" name="圆角矩形 270"/>
          <p:cNvSpPr/>
          <p:nvPr/>
        </p:nvSpPr>
        <p:spPr>
          <a:xfrm>
            <a:off x="12939395" y="2929255"/>
            <a:ext cx="2520000" cy="540000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t" anchorCtr="0" forceAA="0" compatLnSpc="1">
            <a:noAutofit/>
          </a:bodyPr>
          <a:p>
            <a:pPr lvl="0" algn="ctr">
              <a:lnSpc>
                <a:spcPct val="120000"/>
              </a:lnSpc>
              <a:buClrTx/>
              <a:buSzTx/>
              <a:buFontTx/>
            </a:pPr>
            <a:r>
              <a:rPr lang="zh-CN" altLang="en-US">
                <a:sym typeface="+mn-ea"/>
              </a:rPr>
              <a:t>Reflectivity Modeling</a:t>
            </a: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sp>
        <p:nvSpPr>
          <p:cNvPr id="273" name="矩形 272"/>
          <p:cNvSpPr/>
          <p:nvPr/>
        </p:nvSpPr>
        <p:spPr>
          <a:xfrm>
            <a:off x="15803880" y="1631950"/>
            <a:ext cx="2728595" cy="210121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1600">
              <a:sym typeface="+mn-ea"/>
            </a:endParaRPr>
          </a:p>
        </p:txBody>
      </p:sp>
      <p:sp>
        <p:nvSpPr>
          <p:cNvPr id="274" name="文本框 273"/>
          <p:cNvSpPr txBox="1"/>
          <p:nvPr/>
        </p:nvSpPr>
        <p:spPr>
          <a:xfrm>
            <a:off x="15805150" y="1637665"/>
            <a:ext cx="2727325" cy="4438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b="1">
                <a:sym typeface="+mn-ea"/>
              </a:rPr>
              <a:t>Point Cloud Generation</a:t>
            </a:r>
            <a:endParaRPr lang="zh-CN" altLang="en-US" b="1">
              <a:sym typeface="+mn-ea"/>
            </a:endParaRPr>
          </a:p>
          <a:p>
            <a:pPr algn="ctr"/>
            <a:endParaRPr lang="zh-CN" altLang="en-US" b="1">
              <a:sym typeface="+mn-ea"/>
            </a:endParaRPr>
          </a:p>
        </p:txBody>
      </p:sp>
      <p:sp>
        <p:nvSpPr>
          <p:cNvPr id="275" name="文本框 274"/>
          <p:cNvSpPr txBox="1"/>
          <p:nvPr/>
        </p:nvSpPr>
        <p:spPr>
          <a:xfrm>
            <a:off x="15963900" y="2115820"/>
            <a:ext cx="2255520" cy="3943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endParaRPr lang="zh-CN" altLang="en-US"/>
          </a:p>
        </p:txBody>
      </p:sp>
      <p:sp>
        <p:nvSpPr>
          <p:cNvPr id="276" name="圆角矩形 275"/>
          <p:cNvSpPr/>
          <p:nvPr/>
        </p:nvSpPr>
        <p:spPr>
          <a:xfrm>
            <a:off x="15935960" y="2115820"/>
            <a:ext cx="2520000" cy="540000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t" anchorCtr="0" forceAA="0" compatLnSpc="1">
            <a:noAutofit/>
          </a:bodyPr>
          <a:p>
            <a:pPr lvl="0" algn="ctr">
              <a:lnSpc>
                <a:spcPct val="120000"/>
              </a:lnSpc>
              <a:buClrTx/>
              <a:buSzTx/>
              <a:buFontTx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Point Computation</a:t>
            </a: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sp>
        <p:nvSpPr>
          <p:cNvPr id="277" name="圆角矩形 276"/>
          <p:cNvSpPr/>
          <p:nvPr/>
        </p:nvSpPr>
        <p:spPr>
          <a:xfrm>
            <a:off x="15935960" y="2929255"/>
            <a:ext cx="2548255" cy="539750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t" anchorCtr="0" forceAA="0" compatLnSpc="1">
            <a:noAutofit/>
          </a:bodyPr>
          <a:p>
            <a:pPr lvl="0" algn="ctr">
              <a:lnSpc>
                <a:spcPct val="120000"/>
              </a:lnSpc>
              <a:buClrTx/>
              <a:buSzTx/>
              <a:buFontTx/>
            </a:pPr>
            <a:endParaRPr lang="en-US" altLang="zh-CN">
              <a:sym typeface="+mn-ea"/>
            </a:endParaRPr>
          </a:p>
        </p:txBody>
      </p:sp>
      <p:sp>
        <p:nvSpPr>
          <p:cNvPr id="279" name="圆角矩形 278"/>
          <p:cNvSpPr/>
          <p:nvPr>
            <p:custDataLst>
              <p:tags r:id="rId3"/>
            </p:custDataLst>
          </p:nvPr>
        </p:nvSpPr>
        <p:spPr>
          <a:xfrm>
            <a:off x="11367135" y="5081270"/>
            <a:ext cx="5048885" cy="2005330"/>
          </a:xfrm>
          <a:prstGeom prst="roundRect">
            <a:avLst>
              <a:gd name="adj" fmla="val 5234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80" name="334E55B0-647D-440b-865C-3EC943EB4CBC-3" descr="/Users/gaoxinyu/Library/Containers/com.kingsoft.wpsoffice.mac/Data/tmp/wpsoffice.cEbuJowpsoffic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12245" y="6153785"/>
            <a:ext cx="2155190" cy="636905"/>
          </a:xfrm>
          <a:prstGeom prst="rect">
            <a:avLst/>
          </a:prstGeom>
        </p:spPr>
      </p:pic>
      <p:sp>
        <p:nvSpPr>
          <p:cNvPr id="281" name="文本框 280"/>
          <p:cNvSpPr txBox="1"/>
          <p:nvPr>
            <p:custDataLst>
              <p:tags r:id="rId5"/>
            </p:custDataLst>
          </p:nvPr>
        </p:nvSpPr>
        <p:spPr>
          <a:xfrm>
            <a:off x="11431905" y="5137150"/>
            <a:ext cx="4983480" cy="6623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>
                <a:sym typeface="+mn-ea"/>
              </a:rPr>
              <a:t>Diversity</a:t>
            </a:r>
            <a:r>
              <a:rPr lang="en-US" altLang="zh-CN" b="1"/>
              <a:t> Guidance</a:t>
            </a:r>
            <a:r>
              <a:rPr lang="en-US" altLang="zh-CN"/>
              <a:t> : </a:t>
            </a:r>
            <a:r>
              <a:rPr lang="zh-CN" altLang="en-US">
                <a:sym typeface="+mn-ea"/>
              </a:rPr>
              <a:t>Measuring the </a:t>
            </a:r>
            <a:r>
              <a:rPr lang="en-US" altLang="zh-CN">
                <a:sym typeface="+mn-ea"/>
              </a:rPr>
              <a:t>diversity </a:t>
            </a:r>
            <a:r>
              <a:rPr lang="zh-CN" altLang="en-US">
                <a:sym typeface="+mn-ea"/>
              </a:rPr>
              <a:t>of </a:t>
            </a:r>
            <a:r>
              <a:rPr lang="en-US" altLang="zh-CN">
                <a:sym typeface="+mn-ea"/>
              </a:rPr>
              <a:t>generate point cloud S</a:t>
            </a:r>
            <a:endParaRPr lang="en-US" altLang="zh-CN">
              <a:sym typeface="+mn-ea"/>
            </a:endParaRPr>
          </a:p>
        </p:txBody>
      </p:sp>
      <p:grpSp>
        <p:nvGrpSpPr>
          <p:cNvPr id="282" name="组合 281"/>
          <p:cNvGrpSpPr/>
          <p:nvPr/>
        </p:nvGrpSpPr>
        <p:grpSpPr>
          <a:xfrm>
            <a:off x="13916660" y="5905291"/>
            <a:ext cx="2372103" cy="975298"/>
            <a:chOff x="2806" y="-6735"/>
            <a:chExt cx="6271" cy="2677"/>
          </a:xfrm>
        </p:grpSpPr>
        <p:sp>
          <p:nvSpPr>
            <p:cNvPr id="283" name="椭圆 282"/>
            <p:cNvSpPr/>
            <p:nvPr/>
          </p:nvSpPr>
          <p:spPr>
            <a:xfrm>
              <a:off x="2806" y="-6735"/>
              <a:ext cx="6271" cy="2677"/>
            </a:xfrm>
            <a:prstGeom prst="ellipse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pic>
          <p:nvPicPr>
            <p:cNvPr id="284" name="图片 283" descr="交通标志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400" y="-6233"/>
              <a:ext cx="1154" cy="1154"/>
            </a:xfrm>
            <a:prstGeom prst="rect">
              <a:avLst/>
            </a:prstGeom>
          </p:spPr>
        </p:pic>
        <p:pic>
          <p:nvPicPr>
            <p:cNvPr id="285" name="图片 284" descr="步行"/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965" y="-5830"/>
              <a:ext cx="853" cy="853"/>
            </a:xfrm>
            <a:prstGeom prst="rect">
              <a:avLst/>
            </a:prstGeom>
          </p:spPr>
        </p:pic>
        <p:pic>
          <p:nvPicPr>
            <p:cNvPr id="286" name="图片 285" descr="_汽车票"/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6415" y="-6449"/>
              <a:ext cx="918" cy="918"/>
            </a:xfrm>
            <a:prstGeom prst="rect">
              <a:avLst/>
            </a:prstGeom>
          </p:spPr>
        </p:pic>
        <p:pic>
          <p:nvPicPr>
            <p:cNvPr id="287" name="图片 286" descr="步行"/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578" y="-5364"/>
              <a:ext cx="725" cy="725"/>
            </a:xfrm>
            <a:prstGeom prst="rect">
              <a:avLst/>
            </a:prstGeom>
          </p:spPr>
        </p:pic>
        <p:pic>
          <p:nvPicPr>
            <p:cNvPr id="288" name="图片 287" descr="_汽车票"/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7333" y="-6158"/>
              <a:ext cx="918" cy="918"/>
            </a:xfrm>
            <a:prstGeom prst="rect">
              <a:avLst/>
            </a:prstGeom>
          </p:spPr>
        </p:pic>
        <p:pic>
          <p:nvPicPr>
            <p:cNvPr id="289" name="图片 288" descr="_汽车票"/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6415" y="-5531"/>
              <a:ext cx="918" cy="918"/>
            </a:xfrm>
            <a:prstGeom prst="rect">
              <a:avLst/>
            </a:prstGeom>
          </p:spPr>
        </p:pic>
        <p:pic>
          <p:nvPicPr>
            <p:cNvPr id="290" name="图片 289" descr="交通标志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063" y="-5577"/>
              <a:ext cx="1154" cy="1154"/>
            </a:xfrm>
            <a:prstGeom prst="rect">
              <a:avLst/>
            </a:prstGeom>
          </p:spPr>
        </p:pic>
        <p:pic>
          <p:nvPicPr>
            <p:cNvPr id="291" name="图片 290" descr="自行车-母婴"/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4978" y="-6688"/>
              <a:ext cx="1105" cy="1110"/>
            </a:xfrm>
            <a:prstGeom prst="rect">
              <a:avLst/>
            </a:prstGeom>
          </p:spPr>
        </p:pic>
      </p:grpSp>
      <p:sp>
        <p:nvSpPr>
          <p:cNvPr id="293" name="文本框 292"/>
          <p:cNvSpPr txBox="1"/>
          <p:nvPr/>
        </p:nvSpPr>
        <p:spPr>
          <a:xfrm>
            <a:off x="9664700" y="6370955"/>
            <a:ext cx="16605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/>
              <a:t>Transformed</a:t>
            </a:r>
            <a:endParaRPr lang="en-US" altLang="zh-CN" b="1"/>
          </a:p>
          <a:p>
            <a:pPr algn="ctr"/>
            <a:r>
              <a:rPr lang="en-US" altLang="zh-CN" b="1"/>
              <a:t>point cloud</a:t>
            </a:r>
            <a:endParaRPr lang="en-US" altLang="zh-CN" b="1"/>
          </a:p>
        </p:txBody>
      </p:sp>
      <p:cxnSp>
        <p:nvCxnSpPr>
          <p:cNvPr id="294" name="直接箭头连接符 293"/>
          <p:cNvCxnSpPr/>
          <p:nvPr/>
        </p:nvCxnSpPr>
        <p:spPr>
          <a:xfrm>
            <a:off x="10920730" y="5871845"/>
            <a:ext cx="45783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95" name="菱形 294"/>
          <p:cNvSpPr/>
          <p:nvPr/>
        </p:nvSpPr>
        <p:spPr>
          <a:xfrm>
            <a:off x="16694785" y="5166995"/>
            <a:ext cx="1569085" cy="759460"/>
          </a:xfrm>
          <a:prstGeom prst="diamond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000">
              <a:solidFill>
                <a:schemeClr val="tx1"/>
              </a:solidFill>
            </a:endParaRPr>
          </a:p>
        </p:txBody>
      </p:sp>
      <p:sp>
        <p:nvSpPr>
          <p:cNvPr id="296" name="流程图: 过程 295"/>
          <p:cNvSpPr/>
          <p:nvPr>
            <p:custDataLst>
              <p:tags r:id="rId14"/>
            </p:custDataLst>
          </p:nvPr>
        </p:nvSpPr>
        <p:spPr>
          <a:xfrm>
            <a:off x="16880840" y="6504940"/>
            <a:ext cx="1217295" cy="555625"/>
          </a:xfrm>
          <a:prstGeom prst="flowChartProcess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>
                <a:solidFill>
                  <a:schemeClr val="tx1"/>
                </a:solidFill>
              </a:rPr>
              <a:t>Discarded</a:t>
            </a:r>
            <a:endParaRPr lang="en-US" altLang="zh-CN" sz="1600">
              <a:solidFill>
                <a:schemeClr val="tx1"/>
              </a:solidFill>
            </a:endParaRPr>
          </a:p>
        </p:txBody>
      </p:sp>
      <p:cxnSp>
        <p:nvCxnSpPr>
          <p:cNvPr id="297" name="直接箭头连接符 296"/>
          <p:cNvCxnSpPr>
            <a:stCxn id="295" idx="2"/>
            <a:endCxn id="296" idx="0"/>
          </p:cNvCxnSpPr>
          <p:nvPr/>
        </p:nvCxnSpPr>
        <p:spPr>
          <a:xfrm>
            <a:off x="17479645" y="5926455"/>
            <a:ext cx="10160" cy="57848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98" name="文本框 297"/>
          <p:cNvSpPr txBox="1"/>
          <p:nvPr/>
        </p:nvSpPr>
        <p:spPr>
          <a:xfrm>
            <a:off x="17637760" y="5963920"/>
            <a:ext cx="42037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000"/>
              <a:t>N</a:t>
            </a:r>
            <a:endParaRPr lang="en-US" altLang="zh-CN" sz="1000"/>
          </a:p>
        </p:txBody>
      </p:sp>
      <p:cxnSp>
        <p:nvCxnSpPr>
          <p:cNvPr id="301" name="直接箭头连接符 300"/>
          <p:cNvCxnSpPr/>
          <p:nvPr/>
        </p:nvCxnSpPr>
        <p:spPr>
          <a:xfrm>
            <a:off x="16407765" y="5541645"/>
            <a:ext cx="28702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02" name="文本框 301"/>
          <p:cNvSpPr txBox="1"/>
          <p:nvPr/>
        </p:nvSpPr>
        <p:spPr>
          <a:xfrm>
            <a:off x="9542780" y="7750175"/>
            <a:ext cx="3876675" cy="5410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600"/>
              <a:t>Add seeds back to the queue</a:t>
            </a:r>
            <a:endParaRPr lang="en-US" altLang="zh-CN" sz="1600"/>
          </a:p>
        </p:txBody>
      </p:sp>
      <p:sp>
        <p:nvSpPr>
          <p:cNvPr id="303" name="文本框 302"/>
          <p:cNvSpPr txBox="1"/>
          <p:nvPr/>
        </p:nvSpPr>
        <p:spPr>
          <a:xfrm>
            <a:off x="18904585" y="1978025"/>
            <a:ext cx="17170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/>
              <a:t>Test dataset</a:t>
            </a:r>
            <a:endParaRPr lang="en-US" altLang="zh-CN" b="1"/>
          </a:p>
        </p:txBody>
      </p:sp>
      <p:grpSp>
        <p:nvGrpSpPr>
          <p:cNvPr id="304" name="组合 303"/>
          <p:cNvGrpSpPr/>
          <p:nvPr/>
        </p:nvGrpSpPr>
        <p:grpSpPr>
          <a:xfrm>
            <a:off x="19321145" y="1059180"/>
            <a:ext cx="902335" cy="862965"/>
            <a:chOff x="2244" y="177"/>
            <a:chExt cx="960" cy="960"/>
          </a:xfrm>
        </p:grpSpPr>
        <p:pic>
          <p:nvPicPr>
            <p:cNvPr id="305" name="图片 304" descr="24gl-fileEmpty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2244" y="177"/>
              <a:ext cx="960" cy="960"/>
            </a:xfrm>
            <a:prstGeom prst="rect">
              <a:avLst/>
            </a:prstGeom>
          </p:spPr>
        </p:pic>
        <p:pic>
          <p:nvPicPr>
            <p:cNvPr id="306" name="图片 305" descr="点云数据"/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2412" y="506"/>
              <a:ext cx="671" cy="483"/>
            </a:xfrm>
            <a:prstGeom prst="rect">
              <a:avLst/>
            </a:prstGeom>
          </p:spPr>
        </p:pic>
      </p:grpSp>
      <p:cxnSp>
        <p:nvCxnSpPr>
          <p:cNvPr id="307" name="直接箭头连接符 306"/>
          <p:cNvCxnSpPr/>
          <p:nvPr/>
        </p:nvCxnSpPr>
        <p:spPr>
          <a:xfrm>
            <a:off x="18685510" y="1458595"/>
            <a:ext cx="61468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09" name="图片 308" descr="激光雷达"/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9306540" y="3295650"/>
            <a:ext cx="866140" cy="866140"/>
          </a:xfrm>
          <a:prstGeom prst="rect">
            <a:avLst/>
          </a:prstGeom>
        </p:spPr>
      </p:pic>
      <p:sp>
        <p:nvSpPr>
          <p:cNvPr id="310" name="文本框 309"/>
          <p:cNvSpPr txBox="1"/>
          <p:nvPr/>
        </p:nvSpPr>
        <p:spPr>
          <a:xfrm>
            <a:off x="18685510" y="4161790"/>
            <a:ext cx="2265680" cy="5810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 b="1">
                <a:sym typeface="+mn-ea"/>
              </a:rPr>
              <a:t>LiDAR-based </a:t>
            </a:r>
            <a:endParaRPr lang="en-US" altLang="zh-CN" b="1">
              <a:sym typeface="+mn-ea"/>
            </a:endParaRPr>
          </a:p>
          <a:p>
            <a:pPr algn="ctr"/>
            <a:r>
              <a:rPr lang="en-US" altLang="zh-CN" b="1">
                <a:sym typeface="+mn-ea"/>
              </a:rPr>
              <a:t>perception system</a:t>
            </a:r>
            <a:endParaRPr lang="en-US" altLang="zh-CN" b="1">
              <a:sym typeface="+mn-ea"/>
            </a:endParaRPr>
          </a:p>
        </p:txBody>
      </p:sp>
      <p:pic>
        <p:nvPicPr>
          <p:cNvPr id="312" name="图片 311" descr="测试报告"/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9367500" y="5722620"/>
            <a:ext cx="828040" cy="828040"/>
          </a:xfrm>
          <a:prstGeom prst="rect">
            <a:avLst/>
          </a:prstGeom>
        </p:spPr>
      </p:pic>
      <p:sp>
        <p:nvSpPr>
          <p:cNvPr id="313" name="文本框 312"/>
          <p:cNvSpPr txBox="1"/>
          <p:nvPr/>
        </p:nvSpPr>
        <p:spPr>
          <a:xfrm>
            <a:off x="18740120" y="6622415"/>
            <a:ext cx="2155825" cy="6927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 b="1">
                <a:sym typeface="+mn-ea"/>
              </a:rPr>
              <a:t>Test  Report</a:t>
            </a:r>
            <a:endParaRPr lang="en-US" altLang="zh-CN" b="1">
              <a:sym typeface="+mn-ea"/>
            </a:endParaRPr>
          </a:p>
        </p:txBody>
      </p:sp>
      <p:grpSp>
        <p:nvGrpSpPr>
          <p:cNvPr id="315" name="组合 314"/>
          <p:cNvGrpSpPr/>
          <p:nvPr/>
        </p:nvGrpSpPr>
        <p:grpSpPr>
          <a:xfrm>
            <a:off x="525145" y="895350"/>
            <a:ext cx="935990" cy="975360"/>
            <a:chOff x="873" y="721"/>
            <a:chExt cx="1360" cy="1360"/>
          </a:xfrm>
        </p:grpSpPr>
        <p:pic>
          <p:nvPicPr>
            <p:cNvPr id="316" name="图片 315" descr="点云数据"/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1208" y="1220"/>
              <a:ext cx="692" cy="488"/>
            </a:xfrm>
            <a:prstGeom prst="rect">
              <a:avLst/>
            </a:prstGeom>
          </p:spPr>
        </p:pic>
        <p:pic>
          <p:nvPicPr>
            <p:cNvPr id="317" name="图片 316" descr="数据集"/>
            <p:cNvPicPr>
              <a:picLocks noChangeAspect="1"/>
            </p:cNvPicPr>
            <p:nvPr/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873" y="721"/>
              <a:ext cx="1360" cy="1360"/>
            </a:xfrm>
            <a:prstGeom prst="rect">
              <a:avLst/>
            </a:prstGeom>
          </p:spPr>
        </p:pic>
      </p:grpSp>
      <p:grpSp>
        <p:nvGrpSpPr>
          <p:cNvPr id="318" name="组合 317"/>
          <p:cNvGrpSpPr/>
          <p:nvPr/>
        </p:nvGrpSpPr>
        <p:grpSpPr>
          <a:xfrm>
            <a:off x="593090" y="3181350"/>
            <a:ext cx="838835" cy="862330"/>
            <a:chOff x="873" y="3352"/>
            <a:chExt cx="1260" cy="1234"/>
          </a:xfrm>
        </p:grpSpPr>
        <p:pic>
          <p:nvPicPr>
            <p:cNvPr id="319" name="图片 318" descr="24gl-fileEmpty"/>
            <p:cNvPicPr>
              <a:picLocks noChangeAspect="1"/>
            </p:cNvPicPr>
            <p:nvPr>
              <p:custDataLst>
                <p:tags r:id="rId26"/>
              </p:custDataLst>
            </p:nvPr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873" y="3352"/>
              <a:ext cx="1261" cy="1235"/>
            </a:xfrm>
            <a:prstGeom prst="rect">
              <a:avLst/>
            </a:prstGeom>
          </p:spPr>
        </p:pic>
        <p:pic>
          <p:nvPicPr>
            <p:cNvPr id="320" name="图片 319" descr="点云数据"/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1168" y="3783"/>
              <a:ext cx="692" cy="488"/>
            </a:xfrm>
            <a:prstGeom prst="rect">
              <a:avLst/>
            </a:prstGeom>
          </p:spPr>
        </p:pic>
      </p:grpSp>
      <p:sp>
        <p:nvSpPr>
          <p:cNvPr id="321" name="文本框 320"/>
          <p:cNvSpPr txBox="1"/>
          <p:nvPr/>
        </p:nvSpPr>
        <p:spPr>
          <a:xfrm>
            <a:off x="2440940" y="1012190"/>
            <a:ext cx="64325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800" b="1">
                <a:sym typeface="+mn-ea"/>
              </a:rPr>
              <a:t>Semantic Entity Insertion Operator</a:t>
            </a:r>
            <a:endParaRPr lang="en-US" altLang="zh-CN" sz="2800" b="1">
              <a:sym typeface="+mn-ea"/>
            </a:endParaRPr>
          </a:p>
        </p:txBody>
      </p:sp>
      <p:sp>
        <p:nvSpPr>
          <p:cNvPr id="322" name="矩形 321"/>
          <p:cNvSpPr/>
          <p:nvPr/>
        </p:nvSpPr>
        <p:spPr>
          <a:xfrm>
            <a:off x="2096135" y="895985"/>
            <a:ext cx="7072630" cy="6550660"/>
          </a:xfrm>
          <a:prstGeom prst="rect">
            <a:avLst/>
          </a:prstGeom>
          <a:noFill/>
          <a:ln w="28575" cmpd="dbl">
            <a:solidFill>
              <a:schemeClr val="tx1"/>
            </a:solidFill>
            <a:prstDash val="lgDash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328" name="组合 327"/>
          <p:cNvGrpSpPr/>
          <p:nvPr/>
        </p:nvGrpSpPr>
        <p:grpSpPr>
          <a:xfrm>
            <a:off x="6934200" y="2197735"/>
            <a:ext cx="2234565" cy="1303020"/>
            <a:chOff x="10806" y="4579"/>
            <a:chExt cx="3394" cy="1723"/>
          </a:xfrm>
        </p:grpSpPr>
        <p:sp>
          <p:nvSpPr>
            <p:cNvPr id="256" name="文本框 255"/>
            <p:cNvSpPr txBox="1"/>
            <p:nvPr/>
          </p:nvSpPr>
          <p:spPr>
            <a:xfrm>
              <a:off x="10806" y="5623"/>
              <a:ext cx="3394" cy="67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n-US" altLang="zh-CN" b="1"/>
                <a:t>Physically</a:t>
              </a:r>
              <a:endParaRPr lang="en-US" altLang="zh-CN" b="1"/>
            </a:p>
            <a:p>
              <a:pPr algn="ctr"/>
              <a:r>
                <a:rPr lang="en-US" altLang="zh-CN" b="1"/>
                <a:t> and Semantic Plausible </a:t>
              </a:r>
              <a:r>
                <a:rPr lang="en-US" altLang="zh-CN" b="1"/>
                <a:t>Pose</a:t>
              </a:r>
              <a:endParaRPr lang="en-US" altLang="zh-CN" b="1"/>
            </a:p>
          </p:txBody>
        </p:sp>
        <p:pic>
          <p:nvPicPr>
            <p:cNvPr id="458" name="图片 457" descr="平面直角坐标系"/>
            <p:cNvPicPr>
              <a:picLocks noChangeAspect="1"/>
            </p:cNvPicPr>
            <p:nvPr/>
          </p:nvPicPr>
          <p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11468" y="4579"/>
              <a:ext cx="968" cy="983"/>
            </a:xfrm>
            <a:prstGeom prst="rect">
              <a:avLst/>
            </a:prstGeom>
          </p:spPr>
        </p:pic>
        <p:grpSp>
          <p:nvGrpSpPr>
            <p:cNvPr id="459" name="组合 458"/>
            <p:cNvGrpSpPr/>
            <p:nvPr/>
          </p:nvGrpSpPr>
          <p:grpSpPr>
            <a:xfrm rot="18960000">
              <a:off x="11911" y="4720"/>
              <a:ext cx="117" cy="524"/>
              <a:chOff x="14084" y="7910"/>
              <a:chExt cx="660" cy="2210"/>
            </a:xfrm>
            <a:solidFill>
              <a:schemeClr val="accent1">
                <a:lumMod val="75000"/>
              </a:schemeClr>
            </a:solidFill>
          </p:grpSpPr>
          <p:grpSp>
            <p:nvGrpSpPr>
              <p:cNvPr id="460" name="组合 459"/>
              <p:cNvGrpSpPr/>
              <p:nvPr/>
            </p:nvGrpSpPr>
            <p:grpSpPr>
              <a:xfrm>
                <a:off x="14084" y="7910"/>
                <a:ext cx="660" cy="2211"/>
                <a:chOff x="14084" y="7910"/>
                <a:chExt cx="660" cy="2211"/>
              </a:xfrm>
              <a:grpFill/>
            </p:grpSpPr>
            <p:sp>
              <p:nvSpPr>
                <p:cNvPr id="461" name="矩形 460"/>
                <p:cNvSpPr/>
                <p:nvPr/>
              </p:nvSpPr>
              <p:spPr>
                <a:xfrm>
                  <a:off x="14084" y="8711"/>
                  <a:ext cx="660" cy="1411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cxnSp>
              <p:nvCxnSpPr>
                <p:cNvPr id="462" name="直接箭头连接符 461"/>
                <p:cNvCxnSpPr>
                  <a:stCxn id="461" idx="0"/>
                </p:cNvCxnSpPr>
                <p:nvPr/>
              </p:nvCxnSpPr>
              <p:spPr>
                <a:xfrm flipH="1" flipV="1">
                  <a:off x="14403" y="7910"/>
                  <a:ext cx="0" cy="801"/>
                </a:xfrm>
                <a:prstGeom prst="straightConnector1">
                  <a:avLst/>
                </a:prstGeom>
                <a:grpFill/>
                <a:ln w="6350">
                  <a:solidFill>
                    <a:schemeClr val="tx1"/>
                  </a:solidFill>
                  <a:tailEnd type="arrow" w="sm" len="med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63" name="椭圆 462"/>
              <p:cNvSpPr/>
              <p:nvPr/>
            </p:nvSpPr>
            <p:spPr>
              <a:xfrm>
                <a:off x="14355" y="9341"/>
                <a:ext cx="119" cy="119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464" name="组合 463"/>
            <p:cNvGrpSpPr/>
            <p:nvPr/>
          </p:nvGrpSpPr>
          <p:grpSpPr>
            <a:xfrm>
              <a:off x="11549" y="5315"/>
              <a:ext cx="193" cy="192"/>
              <a:chOff x="7747" y="9660"/>
              <a:chExt cx="176" cy="192"/>
            </a:xfrm>
          </p:grpSpPr>
          <p:sp>
            <p:nvSpPr>
              <p:cNvPr id="465" name="椭圆 464"/>
              <p:cNvSpPr/>
              <p:nvPr/>
            </p:nvSpPr>
            <p:spPr>
              <a:xfrm>
                <a:off x="7747" y="9660"/>
                <a:ext cx="176" cy="192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66" name="椭圆 465"/>
              <p:cNvSpPr/>
              <p:nvPr>
                <p:custDataLst>
                  <p:tags r:id="rId29"/>
                </p:custDataLst>
              </p:nvPr>
            </p:nvSpPr>
            <p:spPr>
              <a:xfrm>
                <a:off x="7812" y="9724"/>
                <a:ext cx="57" cy="57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68" name="文本框 467"/>
                <p:cNvSpPr txBox="1"/>
                <p:nvPr/>
              </p:nvSpPr>
              <p:spPr>
                <a:xfrm>
                  <a:off x="12002" y="4680"/>
                  <a:ext cx="1385" cy="453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altLang="zh-CN" sz="1400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x</m:t>
                        </m:r>
                        <m:r>
                          <a:rPr lang="en-US" altLang="zh-CN" sz="1400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CN" sz="1400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y</m:t>
                        </m:r>
                        <m:r>
                          <a:rPr lang="en-US" altLang="zh-CN" sz="1400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CN" sz="1400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z</m:t>
                        </m:r>
                        <m:r>
                          <a:rPr lang="en-US" altLang="zh-CN" sz="1400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1400" i="1">
                                <a:latin typeface="Cambria Math" panose="02040503050406030204" charset="0"/>
                                <a:cs typeface="Cambria Math" panose="02040503050406030204" charset="0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lang="en-US" altLang="zh-CN" sz="1400" i="1">
                                <a:latin typeface="Cambria Math" panose="02040503050406030204" charset="0"/>
                                <a:cs typeface="Cambria Math" panose="02040503050406030204" charset="0"/>
                                <a:sym typeface="+mn-ea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sz="1400" i="1">
                                <a:latin typeface="Cambria Math" panose="02040503050406030204" charset="0"/>
                                <a:cs typeface="Cambria Math" panose="02040503050406030204" charset="0"/>
                                <a:sym typeface="+mn-ea"/>
                              </a:rPr>
                              <m:t>𝑧</m:t>
                            </m:r>
                          </m:sub>
                        </m:sSub>
                        <m:r>
                          <a:rPr lang="en-US" altLang="zh-CN" sz="1400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)</m:t>
                        </m:r>
                      </m:oMath>
                    </m:oMathPara>
                  </a14:m>
                  <a:endParaRPr lang="en-US" altLang="zh-CN" sz="1400">
                    <a:latin typeface="Cambria Math" panose="02040503050406030204" charset="0"/>
                    <a:cs typeface="Cambria Math" panose="02040503050406030204" charset="0"/>
                    <a:sym typeface="+mn-ea"/>
                  </a:endParaRPr>
                </a:p>
              </p:txBody>
            </p:sp>
          </mc:Choice>
          <mc:Fallback>
            <p:sp>
              <p:nvSpPr>
                <p:cNvPr id="468" name="文本框 46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02" y="4680"/>
                  <a:ext cx="1385" cy="453"/>
                </a:xfrm>
                <a:prstGeom prst="rect">
                  <a:avLst/>
                </a:prstGeom>
                <a:blipFill rotWithShape="1">
                  <a:blip r:embed="rId30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" name="直接箭头连接符 1"/>
          <p:cNvCxnSpPr>
            <a:stCxn id="228" idx="3"/>
          </p:cNvCxnSpPr>
          <p:nvPr/>
        </p:nvCxnSpPr>
        <p:spPr>
          <a:xfrm>
            <a:off x="6714490" y="5705475"/>
            <a:ext cx="3810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439" name="图片 438"/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32"/>
          <a:stretch>
            <a:fillRect/>
          </a:stretch>
        </p:blipFill>
        <p:spPr>
          <a:xfrm>
            <a:off x="7465695" y="4679950"/>
            <a:ext cx="1217930" cy="69278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934200" y="5422900"/>
            <a:ext cx="2155190" cy="4311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/>
              <a:t>Entity </a:t>
            </a:r>
            <a:endParaRPr lang="en-US" altLang="zh-CN" b="1"/>
          </a:p>
          <a:p>
            <a:pPr algn="ctr"/>
            <a:r>
              <a:rPr lang="en-US" altLang="zh-CN" b="1"/>
              <a:t>instance</a:t>
            </a:r>
            <a:endParaRPr lang="en-US" altLang="zh-CN" b="1"/>
          </a:p>
        </p:txBody>
      </p:sp>
      <p:sp>
        <p:nvSpPr>
          <p:cNvPr id="6" name="文本框 5"/>
          <p:cNvSpPr txBox="1"/>
          <p:nvPr/>
        </p:nvSpPr>
        <p:spPr>
          <a:xfrm>
            <a:off x="9542780" y="1035685"/>
            <a:ext cx="9065260" cy="4794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buClrTx/>
              <a:buSzTx/>
              <a:buFontTx/>
            </a:pPr>
            <a:r>
              <a:rPr lang="en-US" altLang="zh-CN" sz="2800" b="1"/>
              <a:t>Semantic-Aware LiDAR Simulation</a:t>
            </a:r>
            <a:endParaRPr lang="en-US" altLang="zh-CN" sz="2800" b="1"/>
          </a:p>
        </p:txBody>
      </p:sp>
      <p:sp>
        <p:nvSpPr>
          <p:cNvPr id="7" name="文本框 6"/>
          <p:cNvSpPr txBox="1"/>
          <p:nvPr/>
        </p:nvSpPr>
        <p:spPr>
          <a:xfrm>
            <a:off x="9664065" y="4498340"/>
            <a:ext cx="8944610" cy="6064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 sz="2800" b="1">
                <a:sym typeface="+mn-ea"/>
              </a:rPr>
              <a:t>Semantic Diversity</a:t>
            </a:r>
            <a:r>
              <a:rPr lang="en-US" altLang="zh-CN" sz="2800" b="1">
                <a:sym typeface="+mn-ea"/>
              </a:rPr>
              <a:t>-</a:t>
            </a:r>
            <a:r>
              <a:rPr lang="en-US" altLang="zh-CN" sz="2800" b="1">
                <a:sym typeface="+mn-ea"/>
              </a:rPr>
              <a:t>Guided Testing</a:t>
            </a:r>
            <a:endParaRPr lang="en-US" altLang="zh-CN" sz="2800" b="1">
              <a:sym typeface="+mn-ea"/>
            </a:endParaRPr>
          </a:p>
        </p:txBody>
      </p:sp>
      <p:cxnSp>
        <p:nvCxnSpPr>
          <p:cNvPr id="9" name="直接箭头连接符 8"/>
          <p:cNvCxnSpPr/>
          <p:nvPr/>
        </p:nvCxnSpPr>
        <p:spPr>
          <a:xfrm>
            <a:off x="6714490" y="2715260"/>
            <a:ext cx="3810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" name="圆角矩形 18"/>
          <p:cNvSpPr/>
          <p:nvPr/>
        </p:nvSpPr>
        <p:spPr>
          <a:xfrm>
            <a:off x="2596515" y="2984500"/>
            <a:ext cx="3877310" cy="494030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576830" y="3035300"/>
            <a:ext cx="3896360" cy="4311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>
                <a:sym typeface="+mn-ea"/>
              </a:rPr>
              <a:t>Semantic Constraints</a:t>
            </a:r>
            <a:endParaRPr lang="en-US" altLang="zh-CN" b="1"/>
          </a:p>
        </p:txBody>
      </p:sp>
      <p:sp>
        <p:nvSpPr>
          <p:cNvPr id="22" name="圆角矩形 21"/>
          <p:cNvSpPr/>
          <p:nvPr/>
        </p:nvSpPr>
        <p:spPr>
          <a:xfrm>
            <a:off x="2597150" y="2226310"/>
            <a:ext cx="3877310" cy="494030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2597150" y="2277110"/>
            <a:ext cx="3896995" cy="4940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>
                <a:sym typeface="+mn-ea"/>
              </a:rPr>
              <a:t>Spatial Constraints</a:t>
            </a:r>
            <a:endParaRPr lang="en-US" altLang="zh-CN" b="1"/>
          </a:p>
        </p:txBody>
      </p:sp>
      <p:sp>
        <p:nvSpPr>
          <p:cNvPr id="24" name="文本框 23"/>
          <p:cNvSpPr txBox="1"/>
          <p:nvPr/>
        </p:nvSpPr>
        <p:spPr>
          <a:xfrm>
            <a:off x="15887700" y="2956560"/>
            <a:ext cx="2720975" cy="4235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ctr">
              <a:lnSpc>
                <a:spcPct val="120000"/>
              </a:lnSpc>
              <a:buClrTx/>
              <a:buSzTx/>
              <a:buFontTx/>
            </a:pPr>
            <a:r>
              <a:rPr lang="zh-CN" altLang="en-US">
                <a:sym typeface="+mn-ea"/>
              </a:rPr>
              <a:t>Scene Integration</a:t>
            </a:r>
            <a:endParaRPr lang="zh-CN" altLang="en-US">
              <a:sym typeface="+mn-ea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10029190" y="5454015"/>
            <a:ext cx="866140" cy="866140"/>
            <a:chOff x="873" y="3352"/>
            <a:chExt cx="1260" cy="1234"/>
          </a:xfrm>
          <a:solidFill>
            <a:schemeClr val="accent1">
              <a:lumMod val="75000"/>
            </a:schemeClr>
          </a:solidFill>
        </p:grpSpPr>
        <p:pic>
          <p:nvPicPr>
            <p:cNvPr id="27" name="图片 26" descr="24gl-fileEmpty"/>
            <p:cNvPicPr>
              <a:picLocks noChangeAspect="1"/>
            </p:cNvPicPr>
            <p:nvPr>
              <p:custDataLst>
                <p:tags r:id="rId33"/>
              </p:custDataLst>
            </p:nvPr>
          </p:nvPicPr>
          <p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873" y="3352"/>
              <a:ext cx="1261" cy="1235"/>
            </a:xfrm>
            <a:prstGeom prst="rect">
              <a:avLst/>
            </a:prstGeom>
          </p:spPr>
        </p:pic>
        <p:pic>
          <p:nvPicPr>
            <p:cNvPr id="28" name="图片 27" descr="点云数据"/>
            <p:cNvPicPr>
              <a:picLocks noChangeAspect="1"/>
            </p:cNvPicPr>
            <p:nvPr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168" y="3783"/>
              <a:ext cx="692" cy="488"/>
            </a:xfrm>
            <a:prstGeom prst="rect">
              <a:avLst/>
            </a:prstGeom>
          </p:spPr>
        </p:pic>
      </p:grpSp>
      <p:sp>
        <p:nvSpPr>
          <p:cNvPr id="33" name="右箭头 32"/>
          <p:cNvSpPr/>
          <p:nvPr/>
        </p:nvSpPr>
        <p:spPr>
          <a:xfrm>
            <a:off x="9252585" y="2187575"/>
            <a:ext cx="360000" cy="43200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右箭头 33"/>
          <p:cNvSpPr/>
          <p:nvPr/>
        </p:nvSpPr>
        <p:spPr>
          <a:xfrm rot="5400000">
            <a:off x="10311688" y="3983868"/>
            <a:ext cx="360000" cy="43200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7" name="直接箭头连接符 36"/>
          <p:cNvCxnSpPr/>
          <p:nvPr/>
        </p:nvCxnSpPr>
        <p:spPr>
          <a:xfrm>
            <a:off x="19763105" y="2360930"/>
            <a:ext cx="0" cy="7560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/>
          <p:cNvCxnSpPr/>
          <p:nvPr/>
        </p:nvCxnSpPr>
        <p:spPr>
          <a:xfrm>
            <a:off x="19763105" y="4817110"/>
            <a:ext cx="0" cy="7560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/>
          <p:cNvCxnSpPr/>
          <p:nvPr/>
        </p:nvCxnSpPr>
        <p:spPr>
          <a:xfrm>
            <a:off x="15545435" y="2780030"/>
            <a:ext cx="324000" cy="0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1" name="直接箭头连接符 40"/>
          <p:cNvCxnSpPr/>
          <p:nvPr/>
        </p:nvCxnSpPr>
        <p:spPr>
          <a:xfrm>
            <a:off x="12552680" y="2780030"/>
            <a:ext cx="324000" cy="0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3" name="文本框 42"/>
          <p:cNvSpPr txBox="1"/>
          <p:nvPr/>
        </p:nvSpPr>
        <p:spPr>
          <a:xfrm>
            <a:off x="16919575" y="5377815"/>
            <a:ext cx="140017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600">
                <a:sym typeface="+mn-ea"/>
              </a:rPr>
              <a:t>Increased?</a:t>
            </a:r>
            <a:endParaRPr lang="en-US" altLang="zh-CN" sz="1600">
              <a:sym typeface="+mn-ea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3570605" y="6747510"/>
            <a:ext cx="4064000" cy="4603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buClrTx/>
              <a:buSzTx/>
              <a:buFontTx/>
            </a:pPr>
            <a:r>
              <a:rPr lang="en-US" altLang="zh-CN" sz="2400" b="1"/>
              <a:t>Metamorphic Relations</a:t>
            </a:r>
            <a:endParaRPr lang="en-US" altLang="zh-CN" sz="2400" b="1"/>
          </a:p>
        </p:txBody>
      </p:sp>
      <p:sp>
        <p:nvSpPr>
          <p:cNvPr id="46" name="文本框 45"/>
          <p:cNvSpPr txBox="1"/>
          <p:nvPr/>
        </p:nvSpPr>
        <p:spPr>
          <a:xfrm>
            <a:off x="2338705" y="1630680"/>
            <a:ext cx="4396105" cy="4337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400" b="1">
                <a:sym typeface="+mn-ea"/>
              </a:rPr>
              <a:t>Semantic Pose Generation</a:t>
            </a:r>
            <a:endParaRPr lang="en-US" altLang="zh-CN" sz="2000" b="1">
              <a:sym typeface="+mn-ea"/>
            </a:endParaRPr>
          </a:p>
        </p:txBody>
      </p:sp>
      <p:cxnSp>
        <p:nvCxnSpPr>
          <p:cNvPr id="48" name="直接箭头连接符 47"/>
          <p:cNvCxnSpPr>
            <a:endCxn id="3" idx="2"/>
          </p:cNvCxnSpPr>
          <p:nvPr/>
        </p:nvCxnSpPr>
        <p:spPr>
          <a:xfrm flipV="1">
            <a:off x="8007350" y="6446520"/>
            <a:ext cx="1905" cy="24511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2597150" y="5598795"/>
            <a:ext cx="3696335" cy="6457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ym typeface="+mn-ea"/>
              </a:rPr>
              <a:t>{Vehicle,Person,Vegetation,Animal,</a:t>
            </a:r>
            <a:r>
              <a:rPr lang="zh-CN" altLang="en-US">
                <a:sym typeface="+mn-ea"/>
              </a:rPr>
              <a:t>Infrastructure</a:t>
            </a:r>
            <a:r>
              <a:rPr lang="en-US" altLang="zh-CN">
                <a:sym typeface="+mn-ea"/>
              </a:rPr>
              <a:t>,Others}</a:t>
            </a:r>
            <a:endParaRPr lang="en-US" altLang="zh-CN">
              <a:sym typeface="+mn-ea"/>
            </a:endParaRPr>
          </a:p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  <a:p>
            <a:pPr lvl="0" algn="ctr">
              <a:buClrTx/>
              <a:buSzTx/>
              <a:buFontTx/>
            </a:pPr>
            <a:endParaRPr lang="en-US" altLang="zh-CN">
              <a:sym typeface="+mn-ea"/>
            </a:endParaRPr>
          </a:p>
          <a:p>
            <a:pPr lvl="0" algn="ctr">
              <a:buClrTx/>
              <a:buSzTx/>
              <a:buFontTx/>
            </a:pPr>
            <a:endParaRPr lang="en-US" altLang="zh-CN">
              <a:sym typeface="+mn-ea"/>
            </a:endParaRPr>
          </a:p>
          <a:p>
            <a:pPr lvl="0" algn="ctr">
              <a:buClrTx/>
              <a:buSzTx/>
              <a:buFontTx/>
            </a:pPr>
            <a:endParaRPr lang="en-US" altLang="zh-CN"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en-US" altLang="zh-CN">
                <a:sym typeface="+mn-ea"/>
              </a:rPr>
              <a:t> </a:t>
            </a:r>
            <a:endParaRPr lang="en-US" altLang="zh-CN"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283460" y="5066665"/>
            <a:ext cx="4451350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400" b="1">
                <a:sym typeface="+mn-ea"/>
              </a:rPr>
              <a:t>Entity </a:t>
            </a:r>
            <a:r>
              <a:rPr lang="en-US" altLang="zh-CN" sz="2400" b="1">
                <a:sym typeface="+mn-ea"/>
              </a:rPr>
              <a:t>Database</a:t>
            </a:r>
            <a:endParaRPr lang="en-US" altLang="zh-CN" sz="2400" b="1">
              <a:sym typeface="+mn-ea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268220" y="3706495"/>
            <a:ext cx="4450715" cy="11436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1600"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664710" y="8291195"/>
            <a:ext cx="10795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Entity Insertion Operator</a:t>
            </a:r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2337435" y="3757295"/>
            <a:ext cx="4451350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400" b="1">
                <a:sym typeface="+mn-ea"/>
              </a:rPr>
              <a:t>Entity Insertion Operato</a:t>
            </a:r>
            <a:r>
              <a:rPr lang="zh-CN" altLang="en-US" sz="2400">
                <a:sym typeface="+mn-ea"/>
              </a:rPr>
              <a:t>r</a:t>
            </a:r>
            <a:endParaRPr lang="zh-CN" altLang="en-US" sz="2400"/>
          </a:p>
          <a:p>
            <a:pPr algn="ctr"/>
            <a:endParaRPr lang="en-US" altLang="zh-CN" sz="2400" b="1">
              <a:sym typeface="+mn-ea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2440940" y="4226560"/>
            <a:ext cx="1949450" cy="572770"/>
            <a:chOff x="2849" y="12605"/>
            <a:chExt cx="3410" cy="902"/>
          </a:xfrm>
        </p:grpSpPr>
        <p:sp>
          <p:nvSpPr>
            <p:cNvPr id="16" name="圆角矩形 15"/>
            <p:cNvSpPr/>
            <p:nvPr/>
          </p:nvSpPr>
          <p:spPr>
            <a:xfrm>
              <a:off x="2849" y="12605"/>
              <a:ext cx="3394" cy="822"/>
            </a:xfrm>
            <a:prstGeom prst="roundRect">
              <a:avLst/>
            </a:prstGeom>
            <a:solidFill>
              <a:schemeClr val="bg2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en-US" altLang="zh-CN" sz="1600">
                <a:solidFill>
                  <a:schemeClr val="tx1"/>
                </a:solidFill>
                <a:sym typeface="+mn-ea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2849" y="12685"/>
              <a:ext cx="3411" cy="82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n-US" altLang="zh-CN" b="1">
                  <a:sym typeface="+mn-ea"/>
                </a:rPr>
                <a:t>Instance-level</a:t>
              </a:r>
              <a:endParaRPr lang="en-US" altLang="zh-CN" b="1">
                <a:sym typeface="+mn-ea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4595495" y="4225925"/>
            <a:ext cx="1949450" cy="572770"/>
            <a:chOff x="7712" y="12605"/>
            <a:chExt cx="3410" cy="902"/>
          </a:xfrm>
        </p:grpSpPr>
        <p:sp>
          <p:nvSpPr>
            <p:cNvPr id="18" name="圆角矩形 17"/>
            <p:cNvSpPr/>
            <p:nvPr/>
          </p:nvSpPr>
          <p:spPr>
            <a:xfrm>
              <a:off x="7712" y="12605"/>
              <a:ext cx="3394" cy="822"/>
            </a:xfrm>
            <a:prstGeom prst="roundRect">
              <a:avLst/>
            </a:prstGeom>
            <a:solidFill>
              <a:schemeClr val="bg2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en-US" altLang="zh-CN" sz="1600">
                <a:solidFill>
                  <a:schemeClr val="tx1"/>
                </a:solidFill>
                <a:sym typeface="+mn-ea"/>
              </a:endParaRP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7712" y="12685"/>
              <a:ext cx="3411" cy="82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n-US" altLang="zh-CN" b="1">
                  <a:sym typeface="+mn-ea"/>
                </a:rPr>
                <a:t>interaction-level</a:t>
              </a:r>
              <a:endParaRPr lang="en-US" altLang="zh-CN" b="1">
                <a:sym typeface="+mn-ea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/>
          <p:cNvSpPr/>
          <p:nvPr/>
        </p:nvSpPr>
        <p:spPr>
          <a:xfrm>
            <a:off x="2283460" y="6691630"/>
            <a:ext cx="6590665" cy="59880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1600"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055485" y="1655445"/>
            <a:ext cx="1906905" cy="4791075"/>
          </a:xfrm>
          <a:prstGeom prst="rect">
            <a:avLst/>
          </a:prstGeom>
          <a:solidFill>
            <a:schemeClr val="bg2">
              <a:lumMod val="95000"/>
            </a:schemeClr>
          </a:solidFill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8" name="矩形 227"/>
          <p:cNvSpPr/>
          <p:nvPr/>
        </p:nvSpPr>
        <p:spPr>
          <a:xfrm>
            <a:off x="2263140" y="3878580"/>
            <a:ext cx="4451350" cy="256794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1600">
              <a:sym typeface="+mn-ea"/>
            </a:endParaRPr>
          </a:p>
        </p:txBody>
      </p:sp>
      <p:sp>
        <p:nvSpPr>
          <p:cNvPr id="230" name="文本框 229"/>
          <p:cNvSpPr txBox="1"/>
          <p:nvPr/>
        </p:nvSpPr>
        <p:spPr>
          <a:xfrm>
            <a:off x="134303" y="4016375"/>
            <a:ext cx="1764665" cy="3352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/>
              <a:t>Initial Seeds</a:t>
            </a:r>
            <a:endParaRPr lang="en-US" altLang="zh-CN" b="1"/>
          </a:p>
        </p:txBody>
      </p:sp>
      <p:sp>
        <p:nvSpPr>
          <p:cNvPr id="231" name="文本框 230"/>
          <p:cNvSpPr txBox="1"/>
          <p:nvPr/>
        </p:nvSpPr>
        <p:spPr>
          <a:xfrm>
            <a:off x="134938" y="1870710"/>
            <a:ext cx="17659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/>
              <a:t>Test data</a:t>
            </a:r>
            <a:endParaRPr lang="en-US" altLang="zh-CN" b="1"/>
          </a:p>
        </p:txBody>
      </p:sp>
      <p:sp>
        <p:nvSpPr>
          <p:cNvPr id="232" name="文本框 231"/>
          <p:cNvSpPr txBox="1"/>
          <p:nvPr/>
        </p:nvSpPr>
        <p:spPr>
          <a:xfrm>
            <a:off x="134620" y="6235065"/>
            <a:ext cx="17665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/>
              <a:t>Seed Queue</a:t>
            </a:r>
            <a:endParaRPr lang="en-US" altLang="zh-CN" b="1"/>
          </a:p>
        </p:txBody>
      </p:sp>
      <p:sp>
        <p:nvSpPr>
          <p:cNvPr id="233" name="右箭头 232"/>
          <p:cNvSpPr/>
          <p:nvPr/>
        </p:nvSpPr>
        <p:spPr>
          <a:xfrm>
            <a:off x="1642110" y="5645785"/>
            <a:ext cx="360000" cy="43200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34" name="肘形连接符 233"/>
          <p:cNvCxnSpPr>
            <a:stCxn id="295" idx="3"/>
            <a:endCxn id="232" idx="2"/>
          </p:cNvCxnSpPr>
          <p:nvPr/>
        </p:nvCxnSpPr>
        <p:spPr>
          <a:xfrm flipH="1">
            <a:off x="1017905" y="5546725"/>
            <a:ext cx="17245965" cy="1056640"/>
          </a:xfrm>
          <a:prstGeom prst="bentConnector4">
            <a:avLst>
              <a:gd name="adj1" fmla="val -3346"/>
              <a:gd name="adj2" fmla="val 200120"/>
            </a:avLst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5" name="直接箭头连接符 234"/>
          <p:cNvCxnSpPr/>
          <p:nvPr/>
        </p:nvCxnSpPr>
        <p:spPr>
          <a:xfrm>
            <a:off x="1003935" y="2294890"/>
            <a:ext cx="0" cy="7560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直接箭头连接符 235"/>
          <p:cNvCxnSpPr/>
          <p:nvPr/>
        </p:nvCxnSpPr>
        <p:spPr>
          <a:xfrm>
            <a:off x="1003935" y="4508500"/>
            <a:ext cx="0" cy="7560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7" name="图片 236" descr="队列-copy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3090" y="5433695"/>
            <a:ext cx="801370" cy="801370"/>
          </a:xfrm>
          <a:prstGeom prst="rect">
            <a:avLst/>
          </a:prstGeom>
        </p:spPr>
      </p:pic>
      <p:sp>
        <p:nvSpPr>
          <p:cNvPr id="238" name="矩形 237"/>
          <p:cNvSpPr/>
          <p:nvPr/>
        </p:nvSpPr>
        <p:spPr>
          <a:xfrm>
            <a:off x="2267585" y="1593215"/>
            <a:ext cx="4451350" cy="21005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mpd="sng">
            <a:solidFill>
              <a:schemeClr val="accent1">
                <a:shade val="50000"/>
              </a:schemeClr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0" name="圆角矩形 239"/>
          <p:cNvSpPr/>
          <p:nvPr/>
        </p:nvSpPr>
        <p:spPr>
          <a:xfrm>
            <a:off x="2616397" y="5854155"/>
            <a:ext cx="1764000" cy="432000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241" name="圆角矩形 240"/>
          <p:cNvSpPr/>
          <p:nvPr/>
        </p:nvSpPr>
        <p:spPr>
          <a:xfrm>
            <a:off x="2597347" y="5152564"/>
            <a:ext cx="1764000" cy="432000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242" name="圆角矩形 241"/>
          <p:cNvSpPr/>
          <p:nvPr/>
        </p:nvSpPr>
        <p:spPr>
          <a:xfrm>
            <a:off x="4730312" y="4514940"/>
            <a:ext cx="1764000" cy="432000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243" name="圆角矩形 242"/>
          <p:cNvSpPr/>
          <p:nvPr/>
        </p:nvSpPr>
        <p:spPr>
          <a:xfrm>
            <a:off x="4730312" y="5152564"/>
            <a:ext cx="1764000" cy="432000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244" name="圆角矩形 243"/>
          <p:cNvSpPr/>
          <p:nvPr/>
        </p:nvSpPr>
        <p:spPr>
          <a:xfrm>
            <a:off x="4730312" y="5871384"/>
            <a:ext cx="1764000" cy="432000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245" name="圆角矩形 244"/>
          <p:cNvSpPr/>
          <p:nvPr/>
        </p:nvSpPr>
        <p:spPr>
          <a:xfrm>
            <a:off x="2606040" y="4515775"/>
            <a:ext cx="1764030" cy="431165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Vehicle</a:t>
            </a: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sp>
        <p:nvSpPr>
          <p:cNvPr id="246" name="矩形 245"/>
          <p:cNvSpPr/>
          <p:nvPr/>
        </p:nvSpPr>
        <p:spPr>
          <a:xfrm>
            <a:off x="2606040" y="4489450"/>
            <a:ext cx="1764030" cy="431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2">
                    <a:lumMod val="95000"/>
                  </a:schemeClr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sp>
        <p:nvSpPr>
          <p:cNvPr id="247" name="文本框 246"/>
          <p:cNvSpPr txBox="1"/>
          <p:nvPr/>
        </p:nvSpPr>
        <p:spPr>
          <a:xfrm>
            <a:off x="2597150" y="5162550"/>
            <a:ext cx="1764030" cy="4318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>
                <a:sym typeface="+mn-ea"/>
              </a:rPr>
              <a:t>Vegetation</a:t>
            </a:r>
            <a:endParaRPr lang="en-US" altLang="zh-CN">
              <a:sym typeface="+mn-ea"/>
            </a:endParaRPr>
          </a:p>
        </p:txBody>
      </p:sp>
      <p:sp>
        <p:nvSpPr>
          <p:cNvPr id="248" name="文本框 247"/>
          <p:cNvSpPr txBox="1"/>
          <p:nvPr/>
        </p:nvSpPr>
        <p:spPr>
          <a:xfrm>
            <a:off x="4730115" y="5162550"/>
            <a:ext cx="1764030" cy="4318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>
                <a:sym typeface="+mn-ea"/>
              </a:rPr>
              <a:t>Animal</a:t>
            </a:r>
            <a:endParaRPr lang="en-US" altLang="zh-CN">
              <a:sym typeface="+mn-ea"/>
            </a:endParaRPr>
          </a:p>
        </p:txBody>
      </p:sp>
      <p:sp>
        <p:nvSpPr>
          <p:cNvPr id="250" name="文本框 249"/>
          <p:cNvSpPr txBox="1"/>
          <p:nvPr/>
        </p:nvSpPr>
        <p:spPr>
          <a:xfrm>
            <a:off x="4730115" y="4530725"/>
            <a:ext cx="1764030" cy="4318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>
                <a:sym typeface="+mn-ea"/>
              </a:rPr>
              <a:t>Person</a:t>
            </a:r>
            <a:endParaRPr lang="en-US" altLang="zh-CN">
              <a:sym typeface="+mn-ea"/>
            </a:endParaRPr>
          </a:p>
        </p:txBody>
      </p:sp>
      <p:sp>
        <p:nvSpPr>
          <p:cNvPr id="251" name="文本框 250"/>
          <p:cNvSpPr txBox="1"/>
          <p:nvPr/>
        </p:nvSpPr>
        <p:spPr>
          <a:xfrm>
            <a:off x="2616200" y="5871210"/>
            <a:ext cx="1764030" cy="4318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zh-CN" altLang="en-US">
                <a:sym typeface="+mn-ea"/>
              </a:rPr>
              <a:t>Infrastructure</a:t>
            </a:r>
            <a:endParaRPr lang="zh-CN" altLang="en-US">
              <a:sym typeface="+mn-ea"/>
            </a:endParaRPr>
          </a:p>
        </p:txBody>
      </p:sp>
      <p:sp>
        <p:nvSpPr>
          <p:cNvPr id="254" name="矩形 253"/>
          <p:cNvSpPr/>
          <p:nvPr/>
        </p:nvSpPr>
        <p:spPr>
          <a:xfrm>
            <a:off x="9664700" y="928370"/>
            <a:ext cx="8988425" cy="3023870"/>
          </a:xfrm>
          <a:prstGeom prst="rect">
            <a:avLst/>
          </a:prstGeom>
          <a:noFill/>
          <a:ln w="28575" cmpd="dbl">
            <a:solidFill>
              <a:schemeClr val="tx1"/>
            </a:solidFill>
            <a:prstDash val="lgDash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61" name="矩形 260"/>
          <p:cNvSpPr/>
          <p:nvPr/>
        </p:nvSpPr>
        <p:spPr>
          <a:xfrm>
            <a:off x="9664700" y="4404360"/>
            <a:ext cx="8989060" cy="3023870"/>
          </a:xfrm>
          <a:prstGeom prst="rect">
            <a:avLst/>
          </a:prstGeom>
          <a:noFill/>
          <a:ln w="28575" cmpd="dbl">
            <a:solidFill>
              <a:schemeClr val="tx1"/>
            </a:solidFill>
            <a:prstDash val="lgDash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62" name="矩形 261"/>
          <p:cNvSpPr/>
          <p:nvPr/>
        </p:nvSpPr>
        <p:spPr>
          <a:xfrm>
            <a:off x="9824085" y="1631950"/>
            <a:ext cx="2728595" cy="209994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1600">
              <a:sym typeface="+mn-ea"/>
            </a:endParaRPr>
          </a:p>
        </p:txBody>
      </p:sp>
      <p:sp>
        <p:nvSpPr>
          <p:cNvPr id="263" name="圆角矩形 262"/>
          <p:cNvSpPr/>
          <p:nvPr/>
        </p:nvSpPr>
        <p:spPr>
          <a:xfrm>
            <a:off x="9902190" y="2115820"/>
            <a:ext cx="2520000" cy="540000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t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264" name="矩形 263"/>
          <p:cNvSpPr/>
          <p:nvPr/>
        </p:nvSpPr>
        <p:spPr>
          <a:xfrm>
            <a:off x="12808585" y="1631315"/>
            <a:ext cx="2728595" cy="210121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1600">
              <a:sym typeface="+mn-ea"/>
            </a:endParaRPr>
          </a:p>
        </p:txBody>
      </p:sp>
      <p:sp>
        <p:nvSpPr>
          <p:cNvPr id="265" name="圆角矩形 264"/>
          <p:cNvSpPr/>
          <p:nvPr/>
        </p:nvSpPr>
        <p:spPr>
          <a:xfrm>
            <a:off x="9902190" y="2929255"/>
            <a:ext cx="2520000" cy="540000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t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266" name="文本框 265"/>
          <p:cNvSpPr txBox="1"/>
          <p:nvPr/>
        </p:nvSpPr>
        <p:spPr>
          <a:xfrm>
            <a:off x="9902190" y="2981325"/>
            <a:ext cx="2519680" cy="443865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ym typeface="+mn-ea"/>
              </a:rPr>
              <a:t>Sensor Specification</a:t>
            </a:r>
            <a:endParaRPr lang="en-US" altLang="zh-CN">
              <a:sym typeface="+mn-ea"/>
            </a:endParaRPr>
          </a:p>
        </p:txBody>
      </p:sp>
      <p:sp>
        <p:nvSpPr>
          <p:cNvPr id="267" name="文本框 266"/>
          <p:cNvSpPr txBox="1"/>
          <p:nvPr/>
        </p:nvSpPr>
        <p:spPr>
          <a:xfrm>
            <a:off x="9902190" y="2183130"/>
            <a:ext cx="2522855" cy="460375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p>
            <a:pPr algn="ctr"/>
            <a:r>
              <a:rPr lang="en-US" altLang="zh-CN">
                <a:sym typeface="+mn-ea"/>
              </a:rPr>
              <a:t>Beam Generation</a:t>
            </a:r>
            <a:endParaRPr lang="en-US" altLang="zh-CN">
              <a:sym typeface="+mn-ea"/>
            </a:endParaRPr>
          </a:p>
        </p:txBody>
      </p:sp>
      <p:sp>
        <p:nvSpPr>
          <p:cNvPr id="268" name="文本框 267"/>
          <p:cNvSpPr txBox="1"/>
          <p:nvPr/>
        </p:nvSpPr>
        <p:spPr>
          <a:xfrm>
            <a:off x="9823450" y="1655445"/>
            <a:ext cx="2729230" cy="2305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>
                <a:sym typeface="+mn-ea"/>
              </a:rPr>
              <a:t>Virtual LiDAR Setup</a:t>
            </a:r>
            <a:endParaRPr lang="en-US" altLang="zh-CN" b="1">
              <a:sym typeface="+mn-ea"/>
            </a:endParaRPr>
          </a:p>
        </p:txBody>
      </p:sp>
      <p:sp>
        <p:nvSpPr>
          <p:cNvPr id="269" name="文本框 268"/>
          <p:cNvSpPr txBox="1"/>
          <p:nvPr/>
        </p:nvSpPr>
        <p:spPr>
          <a:xfrm>
            <a:off x="12808585" y="1630680"/>
            <a:ext cx="2727325" cy="4438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>
                <a:sym typeface="+mn-ea"/>
              </a:rPr>
              <a:t>Beam Propagatio</a:t>
            </a:r>
            <a:r>
              <a:rPr lang="zh-CN" altLang="en-US" b="1">
                <a:sym typeface="+mn-ea"/>
              </a:rPr>
              <a:t>n</a:t>
            </a:r>
            <a:endParaRPr lang="en-US" altLang="zh-CN" b="1">
              <a:sym typeface="+mn-ea"/>
            </a:endParaRPr>
          </a:p>
        </p:txBody>
      </p:sp>
      <p:sp>
        <p:nvSpPr>
          <p:cNvPr id="270" name="圆角矩形 269"/>
          <p:cNvSpPr/>
          <p:nvPr/>
        </p:nvSpPr>
        <p:spPr>
          <a:xfrm>
            <a:off x="12939395" y="2115820"/>
            <a:ext cx="2520000" cy="540000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t" anchorCtr="0" forceAA="0" compatLnSpc="1">
            <a:noAutofit/>
          </a:bodyPr>
          <a:p>
            <a:pPr lvl="0" algn="ctr">
              <a:lnSpc>
                <a:spcPct val="120000"/>
              </a:lnSpc>
              <a:buClrTx/>
              <a:buSzTx/>
              <a:buFontTx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Range Computation</a:t>
            </a: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sp>
        <p:nvSpPr>
          <p:cNvPr id="271" name="圆角矩形 270"/>
          <p:cNvSpPr/>
          <p:nvPr/>
        </p:nvSpPr>
        <p:spPr>
          <a:xfrm>
            <a:off x="12939395" y="2929255"/>
            <a:ext cx="2520000" cy="540000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t" anchorCtr="0" forceAA="0" compatLnSpc="1">
            <a:noAutofit/>
          </a:bodyPr>
          <a:p>
            <a:pPr lvl="0" algn="ctr">
              <a:lnSpc>
                <a:spcPct val="120000"/>
              </a:lnSpc>
              <a:buClrTx/>
              <a:buSzTx/>
              <a:buFontTx/>
            </a:pPr>
            <a:r>
              <a:rPr lang="zh-CN" altLang="en-US">
                <a:sym typeface="+mn-ea"/>
              </a:rPr>
              <a:t>Reflectivity Modeling</a:t>
            </a: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sp>
        <p:nvSpPr>
          <p:cNvPr id="273" name="矩形 272"/>
          <p:cNvSpPr/>
          <p:nvPr/>
        </p:nvSpPr>
        <p:spPr>
          <a:xfrm>
            <a:off x="15803880" y="1631950"/>
            <a:ext cx="2728595" cy="210121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1600">
              <a:sym typeface="+mn-ea"/>
            </a:endParaRPr>
          </a:p>
        </p:txBody>
      </p:sp>
      <p:sp>
        <p:nvSpPr>
          <p:cNvPr id="274" name="文本框 273"/>
          <p:cNvSpPr txBox="1"/>
          <p:nvPr/>
        </p:nvSpPr>
        <p:spPr>
          <a:xfrm>
            <a:off x="15805150" y="1637665"/>
            <a:ext cx="2727325" cy="4438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b="1">
                <a:sym typeface="+mn-ea"/>
              </a:rPr>
              <a:t>Point Cloud Generation</a:t>
            </a:r>
            <a:endParaRPr lang="zh-CN" altLang="en-US" b="1">
              <a:sym typeface="+mn-ea"/>
            </a:endParaRPr>
          </a:p>
          <a:p>
            <a:pPr algn="ctr"/>
            <a:endParaRPr lang="zh-CN" altLang="en-US" b="1">
              <a:sym typeface="+mn-ea"/>
            </a:endParaRPr>
          </a:p>
        </p:txBody>
      </p:sp>
      <p:sp>
        <p:nvSpPr>
          <p:cNvPr id="275" name="文本框 274"/>
          <p:cNvSpPr txBox="1"/>
          <p:nvPr/>
        </p:nvSpPr>
        <p:spPr>
          <a:xfrm>
            <a:off x="15963900" y="2115820"/>
            <a:ext cx="2255520" cy="3943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endParaRPr lang="zh-CN" altLang="en-US"/>
          </a:p>
        </p:txBody>
      </p:sp>
      <p:sp>
        <p:nvSpPr>
          <p:cNvPr id="276" name="圆角矩形 275"/>
          <p:cNvSpPr/>
          <p:nvPr/>
        </p:nvSpPr>
        <p:spPr>
          <a:xfrm>
            <a:off x="15935960" y="2115820"/>
            <a:ext cx="2520000" cy="540000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t" anchorCtr="0" forceAA="0" compatLnSpc="1">
            <a:noAutofit/>
          </a:bodyPr>
          <a:p>
            <a:pPr lvl="0" algn="ctr">
              <a:lnSpc>
                <a:spcPct val="120000"/>
              </a:lnSpc>
              <a:buClrTx/>
              <a:buSzTx/>
              <a:buFontTx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Point Computation</a:t>
            </a: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sp>
        <p:nvSpPr>
          <p:cNvPr id="277" name="圆角矩形 276"/>
          <p:cNvSpPr/>
          <p:nvPr/>
        </p:nvSpPr>
        <p:spPr>
          <a:xfrm>
            <a:off x="15935960" y="2929255"/>
            <a:ext cx="2548255" cy="539750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t" anchorCtr="0" forceAA="0" compatLnSpc="1">
            <a:noAutofit/>
          </a:bodyPr>
          <a:p>
            <a:pPr lvl="0" algn="ctr">
              <a:lnSpc>
                <a:spcPct val="120000"/>
              </a:lnSpc>
              <a:buClrTx/>
              <a:buSzTx/>
              <a:buFontTx/>
            </a:pPr>
            <a:endParaRPr lang="en-US" altLang="zh-CN">
              <a:sym typeface="+mn-ea"/>
            </a:endParaRPr>
          </a:p>
        </p:txBody>
      </p:sp>
      <p:sp>
        <p:nvSpPr>
          <p:cNvPr id="279" name="圆角矩形 278"/>
          <p:cNvSpPr/>
          <p:nvPr>
            <p:custDataLst>
              <p:tags r:id="rId3"/>
            </p:custDataLst>
          </p:nvPr>
        </p:nvSpPr>
        <p:spPr>
          <a:xfrm>
            <a:off x="11367135" y="5081270"/>
            <a:ext cx="5048885" cy="2005330"/>
          </a:xfrm>
          <a:prstGeom prst="roundRect">
            <a:avLst>
              <a:gd name="adj" fmla="val 5234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80" name="334E55B0-647D-440b-865C-3EC943EB4CBC-7" descr="/Users/gaoxinyu/Library/Containers/com.kingsoft.wpsoffice.mac/Data/tmp/wpsoffice.cEbuJowpsoffic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12245" y="6153785"/>
            <a:ext cx="2155190" cy="636905"/>
          </a:xfrm>
          <a:prstGeom prst="rect">
            <a:avLst/>
          </a:prstGeom>
        </p:spPr>
      </p:pic>
      <p:sp>
        <p:nvSpPr>
          <p:cNvPr id="281" name="文本框 280"/>
          <p:cNvSpPr txBox="1"/>
          <p:nvPr>
            <p:custDataLst>
              <p:tags r:id="rId5"/>
            </p:custDataLst>
          </p:nvPr>
        </p:nvSpPr>
        <p:spPr>
          <a:xfrm>
            <a:off x="11431905" y="5187950"/>
            <a:ext cx="4983480" cy="6623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>
                <a:sym typeface="+mn-ea"/>
              </a:rPr>
              <a:t>Diversity</a:t>
            </a:r>
            <a:r>
              <a:rPr lang="en-US" altLang="zh-CN" b="1"/>
              <a:t> Guidance</a:t>
            </a:r>
            <a:r>
              <a:rPr lang="en-US" altLang="zh-CN"/>
              <a:t> : </a:t>
            </a:r>
            <a:r>
              <a:rPr lang="zh-CN" altLang="en-US">
                <a:sym typeface="+mn-ea"/>
              </a:rPr>
              <a:t>Measuring the </a:t>
            </a:r>
            <a:r>
              <a:rPr lang="en-US" altLang="zh-CN">
                <a:sym typeface="+mn-ea"/>
              </a:rPr>
              <a:t>diversity </a:t>
            </a:r>
            <a:r>
              <a:rPr lang="zh-CN" altLang="en-US">
                <a:sym typeface="+mn-ea"/>
              </a:rPr>
              <a:t>of </a:t>
            </a:r>
            <a:r>
              <a:rPr lang="en-US" altLang="zh-CN">
                <a:sym typeface="+mn-ea"/>
              </a:rPr>
              <a:t>generate point cloud S</a:t>
            </a:r>
            <a:endParaRPr lang="en-US" altLang="zh-CN">
              <a:sym typeface="+mn-ea"/>
            </a:endParaRPr>
          </a:p>
        </p:txBody>
      </p:sp>
      <p:grpSp>
        <p:nvGrpSpPr>
          <p:cNvPr id="282" name="组合 281"/>
          <p:cNvGrpSpPr/>
          <p:nvPr/>
        </p:nvGrpSpPr>
        <p:grpSpPr>
          <a:xfrm>
            <a:off x="13916660" y="5905291"/>
            <a:ext cx="2372103" cy="975298"/>
            <a:chOff x="2806" y="-6735"/>
            <a:chExt cx="6271" cy="2677"/>
          </a:xfrm>
        </p:grpSpPr>
        <p:sp>
          <p:nvSpPr>
            <p:cNvPr id="283" name="椭圆 282"/>
            <p:cNvSpPr/>
            <p:nvPr/>
          </p:nvSpPr>
          <p:spPr>
            <a:xfrm>
              <a:off x="2806" y="-6735"/>
              <a:ext cx="6271" cy="2677"/>
            </a:xfrm>
            <a:prstGeom prst="ellipse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pic>
          <p:nvPicPr>
            <p:cNvPr id="284" name="图片 283" descr="交通标志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400" y="-6233"/>
              <a:ext cx="1154" cy="1154"/>
            </a:xfrm>
            <a:prstGeom prst="rect">
              <a:avLst/>
            </a:prstGeom>
          </p:spPr>
        </p:pic>
        <p:pic>
          <p:nvPicPr>
            <p:cNvPr id="285" name="图片 284" descr="步行"/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965" y="-5830"/>
              <a:ext cx="853" cy="853"/>
            </a:xfrm>
            <a:prstGeom prst="rect">
              <a:avLst/>
            </a:prstGeom>
          </p:spPr>
        </p:pic>
        <p:pic>
          <p:nvPicPr>
            <p:cNvPr id="286" name="图片 285" descr="_汽车票"/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6415" y="-6449"/>
              <a:ext cx="918" cy="918"/>
            </a:xfrm>
            <a:prstGeom prst="rect">
              <a:avLst/>
            </a:prstGeom>
          </p:spPr>
        </p:pic>
        <p:pic>
          <p:nvPicPr>
            <p:cNvPr id="287" name="图片 286" descr="步行"/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578" y="-5364"/>
              <a:ext cx="725" cy="725"/>
            </a:xfrm>
            <a:prstGeom prst="rect">
              <a:avLst/>
            </a:prstGeom>
          </p:spPr>
        </p:pic>
        <p:pic>
          <p:nvPicPr>
            <p:cNvPr id="288" name="图片 287" descr="_汽车票"/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7333" y="-6158"/>
              <a:ext cx="918" cy="918"/>
            </a:xfrm>
            <a:prstGeom prst="rect">
              <a:avLst/>
            </a:prstGeom>
          </p:spPr>
        </p:pic>
        <p:pic>
          <p:nvPicPr>
            <p:cNvPr id="289" name="图片 288" descr="_汽车票"/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6415" y="-5531"/>
              <a:ext cx="918" cy="918"/>
            </a:xfrm>
            <a:prstGeom prst="rect">
              <a:avLst/>
            </a:prstGeom>
          </p:spPr>
        </p:pic>
        <p:pic>
          <p:nvPicPr>
            <p:cNvPr id="290" name="图片 289" descr="交通标志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063" y="-5577"/>
              <a:ext cx="1154" cy="1154"/>
            </a:xfrm>
            <a:prstGeom prst="rect">
              <a:avLst/>
            </a:prstGeom>
          </p:spPr>
        </p:pic>
        <p:pic>
          <p:nvPicPr>
            <p:cNvPr id="291" name="图片 290" descr="自行车-母婴"/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4978" y="-6688"/>
              <a:ext cx="1105" cy="1110"/>
            </a:xfrm>
            <a:prstGeom prst="rect">
              <a:avLst/>
            </a:prstGeom>
          </p:spPr>
        </p:pic>
      </p:grpSp>
      <p:sp>
        <p:nvSpPr>
          <p:cNvPr id="293" name="文本框 292"/>
          <p:cNvSpPr txBox="1"/>
          <p:nvPr/>
        </p:nvSpPr>
        <p:spPr>
          <a:xfrm>
            <a:off x="9664700" y="6370955"/>
            <a:ext cx="16605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/>
              <a:t>Transformed</a:t>
            </a:r>
            <a:endParaRPr lang="en-US" altLang="zh-CN" b="1"/>
          </a:p>
          <a:p>
            <a:pPr algn="ctr"/>
            <a:r>
              <a:rPr lang="en-US" altLang="zh-CN" b="1"/>
              <a:t>point cloud</a:t>
            </a:r>
            <a:endParaRPr lang="en-US" altLang="zh-CN" b="1"/>
          </a:p>
        </p:txBody>
      </p:sp>
      <p:cxnSp>
        <p:nvCxnSpPr>
          <p:cNvPr id="294" name="直接箭头连接符 293"/>
          <p:cNvCxnSpPr/>
          <p:nvPr/>
        </p:nvCxnSpPr>
        <p:spPr>
          <a:xfrm>
            <a:off x="10920730" y="5871845"/>
            <a:ext cx="45783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95" name="菱形 294"/>
          <p:cNvSpPr/>
          <p:nvPr/>
        </p:nvSpPr>
        <p:spPr>
          <a:xfrm>
            <a:off x="16694785" y="5166995"/>
            <a:ext cx="1569085" cy="759460"/>
          </a:xfrm>
          <a:prstGeom prst="diamond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000">
              <a:solidFill>
                <a:schemeClr val="tx1"/>
              </a:solidFill>
            </a:endParaRPr>
          </a:p>
        </p:txBody>
      </p:sp>
      <p:sp>
        <p:nvSpPr>
          <p:cNvPr id="296" name="流程图: 过程 295"/>
          <p:cNvSpPr/>
          <p:nvPr>
            <p:custDataLst>
              <p:tags r:id="rId14"/>
            </p:custDataLst>
          </p:nvPr>
        </p:nvSpPr>
        <p:spPr>
          <a:xfrm>
            <a:off x="16694785" y="6480175"/>
            <a:ext cx="1524635" cy="580390"/>
          </a:xfrm>
          <a:prstGeom prst="flowChartProcess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Discarded</a:t>
            </a:r>
            <a:endParaRPr lang="en-US" altLang="zh-CN">
              <a:solidFill>
                <a:schemeClr val="tx1"/>
              </a:solidFill>
            </a:endParaRPr>
          </a:p>
        </p:txBody>
      </p:sp>
      <p:cxnSp>
        <p:nvCxnSpPr>
          <p:cNvPr id="297" name="直接箭头连接符 296"/>
          <p:cNvCxnSpPr>
            <a:stCxn id="295" idx="2"/>
            <a:endCxn id="296" idx="0"/>
          </p:cNvCxnSpPr>
          <p:nvPr/>
        </p:nvCxnSpPr>
        <p:spPr>
          <a:xfrm flipH="1">
            <a:off x="17457420" y="5926455"/>
            <a:ext cx="22225" cy="55372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98" name="文本框 297"/>
          <p:cNvSpPr txBox="1"/>
          <p:nvPr/>
        </p:nvSpPr>
        <p:spPr>
          <a:xfrm>
            <a:off x="17485360" y="6040120"/>
            <a:ext cx="42037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600"/>
              <a:t>N</a:t>
            </a:r>
            <a:endParaRPr lang="en-US" altLang="zh-CN" sz="1600"/>
          </a:p>
        </p:txBody>
      </p:sp>
      <p:cxnSp>
        <p:nvCxnSpPr>
          <p:cNvPr id="301" name="直接箭头连接符 300"/>
          <p:cNvCxnSpPr/>
          <p:nvPr/>
        </p:nvCxnSpPr>
        <p:spPr>
          <a:xfrm>
            <a:off x="16407765" y="5541645"/>
            <a:ext cx="28702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02" name="文本框 301"/>
          <p:cNvSpPr txBox="1"/>
          <p:nvPr/>
        </p:nvSpPr>
        <p:spPr>
          <a:xfrm>
            <a:off x="9542780" y="7750175"/>
            <a:ext cx="3876675" cy="5410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600"/>
              <a:t>Add seeds back to the queue</a:t>
            </a:r>
            <a:endParaRPr lang="en-US" altLang="zh-CN" sz="1600"/>
          </a:p>
        </p:txBody>
      </p:sp>
      <p:sp>
        <p:nvSpPr>
          <p:cNvPr id="303" name="文本框 302"/>
          <p:cNvSpPr txBox="1"/>
          <p:nvPr/>
        </p:nvSpPr>
        <p:spPr>
          <a:xfrm>
            <a:off x="18904585" y="1978025"/>
            <a:ext cx="17170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/>
              <a:t>Test dataset</a:t>
            </a:r>
            <a:endParaRPr lang="en-US" altLang="zh-CN" b="1"/>
          </a:p>
        </p:txBody>
      </p:sp>
      <p:grpSp>
        <p:nvGrpSpPr>
          <p:cNvPr id="304" name="组合 303"/>
          <p:cNvGrpSpPr/>
          <p:nvPr/>
        </p:nvGrpSpPr>
        <p:grpSpPr>
          <a:xfrm>
            <a:off x="19321145" y="1059180"/>
            <a:ext cx="902335" cy="862965"/>
            <a:chOff x="2244" y="177"/>
            <a:chExt cx="960" cy="960"/>
          </a:xfrm>
        </p:grpSpPr>
        <p:pic>
          <p:nvPicPr>
            <p:cNvPr id="305" name="图片 304" descr="24gl-fileEmpty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2244" y="177"/>
              <a:ext cx="960" cy="960"/>
            </a:xfrm>
            <a:prstGeom prst="rect">
              <a:avLst/>
            </a:prstGeom>
          </p:spPr>
        </p:pic>
        <p:pic>
          <p:nvPicPr>
            <p:cNvPr id="306" name="图片 305" descr="点云数据"/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2412" y="506"/>
              <a:ext cx="671" cy="483"/>
            </a:xfrm>
            <a:prstGeom prst="rect">
              <a:avLst/>
            </a:prstGeom>
          </p:spPr>
        </p:pic>
      </p:grpSp>
      <p:cxnSp>
        <p:nvCxnSpPr>
          <p:cNvPr id="307" name="直接箭头连接符 306"/>
          <p:cNvCxnSpPr/>
          <p:nvPr/>
        </p:nvCxnSpPr>
        <p:spPr>
          <a:xfrm>
            <a:off x="18685510" y="1458595"/>
            <a:ext cx="61468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09" name="图片 308" descr="激光雷达"/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9306540" y="3295650"/>
            <a:ext cx="866140" cy="866140"/>
          </a:xfrm>
          <a:prstGeom prst="rect">
            <a:avLst/>
          </a:prstGeom>
        </p:spPr>
      </p:pic>
      <p:sp>
        <p:nvSpPr>
          <p:cNvPr id="310" name="文本框 309"/>
          <p:cNvSpPr txBox="1"/>
          <p:nvPr/>
        </p:nvSpPr>
        <p:spPr>
          <a:xfrm>
            <a:off x="18685510" y="4161790"/>
            <a:ext cx="2265680" cy="5810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 b="1">
                <a:sym typeface="+mn-ea"/>
              </a:rPr>
              <a:t>LiDAR-based </a:t>
            </a:r>
            <a:endParaRPr lang="en-US" altLang="zh-CN" b="1">
              <a:sym typeface="+mn-ea"/>
            </a:endParaRPr>
          </a:p>
          <a:p>
            <a:pPr algn="ctr"/>
            <a:r>
              <a:rPr lang="en-US" altLang="zh-CN" b="1">
                <a:sym typeface="+mn-ea"/>
              </a:rPr>
              <a:t>perception system</a:t>
            </a:r>
            <a:endParaRPr lang="en-US" altLang="zh-CN" b="1">
              <a:sym typeface="+mn-ea"/>
            </a:endParaRPr>
          </a:p>
        </p:txBody>
      </p:sp>
      <p:pic>
        <p:nvPicPr>
          <p:cNvPr id="312" name="图片 311" descr="测试报告"/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9367500" y="5722620"/>
            <a:ext cx="828040" cy="828040"/>
          </a:xfrm>
          <a:prstGeom prst="rect">
            <a:avLst/>
          </a:prstGeom>
        </p:spPr>
      </p:pic>
      <p:sp>
        <p:nvSpPr>
          <p:cNvPr id="313" name="文本框 312"/>
          <p:cNvSpPr txBox="1"/>
          <p:nvPr/>
        </p:nvSpPr>
        <p:spPr>
          <a:xfrm>
            <a:off x="18740120" y="6622415"/>
            <a:ext cx="2155825" cy="6927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 b="1">
                <a:sym typeface="+mn-ea"/>
              </a:rPr>
              <a:t>Test  Report</a:t>
            </a:r>
            <a:endParaRPr lang="en-US" altLang="zh-CN" b="1">
              <a:sym typeface="+mn-ea"/>
            </a:endParaRPr>
          </a:p>
        </p:txBody>
      </p:sp>
      <p:grpSp>
        <p:nvGrpSpPr>
          <p:cNvPr id="315" name="组合 314"/>
          <p:cNvGrpSpPr/>
          <p:nvPr/>
        </p:nvGrpSpPr>
        <p:grpSpPr>
          <a:xfrm>
            <a:off x="525145" y="895350"/>
            <a:ext cx="935990" cy="975360"/>
            <a:chOff x="873" y="721"/>
            <a:chExt cx="1360" cy="1360"/>
          </a:xfrm>
        </p:grpSpPr>
        <p:pic>
          <p:nvPicPr>
            <p:cNvPr id="316" name="图片 315" descr="点云数据"/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1208" y="1220"/>
              <a:ext cx="692" cy="488"/>
            </a:xfrm>
            <a:prstGeom prst="rect">
              <a:avLst/>
            </a:prstGeom>
          </p:spPr>
        </p:pic>
        <p:pic>
          <p:nvPicPr>
            <p:cNvPr id="317" name="图片 316" descr="数据集"/>
            <p:cNvPicPr>
              <a:picLocks noChangeAspect="1"/>
            </p:cNvPicPr>
            <p:nvPr/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873" y="721"/>
              <a:ext cx="1360" cy="1360"/>
            </a:xfrm>
            <a:prstGeom prst="rect">
              <a:avLst/>
            </a:prstGeom>
          </p:spPr>
        </p:pic>
      </p:grpSp>
      <p:grpSp>
        <p:nvGrpSpPr>
          <p:cNvPr id="318" name="组合 317"/>
          <p:cNvGrpSpPr/>
          <p:nvPr/>
        </p:nvGrpSpPr>
        <p:grpSpPr>
          <a:xfrm>
            <a:off x="593090" y="3181350"/>
            <a:ext cx="838835" cy="862330"/>
            <a:chOff x="873" y="3352"/>
            <a:chExt cx="1260" cy="1234"/>
          </a:xfrm>
        </p:grpSpPr>
        <p:pic>
          <p:nvPicPr>
            <p:cNvPr id="319" name="图片 318" descr="24gl-fileEmpty"/>
            <p:cNvPicPr>
              <a:picLocks noChangeAspect="1"/>
            </p:cNvPicPr>
            <p:nvPr>
              <p:custDataLst>
                <p:tags r:id="rId26"/>
              </p:custDataLst>
            </p:nvPr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873" y="3352"/>
              <a:ext cx="1261" cy="1235"/>
            </a:xfrm>
            <a:prstGeom prst="rect">
              <a:avLst/>
            </a:prstGeom>
          </p:spPr>
        </p:pic>
        <p:pic>
          <p:nvPicPr>
            <p:cNvPr id="320" name="图片 319" descr="点云数据"/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1168" y="3783"/>
              <a:ext cx="692" cy="488"/>
            </a:xfrm>
            <a:prstGeom prst="rect">
              <a:avLst/>
            </a:prstGeom>
          </p:spPr>
        </p:pic>
      </p:grpSp>
      <p:sp>
        <p:nvSpPr>
          <p:cNvPr id="321" name="文本框 320"/>
          <p:cNvSpPr txBox="1"/>
          <p:nvPr/>
        </p:nvSpPr>
        <p:spPr>
          <a:xfrm>
            <a:off x="2440940" y="1012190"/>
            <a:ext cx="64325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800" b="1">
                <a:sym typeface="+mn-ea"/>
              </a:rPr>
              <a:t>Semantic Entity Insertion Operator</a:t>
            </a:r>
            <a:endParaRPr lang="en-US" altLang="zh-CN" sz="2800" b="1">
              <a:sym typeface="+mn-ea"/>
            </a:endParaRPr>
          </a:p>
        </p:txBody>
      </p:sp>
      <p:sp>
        <p:nvSpPr>
          <p:cNvPr id="322" name="矩形 321"/>
          <p:cNvSpPr/>
          <p:nvPr/>
        </p:nvSpPr>
        <p:spPr>
          <a:xfrm>
            <a:off x="2096135" y="895985"/>
            <a:ext cx="7072630" cy="6550660"/>
          </a:xfrm>
          <a:prstGeom prst="rect">
            <a:avLst/>
          </a:prstGeom>
          <a:noFill/>
          <a:ln w="28575" cmpd="dbl">
            <a:solidFill>
              <a:schemeClr val="tx1"/>
            </a:solidFill>
            <a:prstDash val="lgDash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4" name="文本框 323"/>
          <p:cNvSpPr txBox="1"/>
          <p:nvPr/>
        </p:nvSpPr>
        <p:spPr>
          <a:xfrm>
            <a:off x="2263140" y="3946525"/>
            <a:ext cx="4451350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400" b="1">
                <a:sym typeface="+mn-ea"/>
              </a:rPr>
              <a:t>Entity </a:t>
            </a:r>
            <a:r>
              <a:rPr lang="en-US" altLang="zh-CN" sz="2400" b="1">
                <a:sym typeface="+mn-ea"/>
              </a:rPr>
              <a:t>Database</a:t>
            </a:r>
            <a:endParaRPr lang="en-US" altLang="zh-CN" sz="2400" b="1">
              <a:sym typeface="+mn-ea"/>
            </a:endParaRPr>
          </a:p>
        </p:txBody>
      </p:sp>
      <p:grpSp>
        <p:nvGrpSpPr>
          <p:cNvPr id="328" name="组合 327"/>
          <p:cNvGrpSpPr/>
          <p:nvPr/>
        </p:nvGrpSpPr>
        <p:grpSpPr>
          <a:xfrm>
            <a:off x="6934200" y="2197735"/>
            <a:ext cx="2234565" cy="1303020"/>
            <a:chOff x="10806" y="4579"/>
            <a:chExt cx="3394" cy="1723"/>
          </a:xfrm>
        </p:grpSpPr>
        <p:sp>
          <p:nvSpPr>
            <p:cNvPr id="256" name="文本框 255"/>
            <p:cNvSpPr txBox="1"/>
            <p:nvPr/>
          </p:nvSpPr>
          <p:spPr>
            <a:xfrm>
              <a:off x="10806" y="5623"/>
              <a:ext cx="3394" cy="67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n-US" altLang="zh-CN" b="1"/>
                <a:t>Physically</a:t>
              </a:r>
              <a:endParaRPr lang="en-US" altLang="zh-CN" b="1"/>
            </a:p>
            <a:p>
              <a:pPr algn="ctr"/>
              <a:r>
                <a:rPr lang="en-US" altLang="zh-CN" b="1"/>
                <a:t> and Semantic Plausible </a:t>
              </a:r>
              <a:r>
                <a:rPr lang="en-US" altLang="zh-CN" b="1"/>
                <a:t>Pose</a:t>
              </a:r>
              <a:endParaRPr lang="en-US" altLang="zh-CN" b="1"/>
            </a:p>
          </p:txBody>
        </p:sp>
        <p:pic>
          <p:nvPicPr>
            <p:cNvPr id="458" name="图片 457" descr="平面直角坐标系"/>
            <p:cNvPicPr>
              <a:picLocks noChangeAspect="1"/>
            </p:cNvPicPr>
            <p:nvPr/>
          </p:nvPicPr>
          <p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11468" y="4579"/>
              <a:ext cx="968" cy="983"/>
            </a:xfrm>
            <a:prstGeom prst="rect">
              <a:avLst/>
            </a:prstGeom>
          </p:spPr>
        </p:pic>
        <p:grpSp>
          <p:nvGrpSpPr>
            <p:cNvPr id="459" name="组合 458"/>
            <p:cNvGrpSpPr/>
            <p:nvPr/>
          </p:nvGrpSpPr>
          <p:grpSpPr>
            <a:xfrm rot="18960000">
              <a:off x="11911" y="4720"/>
              <a:ext cx="117" cy="524"/>
              <a:chOff x="14084" y="7910"/>
              <a:chExt cx="660" cy="2210"/>
            </a:xfrm>
            <a:solidFill>
              <a:schemeClr val="accent1">
                <a:lumMod val="75000"/>
              </a:schemeClr>
            </a:solidFill>
          </p:grpSpPr>
          <p:grpSp>
            <p:nvGrpSpPr>
              <p:cNvPr id="460" name="组合 459"/>
              <p:cNvGrpSpPr/>
              <p:nvPr/>
            </p:nvGrpSpPr>
            <p:grpSpPr>
              <a:xfrm>
                <a:off x="14084" y="7910"/>
                <a:ext cx="660" cy="2211"/>
                <a:chOff x="14084" y="7910"/>
                <a:chExt cx="660" cy="2211"/>
              </a:xfrm>
              <a:grpFill/>
            </p:grpSpPr>
            <p:sp>
              <p:nvSpPr>
                <p:cNvPr id="461" name="矩形 460"/>
                <p:cNvSpPr/>
                <p:nvPr/>
              </p:nvSpPr>
              <p:spPr>
                <a:xfrm>
                  <a:off x="14084" y="8711"/>
                  <a:ext cx="660" cy="1411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cxnSp>
              <p:nvCxnSpPr>
                <p:cNvPr id="462" name="直接箭头连接符 461"/>
                <p:cNvCxnSpPr>
                  <a:stCxn id="461" idx="0"/>
                </p:cNvCxnSpPr>
                <p:nvPr/>
              </p:nvCxnSpPr>
              <p:spPr>
                <a:xfrm flipH="1" flipV="1">
                  <a:off x="14403" y="7910"/>
                  <a:ext cx="0" cy="801"/>
                </a:xfrm>
                <a:prstGeom prst="straightConnector1">
                  <a:avLst/>
                </a:prstGeom>
                <a:grpFill/>
                <a:ln w="6350">
                  <a:solidFill>
                    <a:schemeClr val="tx1"/>
                  </a:solidFill>
                  <a:tailEnd type="arrow" w="sm" len="med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63" name="椭圆 462"/>
              <p:cNvSpPr/>
              <p:nvPr/>
            </p:nvSpPr>
            <p:spPr>
              <a:xfrm>
                <a:off x="14355" y="9341"/>
                <a:ext cx="119" cy="119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464" name="组合 463"/>
            <p:cNvGrpSpPr/>
            <p:nvPr/>
          </p:nvGrpSpPr>
          <p:grpSpPr>
            <a:xfrm>
              <a:off x="11549" y="5315"/>
              <a:ext cx="193" cy="192"/>
              <a:chOff x="7747" y="9660"/>
              <a:chExt cx="176" cy="192"/>
            </a:xfrm>
          </p:grpSpPr>
          <p:sp>
            <p:nvSpPr>
              <p:cNvPr id="465" name="椭圆 464"/>
              <p:cNvSpPr/>
              <p:nvPr/>
            </p:nvSpPr>
            <p:spPr>
              <a:xfrm>
                <a:off x="7747" y="9660"/>
                <a:ext cx="176" cy="192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66" name="椭圆 465"/>
              <p:cNvSpPr/>
              <p:nvPr>
                <p:custDataLst>
                  <p:tags r:id="rId29"/>
                </p:custDataLst>
              </p:nvPr>
            </p:nvSpPr>
            <p:spPr>
              <a:xfrm>
                <a:off x="7812" y="9724"/>
                <a:ext cx="57" cy="57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68" name="文本框 467"/>
                <p:cNvSpPr txBox="1"/>
                <p:nvPr/>
              </p:nvSpPr>
              <p:spPr>
                <a:xfrm>
                  <a:off x="12002" y="4680"/>
                  <a:ext cx="1385" cy="453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altLang="zh-CN" sz="1400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x</m:t>
                        </m:r>
                        <m:r>
                          <a:rPr lang="en-US" altLang="zh-CN" sz="1400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CN" sz="1400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y</m:t>
                        </m:r>
                        <m:r>
                          <a:rPr lang="en-US" altLang="zh-CN" sz="1400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CN" sz="1400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z</m:t>
                        </m:r>
                        <m:r>
                          <a:rPr lang="en-US" altLang="zh-CN" sz="1400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1400" i="1">
                                <a:latin typeface="Cambria Math" panose="02040503050406030204" charset="0"/>
                                <a:cs typeface="Cambria Math" panose="02040503050406030204" charset="0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lang="en-US" altLang="zh-CN" sz="1400" i="1">
                                <a:latin typeface="Cambria Math" panose="02040503050406030204" charset="0"/>
                                <a:cs typeface="Cambria Math" panose="02040503050406030204" charset="0"/>
                                <a:sym typeface="+mn-ea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sz="1400" i="1">
                                <a:latin typeface="Cambria Math" panose="02040503050406030204" charset="0"/>
                                <a:cs typeface="Cambria Math" panose="02040503050406030204" charset="0"/>
                                <a:sym typeface="+mn-ea"/>
                              </a:rPr>
                              <m:t>𝑧</m:t>
                            </m:r>
                          </m:sub>
                        </m:sSub>
                        <m:r>
                          <a:rPr lang="en-US" altLang="zh-CN" sz="1400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)</m:t>
                        </m:r>
                      </m:oMath>
                    </m:oMathPara>
                  </a14:m>
                  <a:endParaRPr lang="en-US" altLang="zh-CN" sz="1400">
                    <a:latin typeface="Cambria Math" panose="02040503050406030204" charset="0"/>
                    <a:cs typeface="Cambria Math" panose="02040503050406030204" charset="0"/>
                    <a:sym typeface="+mn-ea"/>
                  </a:endParaRPr>
                </a:p>
              </p:txBody>
            </p:sp>
          </mc:Choice>
          <mc:Fallback>
            <p:sp>
              <p:nvSpPr>
                <p:cNvPr id="468" name="文本框 46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02" y="4680"/>
                  <a:ext cx="1385" cy="453"/>
                </a:xfrm>
                <a:prstGeom prst="rect">
                  <a:avLst/>
                </a:prstGeom>
                <a:blipFill rotWithShape="1">
                  <a:blip r:embed="rId30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" name="直接箭头连接符 1"/>
          <p:cNvCxnSpPr>
            <a:stCxn id="228" idx="3"/>
          </p:cNvCxnSpPr>
          <p:nvPr/>
        </p:nvCxnSpPr>
        <p:spPr>
          <a:xfrm>
            <a:off x="6714490" y="5162550"/>
            <a:ext cx="3810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439" name="图片 438"/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32"/>
          <a:stretch>
            <a:fillRect/>
          </a:stretch>
        </p:blipFill>
        <p:spPr>
          <a:xfrm>
            <a:off x="7465695" y="4679950"/>
            <a:ext cx="1217930" cy="69278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934200" y="5422900"/>
            <a:ext cx="2155190" cy="4311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/>
              <a:t>Entity </a:t>
            </a:r>
            <a:endParaRPr lang="en-US" altLang="zh-CN" b="1"/>
          </a:p>
          <a:p>
            <a:pPr algn="ctr"/>
            <a:r>
              <a:rPr lang="en-US" altLang="zh-CN" b="1"/>
              <a:t>instance</a:t>
            </a:r>
            <a:endParaRPr lang="en-US" altLang="zh-CN" b="1"/>
          </a:p>
        </p:txBody>
      </p:sp>
      <p:sp>
        <p:nvSpPr>
          <p:cNvPr id="6" name="文本框 5"/>
          <p:cNvSpPr txBox="1"/>
          <p:nvPr/>
        </p:nvSpPr>
        <p:spPr>
          <a:xfrm>
            <a:off x="9542780" y="1035685"/>
            <a:ext cx="9065260" cy="4794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buClrTx/>
              <a:buSzTx/>
              <a:buFontTx/>
            </a:pPr>
            <a:r>
              <a:rPr lang="en-US" altLang="zh-CN" sz="2800" b="1"/>
              <a:t>Semantic-Aware LiDAR Simulation</a:t>
            </a:r>
            <a:endParaRPr lang="en-US" altLang="zh-CN" sz="2800" b="1"/>
          </a:p>
        </p:txBody>
      </p:sp>
      <p:sp>
        <p:nvSpPr>
          <p:cNvPr id="7" name="文本框 6"/>
          <p:cNvSpPr txBox="1"/>
          <p:nvPr/>
        </p:nvSpPr>
        <p:spPr>
          <a:xfrm>
            <a:off x="9664065" y="4498340"/>
            <a:ext cx="8944610" cy="6064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 sz="2800" b="1">
                <a:sym typeface="+mn-ea"/>
              </a:rPr>
              <a:t>Semantic Diversity</a:t>
            </a:r>
            <a:r>
              <a:rPr lang="en-US" altLang="zh-CN" sz="2800" b="1">
                <a:sym typeface="+mn-ea"/>
              </a:rPr>
              <a:t>-</a:t>
            </a:r>
            <a:r>
              <a:rPr lang="en-US" altLang="zh-CN" sz="2800" b="1">
                <a:sym typeface="+mn-ea"/>
              </a:rPr>
              <a:t>Guided Testing</a:t>
            </a:r>
            <a:endParaRPr lang="en-US" altLang="zh-CN" sz="2800" b="1">
              <a:sym typeface="+mn-ea"/>
            </a:endParaRPr>
          </a:p>
        </p:txBody>
      </p:sp>
      <p:cxnSp>
        <p:nvCxnSpPr>
          <p:cNvPr id="9" name="直接箭头连接符 8"/>
          <p:cNvCxnSpPr/>
          <p:nvPr/>
        </p:nvCxnSpPr>
        <p:spPr>
          <a:xfrm>
            <a:off x="6714490" y="2715260"/>
            <a:ext cx="3810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4730115" y="5881370"/>
            <a:ext cx="1764030" cy="4318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>
                <a:sym typeface="+mn-ea"/>
              </a:rPr>
              <a:t>Others</a:t>
            </a:r>
            <a:endParaRPr lang="en-US" altLang="zh-CN">
              <a:sym typeface="+mn-ea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2596515" y="2984500"/>
            <a:ext cx="3877310" cy="494030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576830" y="3035300"/>
            <a:ext cx="3896360" cy="4311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>
                <a:sym typeface="+mn-ea"/>
              </a:rPr>
              <a:t>Semantic Constraints</a:t>
            </a:r>
            <a:endParaRPr lang="en-US" altLang="zh-CN"/>
          </a:p>
        </p:txBody>
      </p:sp>
      <p:sp>
        <p:nvSpPr>
          <p:cNvPr id="22" name="圆角矩形 21"/>
          <p:cNvSpPr/>
          <p:nvPr/>
        </p:nvSpPr>
        <p:spPr>
          <a:xfrm>
            <a:off x="2597150" y="2226310"/>
            <a:ext cx="3877310" cy="494030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2597150" y="2277110"/>
            <a:ext cx="3896995" cy="4940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>
                <a:sym typeface="+mn-ea"/>
              </a:rPr>
              <a:t>Spatial Constraints</a:t>
            </a:r>
            <a:endParaRPr lang="en-US" altLang="zh-CN"/>
          </a:p>
        </p:txBody>
      </p:sp>
      <p:sp>
        <p:nvSpPr>
          <p:cNvPr id="24" name="文本框 23"/>
          <p:cNvSpPr txBox="1"/>
          <p:nvPr/>
        </p:nvSpPr>
        <p:spPr>
          <a:xfrm>
            <a:off x="15887700" y="2956560"/>
            <a:ext cx="2720975" cy="4235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ctr">
              <a:lnSpc>
                <a:spcPct val="120000"/>
              </a:lnSpc>
              <a:buClrTx/>
              <a:buSzTx/>
              <a:buFontTx/>
            </a:pPr>
            <a:r>
              <a:rPr lang="zh-CN" altLang="en-US">
                <a:sym typeface="+mn-ea"/>
              </a:rPr>
              <a:t>Scene Integration</a:t>
            </a:r>
            <a:endParaRPr lang="zh-CN" altLang="en-US">
              <a:sym typeface="+mn-ea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10029190" y="5454015"/>
            <a:ext cx="866140" cy="866140"/>
            <a:chOff x="873" y="3352"/>
            <a:chExt cx="1260" cy="1234"/>
          </a:xfrm>
          <a:solidFill>
            <a:schemeClr val="accent1">
              <a:lumMod val="75000"/>
            </a:schemeClr>
          </a:solidFill>
        </p:grpSpPr>
        <p:pic>
          <p:nvPicPr>
            <p:cNvPr id="27" name="图片 26" descr="24gl-fileEmpty"/>
            <p:cNvPicPr>
              <a:picLocks noChangeAspect="1"/>
            </p:cNvPicPr>
            <p:nvPr>
              <p:custDataLst>
                <p:tags r:id="rId33"/>
              </p:custDataLst>
            </p:nvPr>
          </p:nvPicPr>
          <p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873" y="3352"/>
              <a:ext cx="1261" cy="1235"/>
            </a:xfrm>
            <a:prstGeom prst="rect">
              <a:avLst/>
            </a:prstGeom>
          </p:spPr>
        </p:pic>
        <p:pic>
          <p:nvPicPr>
            <p:cNvPr id="28" name="图片 27" descr="点云数据"/>
            <p:cNvPicPr>
              <a:picLocks noChangeAspect="1"/>
            </p:cNvPicPr>
            <p:nvPr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168" y="3783"/>
              <a:ext cx="692" cy="488"/>
            </a:xfrm>
            <a:prstGeom prst="rect">
              <a:avLst/>
            </a:prstGeom>
          </p:spPr>
        </p:pic>
      </p:grpSp>
      <p:sp>
        <p:nvSpPr>
          <p:cNvPr id="33" name="右箭头 32"/>
          <p:cNvSpPr/>
          <p:nvPr/>
        </p:nvSpPr>
        <p:spPr>
          <a:xfrm>
            <a:off x="9252585" y="2187575"/>
            <a:ext cx="360000" cy="43200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右箭头 33"/>
          <p:cNvSpPr/>
          <p:nvPr/>
        </p:nvSpPr>
        <p:spPr>
          <a:xfrm rot="5400000">
            <a:off x="10311688" y="3983868"/>
            <a:ext cx="360000" cy="43200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7" name="直接箭头连接符 36"/>
          <p:cNvCxnSpPr/>
          <p:nvPr/>
        </p:nvCxnSpPr>
        <p:spPr>
          <a:xfrm>
            <a:off x="19763105" y="2360930"/>
            <a:ext cx="0" cy="7560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/>
          <p:cNvCxnSpPr/>
          <p:nvPr/>
        </p:nvCxnSpPr>
        <p:spPr>
          <a:xfrm>
            <a:off x="19763105" y="4817110"/>
            <a:ext cx="0" cy="7560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/>
          <p:cNvCxnSpPr/>
          <p:nvPr/>
        </p:nvCxnSpPr>
        <p:spPr>
          <a:xfrm>
            <a:off x="15545435" y="2780030"/>
            <a:ext cx="324000" cy="0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1" name="直接箭头连接符 40"/>
          <p:cNvCxnSpPr/>
          <p:nvPr/>
        </p:nvCxnSpPr>
        <p:spPr>
          <a:xfrm>
            <a:off x="12552680" y="2780030"/>
            <a:ext cx="324000" cy="0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3" name="文本框 42"/>
          <p:cNvSpPr txBox="1"/>
          <p:nvPr/>
        </p:nvSpPr>
        <p:spPr>
          <a:xfrm>
            <a:off x="16841470" y="5352415"/>
            <a:ext cx="140017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ym typeface="+mn-ea"/>
              </a:rPr>
              <a:t>Increased?</a:t>
            </a:r>
            <a:endParaRPr lang="en-US" altLang="zh-CN">
              <a:sym typeface="+mn-ea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3570605" y="6747510"/>
            <a:ext cx="4064000" cy="4603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buClrTx/>
              <a:buSzTx/>
              <a:buFontTx/>
            </a:pPr>
            <a:r>
              <a:rPr lang="en-US" altLang="zh-CN" sz="2400" b="1"/>
              <a:t>Metamorphic Relations</a:t>
            </a:r>
            <a:endParaRPr lang="en-US" altLang="zh-CN" sz="2400" b="1"/>
          </a:p>
        </p:txBody>
      </p:sp>
      <p:sp>
        <p:nvSpPr>
          <p:cNvPr id="46" name="文本框 45"/>
          <p:cNvSpPr txBox="1"/>
          <p:nvPr/>
        </p:nvSpPr>
        <p:spPr>
          <a:xfrm>
            <a:off x="2338705" y="1630680"/>
            <a:ext cx="4396105" cy="4337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400" b="1">
                <a:sym typeface="+mn-ea"/>
              </a:rPr>
              <a:t>Semantic Pose Generation</a:t>
            </a:r>
            <a:endParaRPr lang="en-US" altLang="zh-CN" sz="2000" b="1">
              <a:sym typeface="+mn-ea"/>
            </a:endParaRPr>
          </a:p>
        </p:txBody>
      </p:sp>
      <p:cxnSp>
        <p:nvCxnSpPr>
          <p:cNvPr id="48" name="直接箭头连接符 47"/>
          <p:cNvCxnSpPr>
            <a:endCxn id="3" idx="2"/>
          </p:cNvCxnSpPr>
          <p:nvPr/>
        </p:nvCxnSpPr>
        <p:spPr>
          <a:xfrm flipV="1">
            <a:off x="8007350" y="6446520"/>
            <a:ext cx="1905" cy="24511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8232755" y="5161915"/>
            <a:ext cx="42037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600"/>
              <a:t>Y</a:t>
            </a:r>
            <a:endParaRPr lang="en-US" altLang="zh-CN"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6978650" y="1602740"/>
            <a:ext cx="2053590" cy="4843780"/>
          </a:xfrm>
          <a:prstGeom prst="rect">
            <a:avLst/>
          </a:prstGeom>
          <a:solidFill>
            <a:schemeClr val="bg2">
              <a:lumMod val="95000"/>
            </a:schemeClr>
          </a:solidFill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1" name="圆角矩形 50"/>
          <p:cNvSpPr/>
          <p:nvPr/>
        </p:nvSpPr>
        <p:spPr>
          <a:xfrm>
            <a:off x="7073265" y="4478655"/>
            <a:ext cx="1880870" cy="10800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0" name="圆角矩形 49"/>
          <p:cNvSpPr/>
          <p:nvPr/>
        </p:nvSpPr>
        <p:spPr>
          <a:xfrm>
            <a:off x="7064375" y="2223135"/>
            <a:ext cx="1880870" cy="1080000"/>
          </a:xfrm>
          <a:prstGeom prst="round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7" name="矩形 46"/>
          <p:cNvSpPr/>
          <p:nvPr/>
        </p:nvSpPr>
        <p:spPr>
          <a:xfrm>
            <a:off x="2283460" y="6691630"/>
            <a:ext cx="6590665" cy="59880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1600">
              <a:sym typeface="+mn-ea"/>
            </a:endParaRPr>
          </a:p>
        </p:txBody>
      </p:sp>
      <p:sp>
        <p:nvSpPr>
          <p:cNvPr id="228" name="矩形 227"/>
          <p:cNvSpPr/>
          <p:nvPr/>
        </p:nvSpPr>
        <p:spPr>
          <a:xfrm>
            <a:off x="2263140" y="3878580"/>
            <a:ext cx="4396105" cy="256794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1600">
              <a:sym typeface="+mn-ea"/>
            </a:endParaRPr>
          </a:p>
        </p:txBody>
      </p:sp>
      <p:sp>
        <p:nvSpPr>
          <p:cNvPr id="230" name="文本框 229"/>
          <p:cNvSpPr txBox="1"/>
          <p:nvPr/>
        </p:nvSpPr>
        <p:spPr>
          <a:xfrm>
            <a:off x="134303" y="4016375"/>
            <a:ext cx="1764665" cy="3352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/>
              <a:t>Initial Seeds</a:t>
            </a:r>
            <a:endParaRPr lang="en-US" altLang="zh-CN" b="1"/>
          </a:p>
        </p:txBody>
      </p:sp>
      <p:sp>
        <p:nvSpPr>
          <p:cNvPr id="231" name="文本框 230"/>
          <p:cNvSpPr txBox="1"/>
          <p:nvPr/>
        </p:nvSpPr>
        <p:spPr>
          <a:xfrm>
            <a:off x="134938" y="1870710"/>
            <a:ext cx="17659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/>
              <a:t>Test data</a:t>
            </a:r>
            <a:endParaRPr lang="en-US" altLang="zh-CN" b="1"/>
          </a:p>
        </p:txBody>
      </p:sp>
      <p:sp>
        <p:nvSpPr>
          <p:cNvPr id="232" name="文本框 231"/>
          <p:cNvSpPr txBox="1"/>
          <p:nvPr/>
        </p:nvSpPr>
        <p:spPr>
          <a:xfrm>
            <a:off x="134620" y="6235065"/>
            <a:ext cx="17665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/>
              <a:t>Seed Queue</a:t>
            </a:r>
            <a:endParaRPr lang="en-US" altLang="zh-CN" b="1"/>
          </a:p>
        </p:txBody>
      </p:sp>
      <p:sp>
        <p:nvSpPr>
          <p:cNvPr id="233" name="右箭头 232"/>
          <p:cNvSpPr/>
          <p:nvPr/>
        </p:nvSpPr>
        <p:spPr>
          <a:xfrm>
            <a:off x="1642110" y="5645785"/>
            <a:ext cx="360000" cy="43200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34" name="肘形连接符 233"/>
          <p:cNvCxnSpPr>
            <a:stCxn id="295" idx="3"/>
            <a:endCxn id="232" idx="2"/>
          </p:cNvCxnSpPr>
          <p:nvPr/>
        </p:nvCxnSpPr>
        <p:spPr>
          <a:xfrm flipH="1">
            <a:off x="1017905" y="5546725"/>
            <a:ext cx="17245965" cy="1056640"/>
          </a:xfrm>
          <a:prstGeom prst="bentConnector4">
            <a:avLst>
              <a:gd name="adj1" fmla="val -3346"/>
              <a:gd name="adj2" fmla="val 200120"/>
            </a:avLst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5" name="直接箭头连接符 234"/>
          <p:cNvCxnSpPr/>
          <p:nvPr/>
        </p:nvCxnSpPr>
        <p:spPr>
          <a:xfrm>
            <a:off x="1003935" y="2294890"/>
            <a:ext cx="0" cy="7560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直接箭头连接符 235"/>
          <p:cNvCxnSpPr/>
          <p:nvPr/>
        </p:nvCxnSpPr>
        <p:spPr>
          <a:xfrm>
            <a:off x="1003935" y="4508500"/>
            <a:ext cx="0" cy="7560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7" name="图片 236" descr="队列-copy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3090" y="5433695"/>
            <a:ext cx="801370" cy="801370"/>
          </a:xfrm>
          <a:prstGeom prst="rect">
            <a:avLst/>
          </a:prstGeom>
        </p:spPr>
      </p:pic>
      <p:sp>
        <p:nvSpPr>
          <p:cNvPr id="238" name="矩形 237"/>
          <p:cNvSpPr/>
          <p:nvPr/>
        </p:nvSpPr>
        <p:spPr>
          <a:xfrm>
            <a:off x="2267585" y="1593215"/>
            <a:ext cx="4396105" cy="21005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mpd="sng">
            <a:solidFill>
              <a:schemeClr val="accent1">
                <a:shade val="50000"/>
              </a:schemeClr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0" name="圆角矩形 239"/>
          <p:cNvSpPr/>
          <p:nvPr/>
        </p:nvSpPr>
        <p:spPr>
          <a:xfrm>
            <a:off x="2616397" y="5854155"/>
            <a:ext cx="1764000" cy="432000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241" name="圆角矩形 240"/>
          <p:cNvSpPr/>
          <p:nvPr/>
        </p:nvSpPr>
        <p:spPr>
          <a:xfrm>
            <a:off x="2597347" y="5171614"/>
            <a:ext cx="1764000" cy="432000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242" name="圆角矩形 241"/>
          <p:cNvSpPr/>
          <p:nvPr/>
        </p:nvSpPr>
        <p:spPr>
          <a:xfrm>
            <a:off x="4730312" y="4514940"/>
            <a:ext cx="1764000" cy="432000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243" name="圆角矩形 242"/>
          <p:cNvSpPr/>
          <p:nvPr/>
        </p:nvSpPr>
        <p:spPr>
          <a:xfrm>
            <a:off x="4730312" y="5171614"/>
            <a:ext cx="1764000" cy="432000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244" name="圆角矩形 243"/>
          <p:cNvSpPr/>
          <p:nvPr/>
        </p:nvSpPr>
        <p:spPr>
          <a:xfrm>
            <a:off x="4730312" y="5871384"/>
            <a:ext cx="1764000" cy="432000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245" name="圆角矩形 244"/>
          <p:cNvSpPr/>
          <p:nvPr/>
        </p:nvSpPr>
        <p:spPr>
          <a:xfrm>
            <a:off x="2597150" y="4515775"/>
            <a:ext cx="1764030" cy="431165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Vehicle</a:t>
            </a: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sp>
        <p:nvSpPr>
          <p:cNvPr id="246" name="矩形 245"/>
          <p:cNvSpPr/>
          <p:nvPr/>
        </p:nvSpPr>
        <p:spPr>
          <a:xfrm>
            <a:off x="2606040" y="4489450"/>
            <a:ext cx="1764030" cy="431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2">
                    <a:lumMod val="95000"/>
                  </a:schemeClr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sp>
        <p:nvSpPr>
          <p:cNvPr id="247" name="文本框 246"/>
          <p:cNvSpPr txBox="1"/>
          <p:nvPr/>
        </p:nvSpPr>
        <p:spPr>
          <a:xfrm>
            <a:off x="2597150" y="5181600"/>
            <a:ext cx="1764030" cy="4318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>
                <a:sym typeface="+mn-ea"/>
              </a:rPr>
              <a:t>Vegetation</a:t>
            </a:r>
            <a:endParaRPr lang="en-US" altLang="zh-CN">
              <a:sym typeface="+mn-ea"/>
            </a:endParaRPr>
          </a:p>
        </p:txBody>
      </p:sp>
      <p:sp>
        <p:nvSpPr>
          <p:cNvPr id="248" name="文本框 247"/>
          <p:cNvSpPr txBox="1"/>
          <p:nvPr/>
        </p:nvSpPr>
        <p:spPr>
          <a:xfrm>
            <a:off x="4730115" y="5181600"/>
            <a:ext cx="1764030" cy="4318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>
                <a:sym typeface="+mn-ea"/>
              </a:rPr>
              <a:t>Animal</a:t>
            </a:r>
            <a:endParaRPr lang="en-US" altLang="zh-CN">
              <a:sym typeface="+mn-ea"/>
            </a:endParaRPr>
          </a:p>
        </p:txBody>
      </p:sp>
      <p:sp>
        <p:nvSpPr>
          <p:cNvPr id="250" name="文本框 249"/>
          <p:cNvSpPr txBox="1"/>
          <p:nvPr/>
        </p:nvSpPr>
        <p:spPr>
          <a:xfrm>
            <a:off x="4730115" y="4530725"/>
            <a:ext cx="1764030" cy="4318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>
                <a:sym typeface="+mn-ea"/>
              </a:rPr>
              <a:t>Person</a:t>
            </a:r>
            <a:endParaRPr lang="en-US" altLang="zh-CN">
              <a:sym typeface="+mn-ea"/>
            </a:endParaRPr>
          </a:p>
        </p:txBody>
      </p:sp>
      <p:sp>
        <p:nvSpPr>
          <p:cNvPr id="251" name="文本框 250"/>
          <p:cNvSpPr txBox="1"/>
          <p:nvPr/>
        </p:nvSpPr>
        <p:spPr>
          <a:xfrm>
            <a:off x="2597150" y="5871210"/>
            <a:ext cx="1764030" cy="4318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zh-CN" altLang="en-US">
                <a:sym typeface="+mn-ea"/>
              </a:rPr>
              <a:t>Infrastructure</a:t>
            </a:r>
            <a:endParaRPr lang="zh-CN" altLang="en-US">
              <a:sym typeface="+mn-ea"/>
            </a:endParaRPr>
          </a:p>
        </p:txBody>
      </p:sp>
      <p:sp>
        <p:nvSpPr>
          <p:cNvPr id="254" name="矩形 253"/>
          <p:cNvSpPr/>
          <p:nvPr/>
        </p:nvSpPr>
        <p:spPr>
          <a:xfrm>
            <a:off x="9664700" y="928370"/>
            <a:ext cx="8988425" cy="3023870"/>
          </a:xfrm>
          <a:prstGeom prst="rect">
            <a:avLst/>
          </a:prstGeom>
          <a:noFill/>
          <a:ln w="28575" cmpd="dbl">
            <a:solidFill>
              <a:schemeClr val="tx1"/>
            </a:solidFill>
            <a:prstDash val="lgDash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61" name="矩形 260"/>
          <p:cNvSpPr/>
          <p:nvPr/>
        </p:nvSpPr>
        <p:spPr>
          <a:xfrm>
            <a:off x="9664700" y="4404360"/>
            <a:ext cx="8989060" cy="3023870"/>
          </a:xfrm>
          <a:prstGeom prst="rect">
            <a:avLst/>
          </a:prstGeom>
          <a:noFill/>
          <a:ln w="28575" cmpd="dbl">
            <a:solidFill>
              <a:schemeClr val="tx1"/>
            </a:solidFill>
            <a:prstDash val="lgDash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62" name="矩形 261"/>
          <p:cNvSpPr/>
          <p:nvPr/>
        </p:nvSpPr>
        <p:spPr>
          <a:xfrm>
            <a:off x="9824085" y="1631950"/>
            <a:ext cx="2728595" cy="209994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1600">
              <a:sym typeface="+mn-ea"/>
            </a:endParaRPr>
          </a:p>
        </p:txBody>
      </p:sp>
      <p:sp>
        <p:nvSpPr>
          <p:cNvPr id="263" name="圆角矩形 262"/>
          <p:cNvSpPr/>
          <p:nvPr/>
        </p:nvSpPr>
        <p:spPr>
          <a:xfrm>
            <a:off x="9902190" y="2115820"/>
            <a:ext cx="2520000" cy="540000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t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264" name="矩形 263"/>
          <p:cNvSpPr/>
          <p:nvPr/>
        </p:nvSpPr>
        <p:spPr>
          <a:xfrm>
            <a:off x="12808585" y="1631315"/>
            <a:ext cx="2728595" cy="210121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1600">
              <a:sym typeface="+mn-ea"/>
            </a:endParaRPr>
          </a:p>
        </p:txBody>
      </p:sp>
      <p:sp>
        <p:nvSpPr>
          <p:cNvPr id="265" name="圆角矩形 264"/>
          <p:cNvSpPr/>
          <p:nvPr/>
        </p:nvSpPr>
        <p:spPr>
          <a:xfrm>
            <a:off x="9902190" y="2929255"/>
            <a:ext cx="2520000" cy="540000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t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266" name="文本框 265"/>
          <p:cNvSpPr txBox="1"/>
          <p:nvPr/>
        </p:nvSpPr>
        <p:spPr>
          <a:xfrm>
            <a:off x="9902190" y="2981325"/>
            <a:ext cx="2519680" cy="443865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ym typeface="+mn-ea"/>
              </a:rPr>
              <a:t>Sensor Specification</a:t>
            </a:r>
            <a:endParaRPr lang="en-US" altLang="zh-CN">
              <a:sym typeface="+mn-ea"/>
            </a:endParaRPr>
          </a:p>
        </p:txBody>
      </p:sp>
      <p:sp>
        <p:nvSpPr>
          <p:cNvPr id="267" name="文本框 266"/>
          <p:cNvSpPr txBox="1"/>
          <p:nvPr/>
        </p:nvSpPr>
        <p:spPr>
          <a:xfrm>
            <a:off x="9902190" y="2183130"/>
            <a:ext cx="2522855" cy="460375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p>
            <a:pPr algn="ctr"/>
            <a:r>
              <a:rPr lang="en-US" altLang="zh-CN">
                <a:sym typeface="+mn-ea"/>
              </a:rPr>
              <a:t>Beam Generation</a:t>
            </a:r>
            <a:endParaRPr lang="en-US" altLang="zh-CN">
              <a:sym typeface="+mn-ea"/>
            </a:endParaRPr>
          </a:p>
        </p:txBody>
      </p:sp>
      <p:sp>
        <p:nvSpPr>
          <p:cNvPr id="268" name="文本框 267"/>
          <p:cNvSpPr txBox="1"/>
          <p:nvPr/>
        </p:nvSpPr>
        <p:spPr>
          <a:xfrm>
            <a:off x="9823450" y="1655445"/>
            <a:ext cx="2729230" cy="2305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>
                <a:sym typeface="+mn-ea"/>
              </a:rPr>
              <a:t>Virtual LiDAR Setup</a:t>
            </a:r>
            <a:endParaRPr lang="en-US" altLang="zh-CN" b="1">
              <a:sym typeface="+mn-ea"/>
            </a:endParaRPr>
          </a:p>
        </p:txBody>
      </p:sp>
      <p:sp>
        <p:nvSpPr>
          <p:cNvPr id="269" name="文本框 268"/>
          <p:cNvSpPr txBox="1"/>
          <p:nvPr/>
        </p:nvSpPr>
        <p:spPr>
          <a:xfrm>
            <a:off x="12808585" y="1630680"/>
            <a:ext cx="2727325" cy="4438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>
                <a:sym typeface="+mn-ea"/>
              </a:rPr>
              <a:t>Beam Propagatio</a:t>
            </a:r>
            <a:r>
              <a:rPr lang="zh-CN" altLang="en-US" b="1">
                <a:sym typeface="+mn-ea"/>
              </a:rPr>
              <a:t>n</a:t>
            </a:r>
            <a:endParaRPr lang="en-US" altLang="zh-CN" b="1">
              <a:sym typeface="+mn-ea"/>
            </a:endParaRPr>
          </a:p>
        </p:txBody>
      </p:sp>
      <p:sp>
        <p:nvSpPr>
          <p:cNvPr id="270" name="圆角矩形 269"/>
          <p:cNvSpPr/>
          <p:nvPr/>
        </p:nvSpPr>
        <p:spPr>
          <a:xfrm>
            <a:off x="12939395" y="2115820"/>
            <a:ext cx="2520000" cy="540000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t" anchorCtr="0" forceAA="0" compatLnSpc="1">
            <a:noAutofit/>
          </a:bodyPr>
          <a:p>
            <a:pPr lvl="0" algn="ctr">
              <a:lnSpc>
                <a:spcPct val="120000"/>
              </a:lnSpc>
              <a:buClrTx/>
              <a:buSzTx/>
              <a:buFontTx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Range Computation</a:t>
            </a: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sp>
        <p:nvSpPr>
          <p:cNvPr id="271" name="圆角矩形 270"/>
          <p:cNvSpPr/>
          <p:nvPr/>
        </p:nvSpPr>
        <p:spPr>
          <a:xfrm>
            <a:off x="12939395" y="2929255"/>
            <a:ext cx="2520000" cy="540000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t" anchorCtr="0" forceAA="0" compatLnSpc="1">
            <a:noAutofit/>
          </a:bodyPr>
          <a:p>
            <a:pPr lvl="0" algn="ctr">
              <a:lnSpc>
                <a:spcPct val="120000"/>
              </a:lnSpc>
              <a:buClrTx/>
              <a:buSzTx/>
              <a:buFontTx/>
            </a:pPr>
            <a:r>
              <a:rPr lang="zh-CN" altLang="en-US">
                <a:sym typeface="+mn-ea"/>
              </a:rPr>
              <a:t>Reflectivity Modeling</a:t>
            </a: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sp>
        <p:nvSpPr>
          <p:cNvPr id="273" name="矩形 272"/>
          <p:cNvSpPr/>
          <p:nvPr/>
        </p:nvSpPr>
        <p:spPr>
          <a:xfrm>
            <a:off x="15803880" y="1631950"/>
            <a:ext cx="2728595" cy="210121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1600">
              <a:sym typeface="+mn-ea"/>
            </a:endParaRPr>
          </a:p>
        </p:txBody>
      </p:sp>
      <p:sp>
        <p:nvSpPr>
          <p:cNvPr id="274" name="文本框 273"/>
          <p:cNvSpPr txBox="1"/>
          <p:nvPr/>
        </p:nvSpPr>
        <p:spPr>
          <a:xfrm>
            <a:off x="15805150" y="1637665"/>
            <a:ext cx="2727325" cy="4438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b="1">
                <a:sym typeface="+mn-ea"/>
              </a:rPr>
              <a:t>Point Cloud Generation</a:t>
            </a:r>
            <a:endParaRPr lang="zh-CN" altLang="en-US" b="1">
              <a:sym typeface="+mn-ea"/>
            </a:endParaRPr>
          </a:p>
          <a:p>
            <a:pPr algn="ctr"/>
            <a:endParaRPr lang="zh-CN" altLang="en-US" b="1">
              <a:sym typeface="+mn-ea"/>
            </a:endParaRPr>
          </a:p>
        </p:txBody>
      </p:sp>
      <p:sp>
        <p:nvSpPr>
          <p:cNvPr id="275" name="文本框 274"/>
          <p:cNvSpPr txBox="1"/>
          <p:nvPr/>
        </p:nvSpPr>
        <p:spPr>
          <a:xfrm>
            <a:off x="15963900" y="2115820"/>
            <a:ext cx="2255520" cy="3943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endParaRPr lang="zh-CN" altLang="en-US"/>
          </a:p>
        </p:txBody>
      </p:sp>
      <p:sp>
        <p:nvSpPr>
          <p:cNvPr id="276" name="圆角矩形 275"/>
          <p:cNvSpPr/>
          <p:nvPr/>
        </p:nvSpPr>
        <p:spPr>
          <a:xfrm>
            <a:off x="15935960" y="2115820"/>
            <a:ext cx="2520000" cy="540000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t" anchorCtr="0" forceAA="0" compatLnSpc="1">
            <a:noAutofit/>
          </a:bodyPr>
          <a:p>
            <a:pPr lvl="0" algn="ctr">
              <a:lnSpc>
                <a:spcPct val="120000"/>
              </a:lnSpc>
              <a:buClrTx/>
              <a:buSzTx/>
              <a:buFontTx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Point Computation</a:t>
            </a: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sp>
        <p:nvSpPr>
          <p:cNvPr id="277" name="圆角矩形 276"/>
          <p:cNvSpPr/>
          <p:nvPr/>
        </p:nvSpPr>
        <p:spPr>
          <a:xfrm>
            <a:off x="15935960" y="2929255"/>
            <a:ext cx="2548255" cy="539750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t" anchorCtr="0" forceAA="0" compatLnSpc="1">
            <a:noAutofit/>
          </a:bodyPr>
          <a:p>
            <a:pPr lvl="0" algn="ctr">
              <a:lnSpc>
                <a:spcPct val="120000"/>
              </a:lnSpc>
              <a:buClrTx/>
              <a:buSzTx/>
              <a:buFontTx/>
            </a:pPr>
            <a:endParaRPr lang="en-US" altLang="zh-CN">
              <a:sym typeface="+mn-ea"/>
            </a:endParaRPr>
          </a:p>
        </p:txBody>
      </p:sp>
      <p:sp>
        <p:nvSpPr>
          <p:cNvPr id="279" name="圆角矩形 278"/>
          <p:cNvSpPr/>
          <p:nvPr>
            <p:custDataLst>
              <p:tags r:id="rId3"/>
            </p:custDataLst>
          </p:nvPr>
        </p:nvSpPr>
        <p:spPr>
          <a:xfrm>
            <a:off x="11367135" y="5081270"/>
            <a:ext cx="5048885" cy="2005330"/>
          </a:xfrm>
          <a:prstGeom prst="roundRect">
            <a:avLst>
              <a:gd name="adj" fmla="val 5234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80" name="334E55B0-647D-440b-865C-3EC943EB4CBC-9" descr="/Users/gaoxinyu/Library/Containers/com.kingsoft.wpsoffice.mac/Data/tmp/wpsoffice.cEbuJowpsoffic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12245" y="6153785"/>
            <a:ext cx="2155190" cy="636905"/>
          </a:xfrm>
          <a:prstGeom prst="rect">
            <a:avLst/>
          </a:prstGeom>
        </p:spPr>
      </p:pic>
      <p:sp>
        <p:nvSpPr>
          <p:cNvPr id="281" name="文本框 280"/>
          <p:cNvSpPr txBox="1"/>
          <p:nvPr>
            <p:custDataLst>
              <p:tags r:id="rId5"/>
            </p:custDataLst>
          </p:nvPr>
        </p:nvSpPr>
        <p:spPr>
          <a:xfrm>
            <a:off x="11431905" y="5187950"/>
            <a:ext cx="4983480" cy="6623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>
                <a:sym typeface="+mn-ea"/>
              </a:rPr>
              <a:t>Diversity</a:t>
            </a:r>
            <a:r>
              <a:rPr lang="en-US" altLang="zh-CN" b="1"/>
              <a:t> Guidance</a:t>
            </a:r>
            <a:r>
              <a:rPr lang="en-US" altLang="zh-CN"/>
              <a:t> : </a:t>
            </a:r>
            <a:r>
              <a:rPr lang="zh-CN" altLang="en-US">
                <a:sym typeface="+mn-ea"/>
              </a:rPr>
              <a:t>Measuring the </a:t>
            </a:r>
            <a:r>
              <a:rPr lang="en-US" altLang="zh-CN">
                <a:sym typeface="+mn-ea"/>
              </a:rPr>
              <a:t>diversity </a:t>
            </a:r>
            <a:r>
              <a:rPr lang="zh-CN" altLang="en-US">
                <a:sym typeface="+mn-ea"/>
              </a:rPr>
              <a:t>of </a:t>
            </a:r>
            <a:r>
              <a:rPr lang="en-US" altLang="zh-CN">
                <a:sym typeface="+mn-ea"/>
              </a:rPr>
              <a:t>generate point cloud S</a:t>
            </a:r>
            <a:endParaRPr lang="en-US" altLang="zh-CN">
              <a:sym typeface="+mn-ea"/>
            </a:endParaRPr>
          </a:p>
        </p:txBody>
      </p:sp>
      <p:grpSp>
        <p:nvGrpSpPr>
          <p:cNvPr id="282" name="组合 281"/>
          <p:cNvGrpSpPr/>
          <p:nvPr/>
        </p:nvGrpSpPr>
        <p:grpSpPr>
          <a:xfrm>
            <a:off x="13916660" y="5905291"/>
            <a:ext cx="2372103" cy="975298"/>
            <a:chOff x="2806" y="-6735"/>
            <a:chExt cx="6271" cy="2677"/>
          </a:xfrm>
        </p:grpSpPr>
        <p:sp>
          <p:nvSpPr>
            <p:cNvPr id="283" name="椭圆 282"/>
            <p:cNvSpPr/>
            <p:nvPr/>
          </p:nvSpPr>
          <p:spPr>
            <a:xfrm>
              <a:off x="2806" y="-6735"/>
              <a:ext cx="6271" cy="2677"/>
            </a:xfrm>
            <a:prstGeom prst="ellipse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pic>
          <p:nvPicPr>
            <p:cNvPr id="284" name="图片 283" descr="交通标志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400" y="-6233"/>
              <a:ext cx="1154" cy="1154"/>
            </a:xfrm>
            <a:prstGeom prst="rect">
              <a:avLst/>
            </a:prstGeom>
          </p:spPr>
        </p:pic>
        <p:pic>
          <p:nvPicPr>
            <p:cNvPr id="285" name="图片 284" descr="步行"/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965" y="-5830"/>
              <a:ext cx="853" cy="853"/>
            </a:xfrm>
            <a:prstGeom prst="rect">
              <a:avLst/>
            </a:prstGeom>
          </p:spPr>
        </p:pic>
        <p:pic>
          <p:nvPicPr>
            <p:cNvPr id="286" name="图片 285" descr="_汽车票"/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6415" y="-6449"/>
              <a:ext cx="918" cy="918"/>
            </a:xfrm>
            <a:prstGeom prst="rect">
              <a:avLst/>
            </a:prstGeom>
          </p:spPr>
        </p:pic>
        <p:pic>
          <p:nvPicPr>
            <p:cNvPr id="287" name="图片 286" descr="步行"/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578" y="-5364"/>
              <a:ext cx="725" cy="725"/>
            </a:xfrm>
            <a:prstGeom prst="rect">
              <a:avLst/>
            </a:prstGeom>
          </p:spPr>
        </p:pic>
        <p:pic>
          <p:nvPicPr>
            <p:cNvPr id="288" name="图片 287" descr="_汽车票"/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7333" y="-6158"/>
              <a:ext cx="918" cy="918"/>
            </a:xfrm>
            <a:prstGeom prst="rect">
              <a:avLst/>
            </a:prstGeom>
          </p:spPr>
        </p:pic>
        <p:pic>
          <p:nvPicPr>
            <p:cNvPr id="289" name="图片 288" descr="_汽车票"/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6415" y="-5531"/>
              <a:ext cx="918" cy="918"/>
            </a:xfrm>
            <a:prstGeom prst="rect">
              <a:avLst/>
            </a:prstGeom>
          </p:spPr>
        </p:pic>
        <p:pic>
          <p:nvPicPr>
            <p:cNvPr id="290" name="图片 289" descr="交通标志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063" y="-5577"/>
              <a:ext cx="1154" cy="1154"/>
            </a:xfrm>
            <a:prstGeom prst="rect">
              <a:avLst/>
            </a:prstGeom>
          </p:spPr>
        </p:pic>
        <p:pic>
          <p:nvPicPr>
            <p:cNvPr id="291" name="图片 290" descr="自行车-母婴"/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4978" y="-6688"/>
              <a:ext cx="1105" cy="1110"/>
            </a:xfrm>
            <a:prstGeom prst="rect">
              <a:avLst/>
            </a:prstGeom>
          </p:spPr>
        </p:pic>
      </p:grpSp>
      <p:sp>
        <p:nvSpPr>
          <p:cNvPr id="293" name="文本框 292"/>
          <p:cNvSpPr txBox="1"/>
          <p:nvPr/>
        </p:nvSpPr>
        <p:spPr>
          <a:xfrm>
            <a:off x="9664700" y="6370955"/>
            <a:ext cx="16605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/>
              <a:t>Transformed</a:t>
            </a:r>
            <a:endParaRPr lang="en-US" altLang="zh-CN" b="1"/>
          </a:p>
          <a:p>
            <a:pPr algn="ctr"/>
            <a:r>
              <a:rPr lang="en-US" altLang="zh-CN" b="1"/>
              <a:t>point cloud</a:t>
            </a:r>
            <a:endParaRPr lang="en-US" altLang="zh-CN" b="1"/>
          </a:p>
        </p:txBody>
      </p:sp>
      <p:cxnSp>
        <p:nvCxnSpPr>
          <p:cNvPr id="294" name="直接箭头连接符 293"/>
          <p:cNvCxnSpPr/>
          <p:nvPr/>
        </p:nvCxnSpPr>
        <p:spPr>
          <a:xfrm>
            <a:off x="10920730" y="5871845"/>
            <a:ext cx="45783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95" name="菱形 294"/>
          <p:cNvSpPr/>
          <p:nvPr/>
        </p:nvSpPr>
        <p:spPr>
          <a:xfrm>
            <a:off x="16694785" y="5166995"/>
            <a:ext cx="1569085" cy="759460"/>
          </a:xfrm>
          <a:prstGeom prst="diamond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000">
              <a:solidFill>
                <a:schemeClr val="tx1"/>
              </a:solidFill>
            </a:endParaRPr>
          </a:p>
        </p:txBody>
      </p:sp>
      <p:sp>
        <p:nvSpPr>
          <p:cNvPr id="296" name="流程图: 过程 295"/>
          <p:cNvSpPr/>
          <p:nvPr>
            <p:custDataLst>
              <p:tags r:id="rId14"/>
            </p:custDataLst>
          </p:nvPr>
        </p:nvSpPr>
        <p:spPr>
          <a:xfrm>
            <a:off x="16694785" y="6480175"/>
            <a:ext cx="1524635" cy="580390"/>
          </a:xfrm>
          <a:prstGeom prst="flowChartProcess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Discarded</a:t>
            </a:r>
            <a:endParaRPr lang="en-US" altLang="zh-CN">
              <a:solidFill>
                <a:schemeClr val="tx1"/>
              </a:solidFill>
            </a:endParaRPr>
          </a:p>
        </p:txBody>
      </p:sp>
      <p:cxnSp>
        <p:nvCxnSpPr>
          <p:cNvPr id="297" name="直接箭头连接符 296"/>
          <p:cNvCxnSpPr>
            <a:stCxn id="295" idx="2"/>
            <a:endCxn id="296" idx="0"/>
          </p:cNvCxnSpPr>
          <p:nvPr/>
        </p:nvCxnSpPr>
        <p:spPr>
          <a:xfrm flipH="1">
            <a:off x="17457420" y="5926455"/>
            <a:ext cx="22225" cy="55372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98" name="文本框 297"/>
          <p:cNvSpPr txBox="1"/>
          <p:nvPr/>
        </p:nvSpPr>
        <p:spPr>
          <a:xfrm>
            <a:off x="17485360" y="6040120"/>
            <a:ext cx="42037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600"/>
              <a:t>N</a:t>
            </a:r>
            <a:endParaRPr lang="en-US" altLang="zh-CN" sz="1600"/>
          </a:p>
        </p:txBody>
      </p:sp>
      <p:cxnSp>
        <p:nvCxnSpPr>
          <p:cNvPr id="301" name="直接箭头连接符 300"/>
          <p:cNvCxnSpPr/>
          <p:nvPr/>
        </p:nvCxnSpPr>
        <p:spPr>
          <a:xfrm>
            <a:off x="16407765" y="5541645"/>
            <a:ext cx="28702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02" name="文本框 301"/>
          <p:cNvSpPr txBox="1"/>
          <p:nvPr/>
        </p:nvSpPr>
        <p:spPr>
          <a:xfrm>
            <a:off x="9542780" y="7750175"/>
            <a:ext cx="3876675" cy="5410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600"/>
              <a:t>Add seeds back to the queue</a:t>
            </a:r>
            <a:endParaRPr lang="en-US" altLang="zh-CN" sz="1600"/>
          </a:p>
        </p:txBody>
      </p:sp>
      <p:sp>
        <p:nvSpPr>
          <p:cNvPr id="303" name="文本框 302"/>
          <p:cNvSpPr txBox="1"/>
          <p:nvPr/>
        </p:nvSpPr>
        <p:spPr>
          <a:xfrm>
            <a:off x="18904585" y="1978025"/>
            <a:ext cx="17170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/>
              <a:t>Test dataset</a:t>
            </a:r>
            <a:endParaRPr lang="en-US" altLang="zh-CN" b="1"/>
          </a:p>
        </p:txBody>
      </p:sp>
      <p:grpSp>
        <p:nvGrpSpPr>
          <p:cNvPr id="304" name="组合 303"/>
          <p:cNvGrpSpPr/>
          <p:nvPr/>
        </p:nvGrpSpPr>
        <p:grpSpPr>
          <a:xfrm>
            <a:off x="19321145" y="1059180"/>
            <a:ext cx="902335" cy="862965"/>
            <a:chOff x="2244" y="177"/>
            <a:chExt cx="960" cy="960"/>
          </a:xfrm>
        </p:grpSpPr>
        <p:pic>
          <p:nvPicPr>
            <p:cNvPr id="305" name="图片 304" descr="24gl-fileEmpty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2244" y="177"/>
              <a:ext cx="960" cy="960"/>
            </a:xfrm>
            <a:prstGeom prst="rect">
              <a:avLst/>
            </a:prstGeom>
          </p:spPr>
        </p:pic>
        <p:pic>
          <p:nvPicPr>
            <p:cNvPr id="306" name="图片 305" descr="点云数据"/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2412" y="506"/>
              <a:ext cx="671" cy="483"/>
            </a:xfrm>
            <a:prstGeom prst="rect">
              <a:avLst/>
            </a:prstGeom>
          </p:spPr>
        </p:pic>
      </p:grpSp>
      <p:cxnSp>
        <p:nvCxnSpPr>
          <p:cNvPr id="307" name="直接箭头连接符 306"/>
          <p:cNvCxnSpPr/>
          <p:nvPr/>
        </p:nvCxnSpPr>
        <p:spPr>
          <a:xfrm>
            <a:off x="18685510" y="1458595"/>
            <a:ext cx="61468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09" name="图片 308" descr="激光雷达"/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9306540" y="3295650"/>
            <a:ext cx="866140" cy="866140"/>
          </a:xfrm>
          <a:prstGeom prst="rect">
            <a:avLst/>
          </a:prstGeom>
        </p:spPr>
      </p:pic>
      <p:sp>
        <p:nvSpPr>
          <p:cNvPr id="310" name="文本框 309"/>
          <p:cNvSpPr txBox="1"/>
          <p:nvPr/>
        </p:nvSpPr>
        <p:spPr>
          <a:xfrm>
            <a:off x="18685510" y="4161790"/>
            <a:ext cx="2265680" cy="5810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 b="1">
                <a:sym typeface="+mn-ea"/>
              </a:rPr>
              <a:t>LiDAR-based </a:t>
            </a:r>
            <a:endParaRPr lang="en-US" altLang="zh-CN" b="1">
              <a:sym typeface="+mn-ea"/>
            </a:endParaRPr>
          </a:p>
          <a:p>
            <a:pPr algn="ctr"/>
            <a:r>
              <a:rPr lang="en-US" altLang="zh-CN" b="1">
                <a:sym typeface="+mn-ea"/>
              </a:rPr>
              <a:t>perception system</a:t>
            </a:r>
            <a:endParaRPr lang="en-US" altLang="zh-CN" b="1">
              <a:sym typeface="+mn-ea"/>
            </a:endParaRPr>
          </a:p>
        </p:txBody>
      </p:sp>
      <p:pic>
        <p:nvPicPr>
          <p:cNvPr id="312" name="图片 311" descr="测试报告"/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9367500" y="5722620"/>
            <a:ext cx="828040" cy="828040"/>
          </a:xfrm>
          <a:prstGeom prst="rect">
            <a:avLst/>
          </a:prstGeom>
        </p:spPr>
      </p:pic>
      <p:sp>
        <p:nvSpPr>
          <p:cNvPr id="313" name="文本框 312"/>
          <p:cNvSpPr txBox="1"/>
          <p:nvPr/>
        </p:nvSpPr>
        <p:spPr>
          <a:xfrm>
            <a:off x="18740120" y="6622415"/>
            <a:ext cx="2155825" cy="6927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 b="1">
                <a:sym typeface="+mn-ea"/>
              </a:rPr>
              <a:t>Test  Report</a:t>
            </a:r>
            <a:endParaRPr lang="en-US" altLang="zh-CN" b="1">
              <a:sym typeface="+mn-ea"/>
            </a:endParaRPr>
          </a:p>
        </p:txBody>
      </p:sp>
      <p:grpSp>
        <p:nvGrpSpPr>
          <p:cNvPr id="315" name="组合 314"/>
          <p:cNvGrpSpPr/>
          <p:nvPr/>
        </p:nvGrpSpPr>
        <p:grpSpPr>
          <a:xfrm>
            <a:off x="525145" y="895350"/>
            <a:ext cx="935990" cy="975360"/>
            <a:chOff x="873" y="721"/>
            <a:chExt cx="1360" cy="1360"/>
          </a:xfrm>
        </p:grpSpPr>
        <p:pic>
          <p:nvPicPr>
            <p:cNvPr id="316" name="图片 315" descr="点云数据"/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1208" y="1220"/>
              <a:ext cx="692" cy="488"/>
            </a:xfrm>
            <a:prstGeom prst="rect">
              <a:avLst/>
            </a:prstGeom>
          </p:spPr>
        </p:pic>
        <p:pic>
          <p:nvPicPr>
            <p:cNvPr id="317" name="图片 316" descr="数据集"/>
            <p:cNvPicPr>
              <a:picLocks noChangeAspect="1"/>
            </p:cNvPicPr>
            <p:nvPr/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873" y="721"/>
              <a:ext cx="1360" cy="1360"/>
            </a:xfrm>
            <a:prstGeom prst="rect">
              <a:avLst/>
            </a:prstGeom>
          </p:spPr>
        </p:pic>
      </p:grpSp>
      <p:grpSp>
        <p:nvGrpSpPr>
          <p:cNvPr id="318" name="组合 317"/>
          <p:cNvGrpSpPr/>
          <p:nvPr/>
        </p:nvGrpSpPr>
        <p:grpSpPr>
          <a:xfrm>
            <a:off x="593090" y="3181350"/>
            <a:ext cx="838835" cy="862330"/>
            <a:chOff x="873" y="3352"/>
            <a:chExt cx="1260" cy="1234"/>
          </a:xfrm>
        </p:grpSpPr>
        <p:pic>
          <p:nvPicPr>
            <p:cNvPr id="319" name="图片 318" descr="24gl-fileEmpty"/>
            <p:cNvPicPr>
              <a:picLocks noChangeAspect="1"/>
            </p:cNvPicPr>
            <p:nvPr>
              <p:custDataLst>
                <p:tags r:id="rId26"/>
              </p:custDataLst>
            </p:nvPr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873" y="3352"/>
              <a:ext cx="1261" cy="1235"/>
            </a:xfrm>
            <a:prstGeom prst="rect">
              <a:avLst/>
            </a:prstGeom>
          </p:spPr>
        </p:pic>
        <p:pic>
          <p:nvPicPr>
            <p:cNvPr id="320" name="图片 319" descr="点云数据"/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1168" y="3783"/>
              <a:ext cx="692" cy="488"/>
            </a:xfrm>
            <a:prstGeom prst="rect">
              <a:avLst/>
            </a:prstGeom>
          </p:spPr>
        </p:pic>
      </p:grpSp>
      <p:sp>
        <p:nvSpPr>
          <p:cNvPr id="321" name="文本框 320"/>
          <p:cNvSpPr txBox="1"/>
          <p:nvPr/>
        </p:nvSpPr>
        <p:spPr>
          <a:xfrm>
            <a:off x="2440940" y="1012190"/>
            <a:ext cx="64325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800" b="1">
                <a:sym typeface="+mn-ea"/>
              </a:rPr>
              <a:t>Semantic Entity Insertion Operator</a:t>
            </a:r>
            <a:endParaRPr lang="en-US" altLang="zh-CN" sz="2800" b="1">
              <a:sym typeface="+mn-ea"/>
            </a:endParaRPr>
          </a:p>
        </p:txBody>
      </p:sp>
      <p:sp>
        <p:nvSpPr>
          <p:cNvPr id="322" name="矩形 321"/>
          <p:cNvSpPr/>
          <p:nvPr/>
        </p:nvSpPr>
        <p:spPr>
          <a:xfrm>
            <a:off x="2096135" y="895985"/>
            <a:ext cx="7072630" cy="6550660"/>
          </a:xfrm>
          <a:prstGeom prst="rect">
            <a:avLst/>
          </a:prstGeom>
          <a:noFill/>
          <a:ln w="28575" cmpd="dbl">
            <a:solidFill>
              <a:schemeClr val="tx1"/>
            </a:solidFill>
            <a:prstDash val="lgDash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4" name="文本框 323"/>
          <p:cNvSpPr txBox="1"/>
          <p:nvPr/>
        </p:nvSpPr>
        <p:spPr>
          <a:xfrm>
            <a:off x="2263140" y="3946525"/>
            <a:ext cx="4400550" cy="4946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400" b="1">
                <a:sym typeface="+mn-ea"/>
              </a:rPr>
              <a:t>Entity </a:t>
            </a:r>
            <a:r>
              <a:rPr lang="en-US" altLang="zh-CN" sz="2400" b="1">
                <a:sym typeface="+mn-ea"/>
              </a:rPr>
              <a:t>Database</a:t>
            </a:r>
            <a:endParaRPr lang="en-US" altLang="zh-CN" sz="2400" b="1">
              <a:sym typeface="+mn-ea"/>
            </a:endParaRPr>
          </a:p>
        </p:txBody>
      </p:sp>
      <p:cxnSp>
        <p:nvCxnSpPr>
          <p:cNvPr id="2" name="直接箭头连接符 1"/>
          <p:cNvCxnSpPr>
            <a:stCxn id="228" idx="3"/>
          </p:cNvCxnSpPr>
          <p:nvPr/>
        </p:nvCxnSpPr>
        <p:spPr>
          <a:xfrm>
            <a:off x="6659245" y="5162550"/>
            <a:ext cx="3600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9542780" y="1035685"/>
            <a:ext cx="9065260" cy="4794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buClrTx/>
              <a:buSzTx/>
              <a:buFontTx/>
            </a:pPr>
            <a:r>
              <a:rPr lang="en-US" altLang="zh-CN" sz="2800" b="1"/>
              <a:t>Semantic-Aware LiDAR Simulation</a:t>
            </a:r>
            <a:endParaRPr lang="en-US" altLang="zh-CN" sz="2800" b="1"/>
          </a:p>
        </p:txBody>
      </p:sp>
      <p:sp>
        <p:nvSpPr>
          <p:cNvPr id="7" name="文本框 6"/>
          <p:cNvSpPr txBox="1"/>
          <p:nvPr/>
        </p:nvSpPr>
        <p:spPr>
          <a:xfrm>
            <a:off x="9664065" y="4498340"/>
            <a:ext cx="8944610" cy="6064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 sz="2800" b="1">
                <a:sym typeface="+mn-ea"/>
              </a:rPr>
              <a:t>Semantic Diversity</a:t>
            </a:r>
            <a:r>
              <a:rPr lang="en-US" altLang="zh-CN" sz="2800" b="1">
                <a:sym typeface="+mn-ea"/>
              </a:rPr>
              <a:t>-</a:t>
            </a:r>
            <a:r>
              <a:rPr lang="en-US" altLang="zh-CN" sz="2800" b="1">
                <a:sym typeface="+mn-ea"/>
              </a:rPr>
              <a:t>Guided Testing</a:t>
            </a:r>
            <a:endParaRPr lang="en-US" altLang="zh-CN" sz="2800" b="1">
              <a:sym typeface="+mn-ea"/>
            </a:endParaRPr>
          </a:p>
        </p:txBody>
      </p:sp>
      <p:cxnSp>
        <p:nvCxnSpPr>
          <p:cNvPr id="9" name="直接箭头连接符 8"/>
          <p:cNvCxnSpPr/>
          <p:nvPr/>
        </p:nvCxnSpPr>
        <p:spPr>
          <a:xfrm>
            <a:off x="6663690" y="2715260"/>
            <a:ext cx="3600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4730115" y="5881370"/>
            <a:ext cx="1764030" cy="4318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>
                <a:sym typeface="+mn-ea"/>
              </a:rPr>
              <a:t>Others</a:t>
            </a:r>
            <a:endParaRPr lang="en-US" altLang="zh-CN">
              <a:sym typeface="+mn-ea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2596515" y="2984500"/>
            <a:ext cx="3877310" cy="494030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576830" y="3035300"/>
            <a:ext cx="3896360" cy="4311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>
                <a:sym typeface="+mn-ea"/>
              </a:rPr>
              <a:t>Semantic Constraints</a:t>
            </a:r>
            <a:endParaRPr lang="en-US" altLang="zh-CN"/>
          </a:p>
        </p:txBody>
      </p:sp>
      <p:sp>
        <p:nvSpPr>
          <p:cNvPr id="22" name="圆角矩形 21"/>
          <p:cNvSpPr/>
          <p:nvPr/>
        </p:nvSpPr>
        <p:spPr>
          <a:xfrm>
            <a:off x="2597150" y="2226310"/>
            <a:ext cx="3877310" cy="494030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2597150" y="2277110"/>
            <a:ext cx="3896995" cy="4940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>
                <a:sym typeface="+mn-ea"/>
              </a:rPr>
              <a:t>Spatial Constraints</a:t>
            </a:r>
            <a:endParaRPr lang="en-US" altLang="zh-CN"/>
          </a:p>
        </p:txBody>
      </p:sp>
      <p:sp>
        <p:nvSpPr>
          <p:cNvPr id="24" name="文本框 23"/>
          <p:cNvSpPr txBox="1"/>
          <p:nvPr/>
        </p:nvSpPr>
        <p:spPr>
          <a:xfrm>
            <a:off x="15887700" y="2956560"/>
            <a:ext cx="2720975" cy="4235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ctr">
              <a:lnSpc>
                <a:spcPct val="120000"/>
              </a:lnSpc>
              <a:buClrTx/>
              <a:buSzTx/>
              <a:buFontTx/>
            </a:pPr>
            <a:r>
              <a:rPr lang="zh-CN" altLang="en-US">
                <a:sym typeface="+mn-ea"/>
              </a:rPr>
              <a:t>Scene Integration</a:t>
            </a:r>
            <a:endParaRPr lang="zh-CN" altLang="en-US">
              <a:sym typeface="+mn-ea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10029190" y="5454015"/>
            <a:ext cx="866140" cy="866140"/>
            <a:chOff x="873" y="3352"/>
            <a:chExt cx="1260" cy="1234"/>
          </a:xfrm>
          <a:solidFill>
            <a:schemeClr val="accent1">
              <a:lumMod val="75000"/>
            </a:schemeClr>
          </a:solidFill>
        </p:grpSpPr>
        <p:pic>
          <p:nvPicPr>
            <p:cNvPr id="27" name="图片 26" descr="24gl-fileEmpty"/>
            <p:cNvPicPr>
              <a:picLocks noChangeAspect="1"/>
            </p:cNvPicPr>
            <p:nvPr>
              <p:custDataLst>
                <p:tags r:id="rId27"/>
              </p:custDataLst>
            </p:nvPr>
          </p:nvPicPr>
          <p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873" y="3352"/>
              <a:ext cx="1261" cy="1235"/>
            </a:xfrm>
            <a:prstGeom prst="rect">
              <a:avLst/>
            </a:prstGeom>
          </p:spPr>
        </p:pic>
        <p:pic>
          <p:nvPicPr>
            <p:cNvPr id="28" name="图片 27" descr="点云数据"/>
            <p:cNvPicPr>
              <a:picLocks noChangeAspect="1"/>
            </p:cNvPicPr>
            <p:nvPr/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1168" y="3783"/>
              <a:ext cx="692" cy="488"/>
            </a:xfrm>
            <a:prstGeom prst="rect">
              <a:avLst/>
            </a:prstGeom>
          </p:spPr>
        </p:pic>
      </p:grpSp>
      <p:sp>
        <p:nvSpPr>
          <p:cNvPr id="33" name="右箭头 32"/>
          <p:cNvSpPr/>
          <p:nvPr/>
        </p:nvSpPr>
        <p:spPr>
          <a:xfrm>
            <a:off x="9252585" y="2187575"/>
            <a:ext cx="360000" cy="43200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右箭头 33"/>
          <p:cNvSpPr/>
          <p:nvPr/>
        </p:nvSpPr>
        <p:spPr>
          <a:xfrm rot="5400000">
            <a:off x="10311688" y="3983868"/>
            <a:ext cx="360000" cy="43200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7" name="直接箭头连接符 36"/>
          <p:cNvCxnSpPr/>
          <p:nvPr/>
        </p:nvCxnSpPr>
        <p:spPr>
          <a:xfrm>
            <a:off x="19763105" y="2360930"/>
            <a:ext cx="0" cy="7560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/>
          <p:cNvCxnSpPr/>
          <p:nvPr/>
        </p:nvCxnSpPr>
        <p:spPr>
          <a:xfrm>
            <a:off x="19763105" y="4817110"/>
            <a:ext cx="0" cy="7560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/>
          <p:cNvCxnSpPr/>
          <p:nvPr/>
        </p:nvCxnSpPr>
        <p:spPr>
          <a:xfrm>
            <a:off x="15545435" y="2780030"/>
            <a:ext cx="324000" cy="0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1" name="直接箭头连接符 40"/>
          <p:cNvCxnSpPr/>
          <p:nvPr/>
        </p:nvCxnSpPr>
        <p:spPr>
          <a:xfrm>
            <a:off x="12552680" y="2780030"/>
            <a:ext cx="324000" cy="0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3" name="文本框 42"/>
          <p:cNvSpPr txBox="1"/>
          <p:nvPr/>
        </p:nvSpPr>
        <p:spPr>
          <a:xfrm>
            <a:off x="16841470" y="5352415"/>
            <a:ext cx="140017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ym typeface="+mn-ea"/>
              </a:rPr>
              <a:t>Increased?</a:t>
            </a:r>
            <a:endParaRPr lang="en-US" altLang="zh-CN">
              <a:sym typeface="+mn-ea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3570605" y="6747510"/>
            <a:ext cx="4064000" cy="4603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buClrTx/>
              <a:buSzTx/>
              <a:buFontTx/>
            </a:pPr>
            <a:r>
              <a:rPr lang="en-US" altLang="zh-CN" sz="2400" b="1"/>
              <a:t>Metamorphic Relations</a:t>
            </a:r>
            <a:endParaRPr lang="en-US" altLang="zh-CN" sz="2400" b="1"/>
          </a:p>
        </p:txBody>
      </p:sp>
      <p:sp>
        <p:nvSpPr>
          <p:cNvPr id="46" name="文本框 45"/>
          <p:cNvSpPr txBox="1"/>
          <p:nvPr/>
        </p:nvSpPr>
        <p:spPr>
          <a:xfrm>
            <a:off x="2283460" y="1630680"/>
            <a:ext cx="4375785" cy="4337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400" b="1">
                <a:sym typeface="+mn-ea"/>
              </a:rPr>
              <a:t>Semantic Pose Generation</a:t>
            </a:r>
            <a:endParaRPr lang="en-US" altLang="zh-CN" sz="2000" b="1">
              <a:sym typeface="+mn-ea"/>
            </a:endParaRPr>
          </a:p>
        </p:txBody>
      </p:sp>
      <p:cxnSp>
        <p:nvCxnSpPr>
          <p:cNvPr id="48" name="直接箭头连接符 47"/>
          <p:cNvCxnSpPr>
            <a:endCxn id="3" idx="2"/>
          </p:cNvCxnSpPr>
          <p:nvPr/>
        </p:nvCxnSpPr>
        <p:spPr>
          <a:xfrm flipV="1">
            <a:off x="8003540" y="6446520"/>
            <a:ext cx="1905" cy="24511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8232755" y="5161915"/>
            <a:ext cx="42037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600"/>
              <a:t>Y</a:t>
            </a:r>
            <a:endParaRPr lang="en-US" altLang="zh-CN" sz="1600"/>
          </a:p>
        </p:txBody>
      </p:sp>
      <p:sp>
        <p:nvSpPr>
          <p:cNvPr id="11" name="文本框 10"/>
          <p:cNvSpPr txBox="1"/>
          <p:nvPr/>
        </p:nvSpPr>
        <p:spPr>
          <a:xfrm>
            <a:off x="7064375" y="3364865"/>
            <a:ext cx="1950022" cy="5219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>
                <a:sym typeface="+mn-ea"/>
              </a:rPr>
              <a:t>Instance-level Operator</a:t>
            </a:r>
            <a:r>
              <a:rPr lang="en-US" altLang="zh-CN" b="1">
                <a:sym typeface="+mn-ea"/>
              </a:rPr>
              <a:t>s</a:t>
            </a:r>
            <a:endParaRPr lang="en-US" altLang="zh-CN" b="1"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913245" y="5606415"/>
            <a:ext cx="2170430" cy="4445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 b="1">
                <a:sym typeface="+mn-ea"/>
              </a:rPr>
              <a:t>Interaction-level Operator</a:t>
            </a:r>
            <a:r>
              <a:rPr lang="en-US" altLang="zh-CN" b="1">
                <a:sym typeface="+mn-ea"/>
              </a:rPr>
              <a:t>s</a:t>
            </a:r>
            <a:endParaRPr lang="en-US" altLang="zh-CN" b="1"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055485" y="1679575"/>
            <a:ext cx="1976120" cy="4203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 sz="2400" b="1">
                <a:sym typeface="+mn-ea"/>
              </a:rPr>
              <a:t>Operator</a:t>
            </a:r>
            <a:endParaRPr lang="en-US" altLang="zh-CN" sz="2400" b="1">
              <a:sym typeface="+mn-ea"/>
            </a:endParaRPr>
          </a:p>
        </p:txBody>
      </p:sp>
      <p:pic>
        <p:nvPicPr>
          <p:cNvPr id="31" name="图片 30" descr="骑车"/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7213600" y="4611370"/>
            <a:ext cx="709295" cy="709295"/>
          </a:xfrm>
          <a:prstGeom prst="rect">
            <a:avLst/>
          </a:prstGeom>
        </p:spPr>
      </p:pic>
      <p:pic>
        <p:nvPicPr>
          <p:cNvPr id="32" name="图片 31" descr="gou"/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8017510" y="4561840"/>
            <a:ext cx="796925" cy="796925"/>
          </a:xfrm>
          <a:prstGeom prst="rect">
            <a:avLst/>
          </a:prstGeom>
        </p:spPr>
      </p:pic>
      <p:sp>
        <p:nvSpPr>
          <p:cNvPr id="35" name="文本框 34"/>
          <p:cNvSpPr txBox="1"/>
          <p:nvPr/>
        </p:nvSpPr>
        <p:spPr>
          <a:xfrm>
            <a:off x="7555865" y="5201285"/>
            <a:ext cx="9410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。。。</a:t>
            </a:r>
            <a:endParaRPr lang="zh-CN" altLang="en-US"/>
          </a:p>
        </p:txBody>
      </p:sp>
      <p:pic>
        <p:nvPicPr>
          <p:cNvPr id="36" name="图片 35" descr="行人 (1)"/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6927850" y="2233295"/>
            <a:ext cx="852805" cy="852805"/>
          </a:xfrm>
          <a:prstGeom prst="rect">
            <a:avLst/>
          </a:prstGeom>
        </p:spPr>
      </p:pic>
      <p:pic>
        <p:nvPicPr>
          <p:cNvPr id="42" name="图片 41" descr="狗"/>
          <p:cNvPicPr>
            <a:picLocks noChangeAspect="1"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8235950" y="2335530"/>
            <a:ext cx="708660" cy="708660"/>
          </a:xfrm>
          <a:prstGeom prst="rect">
            <a:avLst/>
          </a:prstGeom>
        </p:spPr>
      </p:pic>
      <p:pic>
        <p:nvPicPr>
          <p:cNvPr id="45" name="图片 44" descr="自行车 (1)"/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7486650" y="2272030"/>
            <a:ext cx="941070" cy="941070"/>
          </a:xfrm>
          <a:prstGeom prst="rect">
            <a:avLst/>
          </a:prstGeom>
        </p:spPr>
      </p:pic>
      <p:sp>
        <p:nvSpPr>
          <p:cNvPr id="49" name="文本框 48"/>
          <p:cNvSpPr txBox="1"/>
          <p:nvPr/>
        </p:nvSpPr>
        <p:spPr>
          <a:xfrm>
            <a:off x="7590790" y="2932430"/>
            <a:ext cx="9410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。。。</a:t>
            </a:r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837967" y="4101846"/>
            <a:ext cx="1764704" cy="335287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/>
              <a:t>Initial Seeds</a:t>
            </a:r>
            <a:endParaRPr lang="en-US" altLang="zh-CN" b="1"/>
          </a:p>
        </p:txBody>
      </p:sp>
      <p:sp>
        <p:nvSpPr>
          <p:cNvPr id="7" name="文本框 6"/>
          <p:cNvSpPr txBox="1"/>
          <p:nvPr/>
        </p:nvSpPr>
        <p:spPr>
          <a:xfrm>
            <a:off x="1924329" y="2494626"/>
            <a:ext cx="1411636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/>
              <a:t>Test data</a:t>
            </a:r>
            <a:endParaRPr lang="en-US" altLang="zh-CN" b="1"/>
          </a:p>
        </p:txBody>
      </p:sp>
      <p:sp>
        <p:nvSpPr>
          <p:cNvPr id="8" name="文本框 7"/>
          <p:cNvSpPr txBox="1"/>
          <p:nvPr/>
        </p:nvSpPr>
        <p:spPr>
          <a:xfrm>
            <a:off x="1620157" y="5881790"/>
            <a:ext cx="1983148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/>
              <a:t>Seed Queue</a:t>
            </a:r>
            <a:endParaRPr lang="en-US" altLang="zh-CN" b="1"/>
          </a:p>
        </p:txBody>
      </p:sp>
      <p:sp>
        <p:nvSpPr>
          <p:cNvPr id="9" name="右箭头 8"/>
          <p:cNvSpPr/>
          <p:nvPr/>
        </p:nvSpPr>
        <p:spPr>
          <a:xfrm>
            <a:off x="3288974" y="5207406"/>
            <a:ext cx="433079" cy="297187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0" name="肘形连接符 9"/>
          <p:cNvCxnSpPr/>
          <p:nvPr/>
        </p:nvCxnSpPr>
        <p:spPr>
          <a:xfrm flipH="1">
            <a:off x="2612049" y="5465856"/>
            <a:ext cx="14586905" cy="784242"/>
          </a:xfrm>
          <a:prstGeom prst="bentConnector4">
            <a:avLst>
              <a:gd name="adj1" fmla="val -1632"/>
              <a:gd name="adj2" fmla="val 218704"/>
            </a:avLst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/>
        </p:nvCxnSpPr>
        <p:spPr>
          <a:xfrm>
            <a:off x="2630465" y="2839439"/>
            <a:ext cx="0" cy="44260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>
          <a:xfrm>
            <a:off x="2630465" y="4502540"/>
            <a:ext cx="0" cy="44260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图片 17" descr="队列-copy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19611" y="5080403"/>
            <a:ext cx="801388" cy="801388"/>
          </a:xfrm>
          <a:prstGeom prst="rect">
            <a:avLst/>
          </a:prstGeom>
        </p:spPr>
      </p:pic>
      <p:grpSp>
        <p:nvGrpSpPr>
          <p:cNvPr id="27" name="组合 26"/>
          <p:cNvGrpSpPr/>
          <p:nvPr/>
        </p:nvGrpSpPr>
        <p:grpSpPr>
          <a:xfrm>
            <a:off x="2219611" y="1575761"/>
            <a:ext cx="800753" cy="784242"/>
            <a:chOff x="2244" y="177"/>
            <a:chExt cx="960" cy="960"/>
          </a:xfrm>
        </p:grpSpPr>
        <p:pic>
          <p:nvPicPr>
            <p:cNvPr id="26" name="图片 25" descr="24gl-fileEmpty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244" y="177"/>
              <a:ext cx="960" cy="960"/>
            </a:xfrm>
            <a:prstGeom prst="rect">
              <a:avLst/>
            </a:prstGeom>
          </p:spPr>
        </p:pic>
        <p:pic>
          <p:nvPicPr>
            <p:cNvPr id="434" name="图片 433" descr="点云数据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412" y="506"/>
              <a:ext cx="671" cy="483"/>
            </a:xfrm>
            <a:prstGeom prst="rect">
              <a:avLst/>
            </a:prstGeom>
          </p:spPr>
        </p:pic>
      </p:grpSp>
      <p:grpSp>
        <p:nvGrpSpPr>
          <p:cNvPr id="37" name="组合 36"/>
          <p:cNvGrpSpPr/>
          <p:nvPr/>
        </p:nvGrpSpPr>
        <p:grpSpPr>
          <a:xfrm>
            <a:off x="2206275" y="3318874"/>
            <a:ext cx="800753" cy="784242"/>
            <a:chOff x="2244" y="177"/>
            <a:chExt cx="960" cy="960"/>
          </a:xfrm>
        </p:grpSpPr>
        <p:pic>
          <p:nvPicPr>
            <p:cNvPr id="38" name="图片 37" descr="24gl-fileEmpty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244" y="177"/>
              <a:ext cx="960" cy="960"/>
            </a:xfrm>
            <a:prstGeom prst="rect">
              <a:avLst/>
            </a:prstGeom>
          </p:spPr>
        </p:pic>
        <p:pic>
          <p:nvPicPr>
            <p:cNvPr id="39" name="图片 38" descr="点云数据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412" y="506"/>
              <a:ext cx="671" cy="483"/>
            </a:xfrm>
            <a:prstGeom prst="rect">
              <a:avLst/>
            </a:prstGeom>
          </p:spPr>
        </p:pic>
      </p:grpSp>
      <p:sp>
        <p:nvSpPr>
          <p:cNvPr id="64" name="矩形 63"/>
          <p:cNvSpPr/>
          <p:nvPr/>
        </p:nvSpPr>
        <p:spPr>
          <a:xfrm>
            <a:off x="3918908" y="1575761"/>
            <a:ext cx="6789569" cy="4674338"/>
          </a:xfrm>
          <a:prstGeom prst="rect">
            <a:avLst/>
          </a:prstGeom>
          <a:noFill/>
          <a:ln w="28575" cmpd="dbl">
            <a:solidFill>
              <a:schemeClr val="tx1"/>
            </a:solidFill>
            <a:prstDash val="lgDash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5" name="矩形 64"/>
          <p:cNvSpPr/>
          <p:nvPr/>
        </p:nvSpPr>
        <p:spPr>
          <a:xfrm>
            <a:off x="11291420" y="1575761"/>
            <a:ext cx="5657974" cy="4674338"/>
          </a:xfrm>
          <a:prstGeom prst="rect">
            <a:avLst/>
          </a:prstGeom>
          <a:noFill/>
          <a:ln w="28575" cmpd="dbl">
            <a:solidFill>
              <a:schemeClr val="tx1"/>
            </a:solidFill>
            <a:prstDash val="lgDash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6" name="文本框 65"/>
          <p:cNvSpPr txBox="1"/>
          <p:nvPr/>
        </p:nvSpPr>
        <p:spPr>
          <a:xfrm>
            <a:off x="11291420" y="1745310"/>
            <a:ext cx="570877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 sz="2400" b="1">
                <a:sym typeface="+mn-ea"/>
              </a:rPr>
              <a:t>Semantic-Diversity Guided Testing</a:t>
            </a:r>
            <a:endParaRPr lang="en-US" altLang="zh-CN" sz="2400" b="1">
              <a:sym typeface="+mn-ea"/>
            </a:endParaRPr>
          </a:p>
        </p:txBody>
      </p:sp>
      <p:sp>
        <p:nvSpPr>
          <p:cNvPr id="423" name="圆角矩形 422"/>
          <p:cNvSpPr/>
          <p:nvPr>
            <p:custDataLst>
              <p:tags r:id="rId9"/>
            </p:custDataLst>
          </p:nvPr>
        </p:nvSpPr>
        <p:spPr>
          <a:xfrm>
            <a:off x="9251755" y="-2688358"/>
            <a:ext cx="3350333" cy="1142390"/>
          </a:xfrm>
          <a:prstGeom prst="roundRect">
            <a:avLst>
              <a:gd name="adj" fmla="val 5234"/>
            </a:avLst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78" name="文本框 477"/>
          <p:cNvSpPr txBox="1"/>
          <p:nvPr>
            <p:custDataLst>
              <p:tags r:id="rId10"/>
            </p:custDataLst>
          </p:nvPr>
        </p:nvSpPr>
        <p:spPr>
          <a:xfrm>
            <a:off x="9071411" y="310813"/>
            <a:ext cx="1661196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 sz="1400">
                <a:sym typeface="+mn-ea"/>
              </a:rPr>
              <a:t>Generated Data</a:t>
            </a:r>
            <a:endParaRPr lang="en-US" altLang="zh-CN" sz="1400">
              <a:sym typeface="+mn-ea"/>
            </a:endParaRPr>
          </a:p>
        </p:txBody>
      </p:sp>
      <p:sp>
        <p:nvSpPr>
          <p:cNvPr id="479" name="文本框 478"/>
          <p:cNvSpPr txBox="1"/>
          <p:nvPr>
            <p:custDataLst>
              <p:tags r:id="rId11"/>
            </p:custDataLst>
          </p:nvPr>
        </p:nvSpPr>
        <p:spPr>
          <a:xfrm>
            <a:off x="9274615" y="-2688358"/>
            <a:ext cx="2249219" cy="6623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/>
              <a:t>Finess Guidance</a:t>
            </a:r>
            <a:r>
              <a:rPr lang="en-US" altLang="zh-CN" sz="1400"/>
              <a:t> : </a:t>
            </a:r>
            <a:r>
              <a:rPr lang="zh-CN" altLang="en-US" sz="1200">
                <a:sym typeface="+mn-ea"/>
              </a:rPr>
              <a:t>Measuring the ability of test data to reveal errors</a:t>
            </a:r>
            <a:endParaRPr lang="zh-CN" altLang="en-US" sz="1200"/>
          </a:p>
          <a:p>
            <a:pPr algn="ctr"/>
            <a:endParaRPr lang="en-US" altLang="zh-CN" sz="1200"/>
          </a:p>
        </p:txBody>
      </p:sp>
      <p:sp>
        <p:nvSpPr>
          <p:cNvPr id="481" name="菱形 480"/>
          <p:cNvSpPr/>
          <p:nvPr/>
        </p:nvSpPr>
        <p:spPr>
          <a:xfrm>
            <a:off x="9122212" y="-1227826"/>
            <a:ext cx="1467517" cy="522616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000">
              <a:solidFill>
                <a:schemeClr val="tx1"/>
              </a:solidFill>
            </a:endParaRPr>
          </a:p>
        </p:txBody>
      </p:sp>
      <p:sp>
        <p:nvSpPr>
          <p:cNvPr id="482" name="流程图: 过程 481"/>
          <p:cNvSpPr/>
          <p:nvPr>
            <p:custDataLst>
              <p:tags r:id="rId12"/>
            </p:custDataLst>
          </p:nvPr>
        </p:nvSpPr>
        <p:spPr>
          <a:xfrm>
            <a:off x="11168227" y="-1138289"/>
            <a:ext cx="1000782" cy="361323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Discarded</a:t>
            </a:r>
            <a:endParaRPr lang="en-US" altLang="zh-CN" sz="1200">
              <a:solidFill>
                <a:schemeClr val="tx1"/>
              </a:solidFill>
            </a:endParaRPr>
          </a:p>
        </p:txBody>
      </p:sp>
      <p:cxnSp>
        <p:nvCxnSpPr>
          <p:cNvPr id="483" name="直接箭头连接符 482"/>
          <p:cNvCxnSpPr>
            <a:stCxn id="481" idx="3"/>
            <a:endCxn id="482" idx="1"/>
          </p:cNvCxnSpPr>
          <p:nvPr/>
        </p:nvCxnSpPr>
        <p:spPr>
          <a:xfrm>
            <a:off x="10589729" y="-966200"/>
            <a:ext cx="578498" cy="889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86" name="文本框 485"/>
              <p:cNvSpPr txBox="1"/>
              <p:nvPr/>
            </p:nvSpPr>
            <p:spPr>
              <a:xfrm>
                <a:off x="9099351" y="-2021593"/>
                <a:ext cx="3580209" cy="3429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>
                          <a:latin typeface="Cambria Math" panose="02040503050406030204" charset="0"/>
                          <a:cs typeface="Cambria Math" panose="02040503050406030204" charset="0"/>
                        </a:rPr>
                        <m:t>𝐹𝑖𝑡𝑛𝑒𝑠𝑠</m:t>
                      </m:r>
                      <m:r>
                        <a:rPr lang="en-US" altLang="zh-CN" sz="1400" i="1">
                          <a:latin typeface="Cambria Math" panose="02040503050406030204" charset="0"/>
                          <a:cs typeface="Cambria Math" panose="02040503050406030204" charset="0"/>
                        </a:rPr>
                        <m:t>= </m:t>
                      </m:r>
                      <m:r>
                        <a:rPr lang="en-US" altLang="zh-CN" sz="1400" i="1">
                          <a:latin typeface="Cambria Math" panose="02040503050406030204" charset="0"/>
                          <a:cs typeface="Cambria Math" panose="02040503050406030204" charset="0"/>
                        </a:rPr>
                        <m:t>𝛼</m:t>
                      </m:r>
                      <m:r>
                        <a:rPr lang="en-US" altLang="zh-CN" sz="1400" i="1">
                          <a:latin typeface="Cambria Math" panose="02040503050406030204" charset="0"/>
                          <a:cs typeface="Cambria Math" panose="02040503050406030204" charset="0"/>
                        </a:rPr>
                        <m:t>∗</m:t>
                      </m:r>
                      <m:sSub>
                        <m:sSubPr>
                          <m:ctrlPr>
                            <a:rPr lang="en-US" altLang="zh-CN" sz="1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sz="1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𝑂𝑀</m:t>
                          </m:r>
                        </m:sub>
                      </m:sSub>
                      <m:r>
                        <a:rPr lang="en-US" altLang="zh-CN" sz="1400" i="1">
                          <a:latin typeface="Cambria Math" panose="02040503050406030204" charset="0"/>
                          <a:cs typeface="Cambria Math" panose="02040503050406030204" charset="0"/>
                        </a:rPr>
                        <m:t> + </m:t>
                      </m:r>
                      <m:r>
                        <a:rPr lang="en-US" altLang="zh-CN" sz="1400" i="1">
                          <a:latin typeface="Cambria Math" panose="02040503050406030204" charset="0"/>
                          <a:cs typeface="Cambria Math" panose="02040503050406030204" charset="0"/>
                        </a:rPr>
                        <m:t>𝛽</m:t>
                      </m:r>
                      <m:r>
                        <a:rPr lang="en-US" altLang="zh-CN" sz="1400" i="1">
                          <a:latin typeface="Cambria Math" panose="02040503050406030204" charset="0"/>
                          <a:cs typeface="Cambria Math" panose="02040503050406030204" charset="0"/>
                        </a:rPr>
                        <m:t>∗</m:t>
                      </m:r>
                      <m:sSub>
                        <m:sSubPr>
                          <m:ctrlPr>
                            <a:rPr lang="en-US" altLang="zh-CN" sz="1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sz="1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𝐹𝐷</m:t>
                          </m:r>
                        </m:sub>
                      </m:sSub>
                      <m:r>
                        <a:rPr lang="en-US" altLang="zh-CN" sz="1400" i="1">
                          <a:latin typeface="Cambria Math" panose="02040503050406030204" charset="0"/>
                          <a:cs typeface="Cambria Math" panose="02040503050406030204" charset="0"/>
                        </a:rPr>
                        <m:t> + </m:t>
                      </m:r>
                      <m:r>
                        <a:rPr lang="en-US" altLang="zh-CN" sz="1400" i="1">
                          <a:latin typeface="Cambria Math" panose="02040503050406030204" charset="0"/>
                          <a:cs typeface="Cambria Math" panose="02040503050406030204" charset="0"/>
                        </a:rPr>
                        <m:t>𝛾</m:t>
                      </m:r>
                      <m:r>
                        <a:rPr lang="en-US" altLang="zh-CN" sz="1400" i="1">
                          <a:latin typeface="Cambria Math" panose="02040503050406030204" charset="0"/>
                          <a:cs typeface="Cambria Math" panose="02040503050406030204" charset="0"/>
                        </a:rPr>
                        <m:t>∗</m:t>
                      </m:r>
                      <m:sSub>
                        <m:sSubPr>
                          <m:ctrlPr>
                            <a:rPr lang="en-US" altLang="zh-CN" sz="1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sz="1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𝐿𝐸</m:t>
                          </m:r>
                        </m:sub>
                      </m:sSub>
                    </m:oMath>
                  </m:oMathPara>
                </a14:m>
                <a:endParaRPr lang="zh-CN" altLang="en-US" sz="1400"/>
              </a:p>
            </p:txBody>
          </p:sp>
        </mc:Choice>
        <mc:Fallback>
          <p:sp>
            <p:nvSpPr>
              <p:cNvPr id="486" name="文本框 48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9351" y="-2021593"/>
                <a:ext cx="3580209" cy="342900"/>
              </a:xfrm>
              <a:prstGeom prst="rect">
                <a:avLst/>
              </a:prstGeom>
              <a:blipFill rotWithShape="1">
                <a:blip r:embed="rId13"/>
                <a:stretch>
                  <a:fillRect l="-12" t="113" r="14" b="-380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7" name="直接箭头连接符 486"/>
          <p:cNvCxnSpPr/>
          <p:nvPr/>
        </p:nvCxnSpPr>
        <p:spPr>
          <a:xfrm>
            <a:off x="9831523" y="-1542792"/>
            <a:ext cx="0" cy="31496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88" name="直接箭头连接符 487"/>
          <p:cNvCxnSpPr>
            <a:stCxn id="481" idx="2"/>
          </p:cNvCxnSpPr>
          <p:nvPr/>
        </p:nvCxnSpPr>
        <p:spPr>
          <a:xfrm>
            <a:off x="9856288" y="-705209"/>
            <a:ext cx="5715" cy="30861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89" name="直接箭头连接符 488"/>
          <p:cNvCxnSpPr>
            <a:endCxn id="493" idx="1"/>
          </p:cNvCxnSpPr>
          <p:nvPr>
            <p:custDataLst>
              <p:tags r:id="rId14"/>
            </p:custDataLst>
          </p:nvPr>
        </p:nvCxnSpPr>
        <p:spPr>
          <a:xfrm>
            <a:off x="10137599" y="-8599"/>
            <a:ext cx="974746" cy="254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90" name="文本框 489"/>
          <p:cNvSpPr txBox="1"/>
          <p:nvPr/>
        </p:nvSpPr>
        <p:spPr>
          <a:xfrm>
            <a:off x="10660851" y="-1185280"/>
            <a:ext cx="393074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000"/>
              <a:t>N</a:t>
            </a:r>
            <a:endParaRPr lang="en-US" altLang="zh-CN" sz="1000"/>
          </a:p>
        </p:txBody>
      </p:sp>
      <p:sp>
        <p:nvSpPr>
          <p:cNvPr id="491" name="文本框 490"/>
          <p:cNvSpPr txBox="1"/>
          <p:nvPr>
            <p:custDataLst>
              <p:tags r:id="rId15"/>
            </p:custDataLst>
          </p:nvPr>
        </p:nvSpPr>
        <p:spPr>
          <a:xfrm>
            <a:off x="9770561" y="-670283"/>
            <a:ext cx="393074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000"/>
              <a:t>Y</a:t>
            </a:r>
            <a:endParaRPr lang="en-US" altLang="zh-CN" sz="1000"/>
          </a:p>
        </p:txBody>
      </p:sp>
      <p:pic>
        <p:nvPicPr>
          <p:cNvPr id="492" name="图片 491" descr="目标检测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1290785" y="-209898"/>
            <a:ext cx="433079" cy="433079"/>
          </a:xfrm>
          <a:prstGeom prst="rect">
            <a:avLst/>
          </a:prstGeom>
        </p:spPr>
      </p:pic>
      <p:pic>
        <p:nvPicPr>
          <p:cNvPr id="493" name="图片 492" descr="IPC_目标检测框设置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1112346" y="-390242"/>
            <a:ext cx="767732" cy="767732"/>
          </a:xfrm>
          <a:prstGeom prst="rect">
            <a:avLst/>
          </a:prstGeom>
        </p:spPr>
      </p:pic>
      <p:sp>
        <p:nvSpPr>
          <p:cNvPr id="494" name="文本框 493"/>
          <p:cNvSpPr txBox="1"/>
          <p:nvPr>
            <p:custDataLst>
              <p:tags r:id="rId20"/>
            </p:custDataLst>
          </p:nvPr>
        </p:nvSpPr>
        <p:spPr>
          <a:xfrm>
            <a:off x="10275397" y="-272130"/>
            <a:ext cx="811548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 sz="1200">
                <a:sym typeface="+mn-ea"/>
              </a:rPr>
              <a:t>Testing</a:t>
            </a:r>
            <a:endParaRPr lang="en-US" altLang="zh-CN" sz="1200">
              <a:sym typeface="+mn-ea"/>
            </a:endParaRPr>
          </a:p>
        </p:txBody>
      </p:sp>
      <p:sp>
        <p:nvSpPr>
          <p:cNvPr id="495" name="文本框 494"/>
          <p:cNvSpPr txBox="1"/>
          <p:nvPr>
            <p:custDataLst>
              <p:tags r:id="rId21"/>
            </p:custDataLst>
          </p:nvPr>
        </p:nvSpPr>
        <p:spPr>
          <a:xfrm>
            <a:off x="10116009" y="-17489"/>
            <a:ext cx="114366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 sz="1200">
                <a:sym typeface="+mn-ea"/>
              </a:rPr>
              <a:t>Retraining</a:t>
            </a:r>
            <a:endParaRPr lang="en-US" altLang="zh-CN" sz="1200">
              <a:sym typeface="+mn-ea"/>
            </a:endParaRPr>
          </a:p>
        </p:txBody>
      </p:sp>
      <p:sp>
        <p:nvSpPr>
          <p:cNvPr id="496" name="文本框 495"/>
          <p:cNvSpPr txBox="1"/>
          <p:nvPr>
            <p:custDataLst>
              <p:tags r:id="rId22"/>
            </p:custDataLst>
          </p:nvPr>
        </p:nvSpPr>
        <p:spPr>
          <a:xfrm>
            <a:off x="10905966" y="320973"/>
            <a:ext cx="1259868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 sz="1400">
                <a:sym typeface="+mn-ea"/>
              </a:rPr>
              <a:t>MSF Model</a:t>
            </a:r>
            <a:endParaRPr lang="en-US" altLang="zh-CN" sz="1400">
              <a:sym typeface="+mn-ea"/>
            </a:endParaRPr>
          </a:p>
        </p:txBody>
      </p:sp>
      <p:cxnSp>
        <p:nvCxnSpPr>
          <p:cNvPr id="497" name="肘形连接符 496"/>
          <p:cNvCxnSpPr>
            <a:stCxn id="493" idx="3"/>
          </p:cNvCxnSpPr>
          <p:nvPr/>
        </p:nvCxnSpPr>
        <p:spPr>
          <a:xfrm flipV="1">
            <a:off x="11880077" y="-1506597"/>
            <a:ext cx="623584" cy="1500538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98" name="文本框 497"/>
          <p:cNvSpPr txBox="1"/>
          <p:nvPr>
            <p:custDataLst>
              <p:tags r:id="rId23"/>
            </p:custDataLst>
          </p:nvPr>
        </p:nvSpPr>
        <p:spPr>
          <a:xfrm>
            <a:off x="11703544" y="-235934"/>
            <a:ext cx="879494" cy="2501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200"/>
              <a:t>Feedback</a:t>
            </a:r>
            <a:endParaRPr lang="en-US" altLang="zh-CN" sz="1200"/>
          </a:p>
        </p:txBody>
      </p:sp>
      <p:sp>
        <p:nvSpPr>
          <p:cNvPr id="499" name="右大括号 498"/>
          <p:cNvSpPr/>
          <p:nvPr/>
        </p:nvSpPr>
        <p:spPr>
          <a:xfrm rot="5400000">
            <a:off x="10447486" y="-1919371"/>
            <a:ext cx="76202" cy="440700"/>
          </a:xfrm>
          <a:prstGeom prst="rightBrace">
            <a:avLst>
              <a:gd name="adj1" fmla="val 8333"/>
              <a:gd name="adj2" fmla="val 50067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00" name="文本框 499"/>
          <p:cNvSpPr txBox="1"/>
          <p:nvPr/>
        </p:nvSpPr>
        <p:spPr>
          <a:xfrm>
            <a:off x="10469077" y="-1726947"/>
            <a:ext cx="523886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800">
                <a:latin typeface="Calibri" charset="0"/>
              </a:rPr>
              <a:t>①</a:t>
            </a:r>
            <a:endParaRPr lang="zh-CN" altLang="en-US" sz="800">
              <a:latin typeface="Calibri" charset="0"/>
            </a:endParaRPr>
          </a:p>
        </p:txBody>
      </p:sp>
      <p:sp>
        <p:nvSpPr>
          <p:cNvPr id="501" name="右大括号 500"/>
          <p:cNvSpPr/>
          <p:nvPr>
            <p:custDataLst>
              <p:tags r:id="rId24"/>
            </p:custDataLst>
          </p:nvPr>
        </p:nvSpPr>
        <p:spPr>
          <a:xfrm rot="5400000">
            <a:off x="11290150" y="-1919991"/>
            <a:ext cx="76202" cy="440700"/>
          </a:xfrm>
          <a:prstGeom prst="rightBrace">
            <a:avLst>
              <a:gd name="adj1" fmla="val 8333"/>
              <a:gd name="adj2" fmla="val 50067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02" name="文本框 501"/>
          <p:cNvSpPr txBox="1"/>
          <p:nvPr>
            <p:custDataLst>
              <p:tags r:id="rId25"/>
            </p:custDataLst>
          </p:nvPr>
        </p:nvSpPr>
        <p:spPr>
          <a:xfrm>
            <a:off x="11311740" y="-1727582"/>
            <a:ext cx="523886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800">
                <a:latin typeface="Calibri" charset="0"/>
              </a:rPr>
              <a:t>②</a:t>
            </a:r>
            <a:endParaRPr lang="zh-CN" altLang="en-US" sz="800">
              <a:latin typeface="Calibri" charset="0"/>
            </a:endParaRPr>
          </a:p>
        </p:txBody>
      </p:sp>
      <p:sp>
        <p:nvSpPr>
          <p:cNvPr id="503" name="右大括号 502"/>
          <p:cNvSpPr/>
          <p:nvPr>
            <p:custDataLst>
              <p:tags r:id="rId26"/>
            </p:custDataLst>
          </p:nvPr>
        </p:nvSpPr>
        <p:spPr>
          <a:xfrm rot="5400000">
            <a:off x="12127098" y="-1918721"/>
            <a:ext cx="76202" cy="440700"/>
          </a:xfrm>
          <a:prstGeom prst="rightBrace">
            <a:avLst>
              <a:gd name="adj1" fmla="val 8333"/>
              <a:gd name="adj2" fmla="val 50067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04" name="文本框 503"/>
          <p:cNvSpPr txBox="1"/>
          <p:nvPr>
            <p:custDataLst>
              <p:tags r:id="rId27"/>
            </p:custDataLst>
          </p:nvPr>
        </p:nvSpPr>
        <p:spPr>
          <a:xfrm>
            <a:off x="12148688" y="-1736472"/>
            <a:ext cx="523886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800">
                <a:latin typeface="Calibri" charset="0"/>
              </a:rPr>
              <a:t>③</a:t>
            </a:r>
            <a:endParaRPr lang="zh-CN" altLang="en-US" sz="800">
              <a:latin typeface="Calibri" charset="0"/>
            </a:endParaRPr>
          </a:p>
        </p:txBody>
      </p:sp>
      <p:grpSp>
        <p:nvGrpSpPr>
          <p:cNvPr id="505" name="组合 504"/>
          <p:cNvGrpSpPr/>
          <p:nvPr/>
        </p:nvGrpSpPr>
        <p:grpSpPr>
          <a:xfrm>
            <a:off x="11488291" y="-2588660"/>
            <a:ext cx="946789" cy="562622"/>
            <a:chOff x="13282" y="3213"/>
            <a:chExt cx="1491" cy="886"/>
          </a:xfrm>
        </p:grpSpPr>
        <p:grpSp>
          <p:nvGrpSpPr>
            <p:cNvPr id="506" name="组合 505"/>
            <p:cNvGrpSpPr/>
            <p:nvPr/>
          </p:nvGrpSpPr>
          <p:grpSpPr>
            <a:xfrm>
              <a:off x="13357" y="3261"/>
              <a:ext cx="1416" cy="838"/>
              <a:chOff x="13596" y="9269"/>
              <a:chExt cx="1634" cy="1325"/>
            </a:xfrm>
          </p:grpSpPr>
          <p:sp>
            <p:nvSpPr>
              <p:cNvPr id="507" name="矩形 506"/>
              <p:cNvSpPr/>
              <p:nvPr>
                <p:custDataLst>
                  <p:tags r:id="rId28"/>
                </p:custDataLst>
              </p:nvPr>
            </p:nvSpPr>
            <p:spPr>
              <a:xfrm>
                <a:off x="13628" y="9269"/>
                <a:ext cx="1602" cy="132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508" name="直接连接符 507"/>
              <p:cNvCxnSpPr>
                <a:endCxn id="507" idx="3"/>
              </p:cNvCxnSpPr>
              <p:nvPr>
                <p:custDataLst>
                  <p:tags r:id="rId29"/>
                </p:custDataLst>
              </p:nvPr>
            </p:nvCxnSpPr>
            <p:spPr>
              <a:xfrm>
                <a:off x="13596" y="9927"/>
                <a:ext cx="1634" cy="5"/>
              </a:xfrm>
              <a:prstGeom prst="line">
                <a:avLst/>
              </a:prstGeom>
              <a:ln w="12700" cmpd="sng"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pic>
            <p:nvPicPr>
              <p:cNvPr id="509" name="图片 508" descr="汽车俯视图"/>
              <p:cNvPicPr>
                <a:picLocks noChangeAspect="1"/>
              </p:cNvPicPr>
              <p:nvPr>
                <p:custDataLst>
                  <p:tags r:id="rId30"/>
                </p:custDataLst>
              </p:nvPr>
            </p:nvPicPr>
            <p:blipFill>
              <a:blip r:embed="rId31">
                <a:extLst>
                  <a:ext uri="{96DAC541-7B7A-43D3-8B79-37D633B846F1}">
                    <asvg:svgBlip xmlns:asvg="http://schemas.microsoft.com/office/drawing/2016/SVG/main" r:embed="rId32"/>
                  </a:ext>
                </a:extLst>
              </a:blip>
              <a:stretch>
                <a:fillRect/>
              </a:stretch>
            </p:blipFill>
            <p:spPr>
              <a:xfrm rot="5400000">
                <a:off x="14558" y="9917"/>
                <a:ext cx="672" cy="672"/>
              </a:xfrm>
              <a:prstGeom prst="rect">
                <a:avLst/>
              </a:prstGeom>
            </p:spPr>
          </p:pic>
          <p:sp>
            <p:nvSpPr>
              <p:cNvPr id="510" name="矩形 509"/>
              <p:cNvSpPr/>
              <p:nvPr>
                <p:custDataLst>
                  <p:tags r:id="rId33"/>
                </p:custDataLst>
              </p:nvPr>
            </p:nvSpPr>
            <p:spPr>
              <a:xfrm>
                <a:off x="14088" y="10020"/>
                <a:ext cx="687" cy="471"/>
              </a:xfrm>
              <a:prstGeom prst="rect">
                <a:avLst/>
              </a:prstGeom>
              <a:noFill/>
              <a:ln w="25400">
                <a:solidFill>
                  <a:srgbClr val="C00000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pic>
            <p:nvPicPr>
              <p:cNvPr id="511" name="图片 510" descr="汽车俯视图"/>
              <p:cNvPicPr>
                <a:picLocks noChangeAspect="1"/>
              </p:cNvPicPr>
              <p:nvPr>
                <p:custDataLst>
                  <p:tags r:id="rId34"/>
                </p:custDataLst>
              </p:nvPr>
            </p:nvPicPr>
            <p:blipFill>
              <a:blip r:embed="rId31">
                <a:extLst>
                  <a:ext uri="{96DAC541-7B7A-43D3-8B79-37D633B846F1}">
                    <asvg:svgBlip xmlns:asvg="http://schemas.microsoft.com/office/drawing/2016/SVG/main" r:embed="rId32"/>
                  </a:ext>
                </a:extLst>
              </a:blip>
              <a:stretch>
                <a:fillRect/>
              </a:stretch>
            </p:blipFill>
            <p:spPr>
              <a:xfrm rot="5400000">
                <a:off x="13894" y="9283"/>
                <a:ext cx="672" cy="672"/>
              </a:xfrm>
              <a:prstGeom prst="rect">
                <a:avLst/>
              </a:prstGeom>
            </p:spPr>
          </p:pic>
        </p:grpSp>
        <p:sp>
          <p:nvSpPr>
            <p:cNvPr id="512" name="文本框 511"/>
            <p:cNvSpPr txBox="1"/>
            <p:nvPr>
              <p:custDataLst>
                <p:tags r:id="rId35"/>
              </p:custDataLst>
            </p:nvPr>
          </p:nvSpPr>
          <p:spPr>
            <a:xfrm>
              <a:off x="13282" y="3213"/>
              <a:ext cx="399" cy="35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zh-CN" altLang="en-US" sz="1000">
                  <a:latin typeface="Calibri" charset="0"/>
                </a:rPr>
                <a:t>①</a:t>
              </a:r>
              <a:endParaRPr lang="zh-CN" altLang="en-US" sz="1000">
                <a:latin typeface="Calibri" charset="0"/>
              </a:endParaRPr>
            </a:p>
          </p:txBody>
        </p:sp>
        <p:sp>
          <p:nvSpPr>
            <p:cNvPr id="513" name="文本框 512"/>
            <p:cNvSpPr txBox="1"/>
            <p:nvPr>
              <p:custDataLst>
                <p:tags r:id="rId36"/>
              </p:custDataLst>
            </p:nvPr>
          </p:nvSpPr>
          <p:spPr>
            <a:xfrm>
              <a:off x="14153" y="3220"/>
              <a:ext cx="288" cy="35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 sz="1000">
                  <a:latin typeface="Calibri" charset="0"/>
                </a:rPr>
                <a:t>②</a:t>
              </a:r>
              <a:endParaRPr lang="en-US" altLang="zh-CN" sz="1000">
                <a:latin typeface="Calibri" charset="0"/>
              </a:endParaRPr>
            </a:p>
          </p:txBody>
        </p:sp>
      </p:grpSp>
      <p:sp>
        <p:nvSpPr>
          <p:cNvPr id="514" name="矩形 513"/>
          <p:cNvSpPr/>
          <p:nvPr>
            <p:custDataLst>
              <p:tags r:id="rId37"/>
            </p:custDataLst>
          </p:nvPr>
        </p:nvSpPr>
        <p:spPr>
          <a:xfrm>
            <a:off x="12119478" y="-2518174"/>
            <a:ext cx="297187" cy="192409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15" name="文本框 514"/>
          <p:cNvSpPr txBox="1"/>
          <p:nvPr>
            <p:custDataLst>
              <p:tags r:id="rId38"/>
            </p:custDataLst>
          </p:nvPr>
        </p:nvSpPr>
        <p:spPr>
          <a:xfrm>
            <a:off x="9390823" y="-1102728"/>
            <a:ext cx="1006497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Increased?</a:t>
            </a:r>
            <a:endParaRPr lang="zh-CN" altLang="en-US" sz="1200"/>
          </a:p>
        </p:txBody>
      </p:sp>
      <p:sp>
        <p:nvSpPr>
          <p:cNvPr id="517" name="文本框 516"/>
          <p:cNvSpPr txBox="1"/>
          <p:nvPr>
            <p:custDataLst>
              <p:tags r:id="rId39"/>
            </p:custDataLst>
          </p:nvPr>
        </p:nvSpPr>
        <p:spPr>
          <a:xfrm>
            <a:off x="11732130" y="-2294014"/>
            <a:ext cx="523877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>
                <a:latin typeface="Calibri" charset="0"/>
                <a:sym typeface="+mn-ea"/>
              </a:rPr>
              <a:t>③</a:t>
            </a:r>
            <a:endParaRPr lang="zh-CN" altLang="en-US" sz="1000">
              <a:latin typeface="Calibri" charset="0"/>
            </a:endParaRPr>
          </a:p>
        </p:txBody>
      </p:sp>
      <p:grpSp>
        <p:nvGrpSpPr>
          <p:cNvPr id="518" name="组合 517"/>
          <p:cNvGrpSpPr/>
          <p:nvPr/>
        </p:nvGrpSpPr>
        <p:grpSpPr>
          <a:xfrm>
            <a:off x="9512111" y="-396592"/>
            <a:ext cx="683910" cy="727726"/>
            <a:chOff x="9894" y="9274"/>
            <a:chExt cx="1077" cy="1146"/>
          </a:xfrm>
        </p:grpSpPr>
        <p:grpSp>
          <p:nvGrpSpPr>
            <p:cNvPr id="519" name="组合 518"/>
            <p:cNvGrpSpPr/>
            <p:nvPr/>
          </p:nvGrpSpPr>
          <p:grpSpPr>
            <a:xfrm rot="0">
              <a:off x="9894" y="9274"/>
              <a:ext cx="960" cy="960"/>
              <a:chOff x="8183" y="5036"/>
              <a:chExt cx="960" cy="960"/>
            </a:xfrm>
          </p:grpSpPr>
          <p:pic>
            <p:nvPicPr>
              <p:cNvPr id="520" name="图片 519" descr="picture-new"/>
              <p:cNvPicPr>
                <a:picLocks noChangeAspect="1"/>
              </p:cNvPicPr>
              <p:nvPr>
                <p:custDataLst>
                  <p:tags r:id="rId40"/>
                </p:custDataLst>
              </p:nvPr>
            </p:nvPicPr>
            <p:blipFill>
              <a:blip r:embed="rId41">
                <a:extLst>
                  <a:ext uri="{96DAC541-7B7A-43D3-8B79-37D633B846F1}">
                    <asvg:svgBlip xmlns:asvg="http://schemas.microsoft.com/office/drawing/2016/SVG/main" r:embed="rId42"/>
                  </a:ext>
                </a:extLst>
              </a:blip>
              <a:stretch>
                <a:fillRect/>
              </a:stretch>
            </p:blipFill>
            <p:spPr>
              <a:xfrm>
                <a:off x="8360" y="5297"/>
                <a:ext cx="607" cy="619"/>
              </a:xfrm>
              <a:prstGeom prst="rect">
                <a:avLst/>
              </a:prstGeom>
            </p:spPr>
          </p:pic>
          <p:pic>
            <p:nvPicPr>
              <p:cNvPr id="521" name="图片 520" descr="24gl-fileEmpty"/>
              <p:cNvPicPr>
                <a:picLocks noChangeAspect="1"/>
              </p:cNvPicPr>
              <p:nvPr>
                <p:custDataLst>
                  <p:tags r:id="rId43"/>
                </p:custDataLst>
              </p:nvPr>
            </p:nvPicPr>
            <p:blipFill>
              <a:blip r:embed="rId44">
                <a:extLst>
                  <a:ext uri="{96DAC541-7B7A-43D3-8B79-37D633B846F1}">
                    <asvg:svgBlip xmlns:asvg="http://schemas.microsoft.com/office/drawing/2016/SVG/main" r:embed="rId45"/>
                  </a:ext>
                </a:extLst>
              </a:blip>
              <a:stretch>
                <a:fillRect/>
              </a:stretch>
            </p:blipFill>
            <p:spPr>
              <a:xfrm>
                <a:off x="8183" y="5036"/>
                <a:ext cx="960" cy="960"/>
              </a:xfrm>
              <a:prstGeom prst="rect">
                <a:avLst/>
              </a:prstGeom>
            </p:spPr>
          </p:pic>
        </p:grpSp>
        <p:pic>
          <p:nvPicPr>
            <p:cNvPr id="522" name="图片 521"/>
            <p:cNvPicPr>
              <a:picLocks noChangeAspect="1"/>
            </p:cNvPicPr>
            <p:nvPr>
              <p:custDataLst>
                <p:tags r:id="rId46"/>
              </p:custDataLst>
            </p:nvPr>
          </p:nvPicPr>
          <p:blipFill>
            <a:blip r:embed="rId47"/>
            <a:stretch>
              <a:fillRect/>
            </a:stretch>
          </p:blipFill>
          <p:spPr>
            <a:xfrm>
              <a:off x="10269" y="9568"/>
              <a:ext cx="703" cy="853"/>
            </a:xfrm>
            <a:prstGeom prst="rect">
              <a:avLst/>
            </a:prstGeom>
          </p:spPr>
        </p:pic>
      </p:grpSp>
      <p:sp>
        <p:nvSpPr>
          <p:cNvPr id="70" name="圆角矩形 69"/>
          <p:cNvSpPr/>
          <p:nvPr>
            <p:custDataLst>
              <p:tags r:id="rId48"/>
            </p:custDataLst>
          </p:nvPr>
        </p:nvSpPr>
        <p:spPr>
          <a:xfrm>
            <a:off x="11412707" y="2285071"/>
            <a:ext cx="5459850" cy="1488473"/>
          </a:xfrm>
          <a:prstGeom prst="roundRect">
            <a:avLst>
              <a:gd name="adj" fmla="val 5234"/>
            </a:avLst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75" name="图片 174" descr="测试用例"/>
          <p:cNvPicPr>
            <a:picLocks noChangeAspect="1"/>
          </p:cNvPicPr>
          <p:nvPr/>
        </p:nvPicPr>
        <p:blipFill>
          <a:blip r:embed="rId49"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11806416" y="4945145"/>
            <a:ext cx="693435" cy="693435"/>
          </a:xfrm>
          <a:prstGeom prst="rect">
            <a:avLst/>
          </a:prstGeom>
        </p:spPr>
      </p:pic>
      <p:sp>
        <p:nvSpPr>
          <p:cNvPr id="176" name="文本框 175"/>
          <p:cNvSpPr txBox="1"/>
          <p:nvPr/>
        </p:nvSpPr>
        <p:spPr>
          <a:xfrm>
            <a:off x="11372701" y="5594129"/>
            <a:ext cx="158245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600" b="1"/>
              <a:t>Transformed</a:t>
            </a:r>
            <a:endParaRPr lang="en-US" altLang="zh-CN" sz="1600" b="1"/>
          </a:p>
          <a:p>
            <a:pPr algn="ctr"/>
            <a:r>
              <a:rPr lang="en-US" altLang="zh-CN" sz="1600" b="1"/>
              <a:t>point cloud</a:t>
            </a:r>
            <a:endParaRPr lang="en-US" altLang="zh-CN" sz="1600" b="1"/>
          </a:p>
        </p:txBody>
      </p:sp>
      <p:pic>
        <p:nvPicPr>
          <p:cNvPr id="107" name="334E55B0-647D-440b-865C-3EC943EB4CBC-1" descr="/Users/gaoxinyu/Library/Containers/com.kingsoft.wpsoffice.mac/Data/tmp/wpsoffice.cEbuJowpsoffice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11835626" y="2975967"/>
            <a:ext cx="2155237" cy="636919"/>
          </a:xfrm>
          <a:prstGeom prst="rect">
            <a:avLst/>
          </a:prstGeom>
        </p:spPr>
      </p:pic>
      <p:sp>
        <p:nvSpPr>
          <p:cNvPr id="108" name="文本框 107"/>
          <p:cNvSpPr txBox="1"/>
          <p:nvPr>
            <p:custDataLst>
              <p:tags r:id="rId52"/>
            </p:custDataLst>
          </p:nvPr>
        </p:nvSpPr>
        <p:spPr>
          <a:xfrm>
            <a:off x="11477479" y="2285071"/>
            <a:ext cx="5394443" cy="6623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600" b="1">
                <a:sym typeface="+mn-ea"/>
              </a:rPr>
              <a:t>Diversity</a:t>
            </a:r>
            <a:r>
              <a:rPr lang="en-US" altLang="zh-CN" sz="1600" b="1"/>
              <a:t> Guidance</a:t>
            </a:r>
            <a:r>
              <a:rPr lang="en-US" altLang="zh-CN" sz="1600"/>
              <a:t> : </a:t>
            </a:r>
            <a:r>
              <a:rPr lang="zh-CN" altLang="en-US" sz="1600">
                <a:sym typeface="+mn-ea"/>
              </a:rPr>
              <a:t>Measuring the </a:t>
            </a:r>
            <a:r>
              <a:rPr lang="en-US" altLang="zh-CN" sz="1600">
                <a:sym typeface="+mn-ea"/>
              </a:rPr>
              <a:t>diversity </a:t>
            </a:r>
            <a:r>
              <a:rPr lang="zh-CN" altLang="en-US" sz="1600">
                <a:sym typeface="+mn-ea"/>
              </a:rPr>
              <a:t>of </a:t>
            </a:r>
            <a:r>
              <a:rPr lang="en-US" altLang="zh-CN" sz="1600">
                <a:sym typeface="+mn-ea"/>
              </a:rPr>
              <a:t>generate point cloud S</a:t>
            </a:r>
            <a:endParaRPr lang="en-US" altLang="zh-CN" sz="1600">
              <a:sym typeface="+mn-ea"/>
            </a:endParaRPr>
          </a:p>
        </p:txBody>
      </p:sp>
      <p:pic>
        <p:nvPicPr>
          <p:cNvPr id="111" name="图片 110" descr="数据集"/>
          <p:cNvPicPr>
            <a:picLocks noChangeAspect="1"/>
          </p:cNvPicPr>
          <p:nvPr/>
        </p:nvPicPr>
        <p:blipFill>
          <a:blip r:embed="rId53"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15668571" y="-834117"/>
            <a:ext cx="1905042" cy="1905042"/>
          </a:xfrm>
          <a:prstGeom prst="rect">
            <a:avLst/>
          </a:prstGeom>
        </p:spPr>
      </p:pic>
      <p:grpSp>
        <p:nvGrpSpPr>
          <p:cNvPr id="119" name="组合 118"/>
          <p:cNvGrpSpPr/>
          <p:nvPr/>
        </p:nvGrpSpPr>
        <p:grpSpPr>
          <a:xfrm>
            <a:off x="14402353" y="2712227"/>
            <a:ext cx="2372155" cy="975320"/>
            <a:chOff x="2806" y="-6735"/>
            <a:chExt cx="6271" cy="2677"/>
          </a:xfrm>
        </p:grpSpPr>
        <p:sp>
          <p:nvSpPr>
            <p:cNvPr id="109" name="椭圆 108"/>
            <p:cNvSpPr/>
            <p:nvPr/>
          </p:nvSpPr>
          <p:spPr>
            <a:xfrm>
              <a:off x="2806" y="-6735"/>
              <a:ext cx="6271" cy="2677"/>
            </a:xfrm>
            <a:prstGeom prst="ellipse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pic>
          <p:nvPicPr>
            <p:cNvPr id="110" name="图片 109" descr="交通标志"/>
            <p:cNvPicPr>
              <a:picLocks noChangeAspect="1"/>
            </p:cNvPicPr>
            <p:nvPr/>
          </p:nvPicPr>
          <p:blipFill>
            <a:blip r:embed="rId55">
              <a:extLst>
                <a:ext uri="{96DAC541-7B7A-43D3-8B79-37D633B846F1}">
                  <asvg:svgBlip xmlns:asvg="http://schemas.microsoft.com/office/drawing/2016/SVG/main" r:embed="rId56"/>
                </a:ext>
              </a:extLst>
            </a:blip>
            <a:stretch>
              <a:fillRect/>
            </a:stretch>
          </p:blipFill>
          <p:spPr>
            <a:xfrm>
              <a:off x="3400" y="-6233"/>
              <a:ext cx="1154" cy="1154"/>
            </a:xfrm>
            <a:prstGeom prst="rect">
              <a:avLst/>
            </a:prstGeom>
          </p:spPr>
        </p:pic>
        <p:pic>
          <p:nvPicPr>
            <p:cNvPr id="112" name="图片 111" descr="步行"/>
            <p:cNvPicPr>
              <a:picLocks noChangeAspect="1"/>
            </p:cNvPicPr>
            <p:nvPr/>
          </p:nvPicPr>
          <p:blipFill>
            <a:blip r:embed="rId57">
              <a:extLst>
                <a:ext uri="{96DAC541-7B7A-43D3-8B79-37D633B846F1}">
                  <asvg:svgBlip xmlns:asvg="http://schemas.microsoft.com/office/drawing/2016/SVG/main" r:embed="rId58"/>
                </a:ext>
              </a:extLst>
            </a:blip>
            <a:stretch>
              <a:fillRect/>
            </a:stretch>
          </p:blipFill>
          <p:spPr>
            <a:xfrm>
              <a:off x="4965" y="-5830"/>
              <a:ext cx="853" cy="853"/>
            </a:xfrm>
            <a:prstGeom prst="rect">
              <a:avLst/>
            </a:prstGeom>
          </p:spPr>
        </p:pic>
        <p:pic>
          <p:nvPicPr>
            <p:cNvPr id="113" name="图片 112" descr="_汽车票"/>
            <p:cNvPicPr>
              <a:picLocks noChangeAspect="1"/>
            </p:cNvPicPr>
            <p:nvPr/>
          </p:nvPicPr>
          <p:blipFill>
            <a:blip r:embed="rId59">
              <a:extLst>
                <a:ext uri="{96DAC541-7B7A-43D3-8B79-37D633B846F1}">
                  <asvg:svgBlip xmlns:asvg="http://schemas.microsoft.com/office/drawing/2016/SVG/main" r:embed="rId60"/>
                </a:ext>
              </a:extLst>
            </a:blip>
            <a:stretch>
              <a:fillRect/>
            </a:stretch>
          </p:blipFill>
          <p:spPr>
            <a:xfrm>
              <a:off x="6415" y="-6449"/>
              <a:ext cx="918" cy="918"/>
            </a:xfrm>
            <a:prstGeom prst="rect">
              <a:avLst/>
            </a:prstGeom>
          </p:spPr>
        </p:pic>
        <p:pic>
          <p:nvPicPr>
            <p:cNvPr id="114" name="图片 113" descr="步行"/>
            <p:cNvPicPr>
              <a:picLocks noChangeAspect="1"/>
            </p:cNvPicPr>
            <p:nvPr/>
          </p:nvPicPr>
          <p:blipFill>
            <a:blip r:embed="rId57">
              <a:extLst>
                <a:ext uri="{96DAC541-7B7A-43D3-8B79-37D633B846F1}">
                  <asvg:svgBlip xmlns:asvg="http://schemas.microsoft.com/office/drawing/2016/SVG/main" r:embed="rId58"/>
                </a:ext>
              </a:extLst>
            </a:blip>
            <a:stretch>
              <a:fillRect/>
            </a:stretch>
          </p:blipFill>
          <p:spPr>
            <a:xfrm>
              <a:off x="5578" y="-5364"/>
              <a:ext cx="725" cy="725"/>
            </a:xfrm>
            <a:prstGeom prst="rect">
              <a:avLst/>
            </a:prstGeom>
          </p:spPr>
        </p:pic>
        <p:pic>
          <p:nvPicPr>
            <p:cNvPr id="115" name="图片 114" descr="_汽车票"/>
            <p:cNvPicPr>
              <a:picLocks noChangeAspect="1"/>
            </p:cNvPicPr>
            <p:nvPr/>
          </p:nvPicPr>
          <p:blipFill>
            <a:blip r:embed="rId59">
              <a:extLst>
                <a:ext uri="{96DAC541-7B7A-43D3-8B79-37D633B846F1}">
                  <asvg:svgBlip xmlns:asvg="http://schemas.microsoft.com/office/drawing/2016/SVG/main" r:embed="rId60"/>
                </a:ext>
              </a:extLst>
            </a:blip>
            <a:stretch>
              <a:fillRect/>
            </a:stretch>
          </p:blipFill>
          <p:spPr>
            <a:xfrm>
              <a:off x="7333" y="-6158"/>
              <a:ext cx="918" cy="918"/>
            </a:xfrm>
            <a:prstGeom prst="rect">
              <a:avLst/>
            </a:prstGeom>
          </p:spPr>
        </p:pic>
        <p:pic>
          <p:nvPicPr>
            <p:cNvPr id="116" name="图片 115" descr="_汽车票"/>
            <p:cNvPicPr>
              <a:picLocks noChangeAspect="1"/>
            </p:cNvPicPr>
            <p:nvPr/>
          </p:nvPicPr>
          <p:blipFill>
            <a:blip r:embed="rId59">
              <a:extLst>
                <a:ext uri="{96DAC541-7B7A-43D3-8B79-37D633B846F1}">
                  <asvg:svgBlip xmlns:asvg="http://schemas.microsoft.com/office/drawing/2016/SVG/main" r:embed="rId60"/>
                </a:ext>
              </a:extLst>
            </a:blip>
            <a:stretch>
              <a:fillRect/>
            </a:stretch>
          </p:blipFill>
          <p:spPr>
            <a:xfrm>
              <a:off x="6415" y="-5531"/>
              <a:ext cx="918" cy="918"/>
            </a:xfrm>
            <a:prstGeom prst="rect">
              <a:avLst/>
            </a:prstGeom>
          </p:spPr>
        </p:pic>
        <p:pic>
          <p:nvPicPr>
            <p:cNvPr id="117" name="图片 116" descr="交通标志"/>
            <p:cNvPicPr>
              <a:picLocks noChangeAspect="1"/>
            </p:cNvPicPr>
            <p:nvPr/>
          </p:nvPicPr>
          <p:blipFill>
            <a:blip r:embed="rId55">
              <a:extLst>
                <a:ext uri="{96DAC541-7B7A-43D3-8B79-37D633B846F1}">
                  <asvg:svgBlip xmlns:asvg="http://schemas.microsoft.com/office/drawing/2016/SVG/main" r:embed="rId56"/>
                </a:ext>
              </a:extLst>
            </a:blip>
            <a:stretch>
              <a:fillRect/>
            </a:stretch>
          </p:blipFill>
          <p:spPr>
            <a:xfrm>
              <a:off x="4063" y="-5577"/>
              <a:ext cx="1154" cy="1154"/>
            </a:xfrm>
            <a:prstGeom prst="rect">
              <a:avLst/>
            </a:prstGeom>
          </p:spPr>
        </p:pic>
        <p:pic>
          <p:nvPicPr>
            <p:cNvPr id="118" name="图片 117" descr="自行车-母婴"/>
            <p:cNvPicPr>
              <a:picLocks noChangeAspect="1"/>
            </p:cNvPicPr>
            <p:nvPr/>
          </p:nvPicPr>
          <p:blipFill>
            <a:blip r:embed="rId61">
              <a:extLst>
                <a:ext uri="{96DAC541-7B7A-43D3-8B79-37D633B846F1}">
                  <asvg:svgBlip xmlns:asvg="http://schemas.microsoft.com/office/drawing/2016/SVG/main" r:embed="rId62"/>
                </a:ext>
              </a:extLst>
            </a:blip>
            <a:stretch>
              <a:fillRect/>
            </a:stretch>
          </p:blipFill>
          <p:spPr>
            <a:xfrm>
              <a:off x="4978" y="-6688"/>
              <a:ext cx="1105" cy="1110"/>
            </a:xfrm>
            <a:prstGeom prst="rect">
              <a:avLst/>
            </a:prstGeom>
          </p:spPr>
        </p:pic>
      </p:grpSp>
      <p:cxnSp>
        <p:nvCxnSpPr>
          <p:cNvPr id="120" name="直接箭头连接符 119"/>
          <p:cNvCxnSpPr>
            <a:stCxn id="175" idx="0"/>
          </p:cNvCxnSpPr>
          <p:nvPr/>
        </p:nvCxnSpPr>
        <p:spPr>
          <a:xfrm flipV="1">
            <a:off x="12153133" y="3864986"/>
            <a:ext cx="0" cy="108015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1" name="文本框 120"/>
          <p:cNvSpPr txBox="1"/>
          <p:nvPr>
            <p:custDataLst>
              <p:tags r:id="rId63"/>
            </p:custDataLst>
          </p:nvPr>
        </p:nvSpPr>
        <p:spPr>
          <a:xfrm>
            <a:off x="17609808" y="7167059"/>
            <a:ext cx="1776134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buClrTx/>
              <a:buSzTx/>
              <a:buFontTx/>
            </a:pPr>
            <a:r>
              <a:rPr lang="en-US" altLang="zh-CN" sz="1600" b="1">
                <a:sym typeface="+mn-ea"/>
              </a:rPr>
              <a:t>Generated Data</a:t>
            </a:r>
            <a:endParaRPr lang="en-US" altLang="zh-CN" sz="1600" b="1">
              <a:sym typeface="+mn-ea"/>
            </a:endParaRPr>
          </a:p>
        </p:txBody>
      </p:sp>
      <p:sp>
        <p:nvSpPr>
          <p:cNvPr id="122" name="菱形 121"/>
          <p:cNvSpPr/>
          <p:nvPr/>
        </p:nvSpPr>
        <p:spPr>
          <a:xfrm>
            <a:off x="13009767" y="4130422"/>
            <a:ext cx="1569119" cy="581038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000">
              <a:solidFill>
                <a:schemeClr val="tx1"/>
              </a:solidFill>
            </a:endParaRPr>
          </a:p>
        </p:txBody>
      </p:sp>
      <p:sp>
        <p:nvSpPr>
          <p:cNvPr id="123" name="流程图: 过程 122"/>
          <p:cNvSpPr/>
          <p:nvPr>
            <p:custDataLst>
              <p:tags r:id="rId64"/>
            </p:custDataLst>
          </p:nvPr>
        </p:nvSpPr>
        <p:spPr>
          <a:xfrm>
            <a:off x="15197390" y="4230119"/>
            <a:ext cx="1069998" cy="401329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Discarded</a:t>
            </a:r>
            <a:endParaRPr lang="en-US" altLang="zh-CN" sz="1200">
              <a:solidFill>
                <a:schemeClr val="tx1"/>
              </a:solidFill>
            </a:endParaRPr>
          </a:p>
        </p:txBody>
      </p:sp>
      <p:cxnSp>
        <p:nvCxnSpPr>
          <p:cNvPr id="124" name="直接箭头连接符 123"/>
          <p:cNvCxnSpPr>
            <a:stCxn id="122" idx="3"/>
            <a:endCxn id="123" idx="1"/>
          </p:cNvCxnSpPr>
          <p:nvPr/>
        </p:nvCxnSpPr>
        <p:spPr>
          <a:xfrm>
            <a:off x="14578887" y="4421258"/>
            <a:ext cx="618504" cy="1016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5" name="直接箭头连接符 124"/>
          <p:cNvCxnSpPr>
            <a:stCxn id="122" idx="2"/>
          </p:cNvCxnSpPr>
          <p:nvPr/>
        </p:nvCxnSpPr>
        <p:spPr>
          <a:xfrm>
            <a:off x="13794644" y="4711460"/>
            <a:ext cx="0" cy="77916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7" name="直接箭头连接符 126"/>
          <p:cNvCxnSpPr>
            <a:endCxn id="131" idx="1"/>
          </p:cNvCxnSpPr>
          <p:nvPr>
            <p:custDataLst>
              <p:tags r:id="rId65"/>
            </p:custDataLst>
          </p:nvPr>
        </p:nvCxnSpPr>
        <p:spPr>
          <a:xfrm>
            <a:off x="18749658" y="6812086"/>
            <a:ext cx="1042058" cy="254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8" name="文本框 127"/>
          <p:cNvSpPr txBox="1"/>
          <p:nvPr/>
        </p:nvSpPr>
        <p:spPr>
          <a:xfrm>
            <a:off x="14654453" y="4177413"/>
            <a:ext cx="420379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000"/>
              <a:t>N</a:t>
            </a:r>
            <a:endParaRPr lang="en-US" altLang="zh-CN" sz="1000"/>
          </a:p>
        </p:txBody>
      </p:sp>
      <p:sp>
        <p:nvSpPr>
          <p:cNvPr id="129" name="文本框 128"/>
          <p:cNvSpPr txBox="1"/>
          <p:nvPr>
            <p:custDataLst>
              <p:tags r:id="rId66"/>
            </p:custDataLst>
          </p:nvPr>
        </p:nvSpPr>
        <p:spPr>
          <a:xfrm>
            <a:off x="14122947" y="4750196"/>
            <a:ext cx="420379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000"/>
              <a:t>Y</a:t>
            </a:r>
            <a:endParaRPr lang="en-US" altLang="zh-CN" sz="1000"/>
          </a:p>
        </p:txBody>
      </p:sp>
      <p:pic>
        <p:nvPicPr>
          <p:cNvPr id="130" name="图片 129" descr="目标检测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9982855" y="6587926"/>
            <a:ext cx="462925" cy="481341"/>
          </a:xfrm>
          <a:prstGeom prst="rect">
            <a:avLst/>
          </a:prstGeom>
        </p:spPr>
      </p:pic>
      <p:pic>
        <p:nvPicPr>
          <p:cNvPr id="131" name="图片 130" descr="IPC_目标检测框设置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9792351" y="6387896"/>
            <a:ext cx="821073" cy="853459"/>
          </a:xfrm>
          <a:prstGeom prst="rect">
            <a:avLst/>
          </a:prstGeom>
        </p:spPr>
      </p:pic>
      <p:sp>
        <p:nvSpPr>
          <p:cNvPr id="132" name="文本框 131"/>
          <p:cNvSpPr txBox="1"/>
          <p:nvPr>
            <p:custDataLst>
              <p:tags r:id="rId67"/>
            </p:custDataLst>
          </p:nvPr>
        </p:nvSpPr>
        <p:spPr>
          <a:xfrm>
            <a:off x="18896981" y="6518709"/>
            <a:ext cx="868064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 sz="1200">
                <a:sym typeface="+mn-ea"/>
              </a:rPr>
              <a:t>Testing</a:t>
            </a:r>
            <a:endParaRPr lang="en-US" altLang="zh-CN" sz="1200">
              <a:sym typeface="+mn-ea"/>
            </a:endParaRPr>
          </a:p>
        </p:txBody>
      </p:sp>
      <p:sp>
        <p:nvSpPr>
          <p:cNvPr id="134" name="文本框 133"/>
          <p:cNvSpPr txBox="1"/>
          <p:nvPr>
            <p:custDataLst>
              <p:tags r:id="rId68"/>
            </p:custDataLst>
          </p:nvPr>
        </p:nvSpPr>
        <p:spPr>
          <a:xfrm>
            <a:off x="19571366" y="7177854"/>
            <a:ext cx="1346865" cy="737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 sz="1400">
                <a:sym typeface="+mn-ea"/>
              </a:rPr>
              <a:t>LiDAR-based perception system</a:t>
            </a:r>
            <a:endParaRPr lang="en-US" altLang="zh-CN" sz="1400">
              <a:sym typeface="+mn-ea"/>
            </a:endParaRPr>
          </a:p>
        </p:txBody>
      </p:sp>
      <p:sp>
        <p:nvSpPr>
          <p:cNvPr id="135" name="文本框 134"/>
          <p:cNvSpPr txBox="1"/>
          <p:nvPr>
            <p:custDataLst>
              <p:tags r:id="rId69"/>
            </p:custDataLst>
          </p:nvPr>
        </p:nvSpPr>
        <p:spPr>
          <a:xfrm>
            <a:off x="17395173" y="4353312"/>
            <a:ext cx="940456" cy="278136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200"/>
              <a:t>Feedback</a:t>
            </a:r>
            <a:endParaRPr lang="en-US" altLang="zh-CN" sz="1200"/>
          </a:p>
        </p:txBody>
      </p:sp>
      <p:sp>
        <p:nvSpPr>
          <p:cNvPr id="136" name="文本框 135"/>
          <p:cNvSpPr txBox="1"/>
          <p:nvPr>
            <p:custDataLst>
              <p:tags r:id="rId70"/>
            </p:custDataLst>
          </p:nvPr>
        </p:nvSpPr>
        <p:spPr>
          <a:xfrm>
            <a:off x="13296794" y="4269490"/>
            <a:ext cx="1076349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Increased?</a:t>
            </a:r>
            <a:endParaRPr lang="zh-CN" altLang="en-US" sz="1200"/>
          </a:p>
        </p:txBody>
      </p:sp>
      <p:grpSp>
        <p:nvGrpSpPr>
          <p:cNvPr id="137" name="组合 136"/>
          <p:cNvGrpSpPr/>
          <p:nvPr/>
        </p:nvGrpSpPr>
        <p:grpSpPr>
          <a:xfrm rot="0">
            <a:off x="18080988" y="6380911"/>
            <a:ext cx="731536" cy="809008"/>
            <a:chOff x="9894" y="9274"/>
            <a:chExt cx="1077" cy="1146"/>
          </a:xfrm>
        </p:grpSpPr>
        <p:grpSp>
          <p:nvGrpSpPr>
            <p:cNvPr id="138" name="组合 137"/>
            <p:cNvGrpSpPr/>
            <p:nvPr/>
          </p:nvGrpSpPr>
          <p:grpSpPr>
            <a:xfrm rot="0">
              <a:off x="9894" y="9274"/>
              <a:ext cx="960" cy="960"/>
              <a:chOff x="8183" y="5036"/>
              <a:chExt cx="960" cy="960"/>
            </a:xfrm>
          </p:grpSpPr>
          <p:pic>
            <p:nvPicPr>
              <p:cNvPr id="139" name="图片 138" descr="picture-new"/>
              <p:cNvPicPr>
                <a:picLocks noChangeAspect="1"/>
              </p:cNvPicPr>
              <p:nvPr>
                <p:custDataLst>
                  <p:tags r:id="rId71"/>
                </p:custDataLst>
              </p:nvPr>
            </p:nvPicPr>
            <p:blipFill>
              <a:blip r:embed="rId41">
                <a:extLst>
                  <a:ext uri="{96DAC541-7B7A-43D3-8B79-37D633B846F1}">
                    <asvg:svgBlip xmlns:asvg="http://schemas.microsoft.com/office/drawing/2016/SVG/main" r:embed="rId42"/>
                  </a:ext>
                </a:extLst>
              </a:blip>
              <a:stretch>
                <a:fillRect/>
              </a:stretch>
            </p:blipFill>
            <p:spPr>
              <a:xfrm>
                <a:off x="8360" y="5297"/>
                <a:ext cx="607" cy="619"/>
              </a:xfrm>
              <a:prstGeom prst="rect">
                <a:avLst/>
              </a:prstGeom>
            </p:spPr>
          </p:pic>
          <p:pic>
            <p:nvPicPr>
              <p:cNvPr id="140" name="图片 139" descr="24gl-fileEmpty"/>
              <p:cNvPicPr>
                <a:picLocks noChangeAspect="1"/>
              </p:cNvPicPr>
              <p:nvPr>
                <p:custDataLst>
                  <p:tags r:id="rId72"/>
                </p:custDataLst>
              </p:nvPr>
            </p:nvPicPr>
            <p:blipFill>
              <a:blip r:embed="rId44">
                <a:extLst>
                  <a:ext uri="{96DAC541-7B7A-43D3-8B79-37D633B846F1}">
                    <asvg:svgBlip xmlns:asvg="http://schemas.microsoft.com/office/drawing/2016/SVG/main" r:embed="rId45"/>
                  </a:ext>
                </a:extLst>
              </a:blip>
              <a:stretch>
                <a:fillRect/>
              </a:stretch>
            </p:blipFill>
            <p:spPr>
              <a:xfrm>
                <a:off x="8183" y="5036"/>
                <a:ext cx="960" cy="960"/>
              </a:xfrm>
              <a:prstGeom prst="rect">
                <a:avLst/>
              </a:prstGeom>
            </p:spPr>
          </p:pic>
        </p:grpSp>
        <p:pic>
          <p:nvPicPr>
            <p:cNvPr id="141" name="图片 140"/>
            <p:cNvPicPr>
              <a:picLocks noChangeAspect="1"/>
            </p:cNvPicPr>
            <p:nvPr>
              <p:custDataLst>
                <p:tags r:id="rId73"/>
              </p:custDataLst>
            </p:nvPr>
          </p:nvPicPr>
          <p:blipFill>
            <a:blip r:embed="rId47"/>
            <a:stretch>
              <a:fillRect/>
            </a:stretch>
          </p:blipFill>
          <p:spPr>
            <a:xfrm>
              <a:off x="10269" y="9568"/>
              <a:ext cx="703" cy="853"/>
            </a:xfrm>
            <a:prstGeom prst="rect">
              <a:avLst/>
            </a:prstGeom>
          </p:spPr>
        </p:pic>
      </p:grpSp>
      <p:cxnSp>
        <p:nvCxnSpPr>
          <p:cNvPr id="145" name="直接箭头连接符 144"/>
          <p:cNvCxnSpPr>
            <a:endCxn id="122" idx="0"/>
          </p:cNvCxnSpPr>
          <p:nvPr/>
        </p:nvCxnSpPr>
        <p:spPr>
          <a:xfrm>
            <a:off x="13794644" y="3814185"/>
            <a:ext cx="0" cy="31623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6953250" y="2119630"/>
            <a:ext cx="1906905" cy="4745990"/>
          </a:xfrm>
          <a:prstGeom prst="rect">
            <a:avLst/>
          </a:prstGeom>
          <a:solidFill>
            <a:schemeClr val="bg2">
              <a:lumMod val="95000"/>
            </a:schemeClr>
          </a:solidFill>
          <a:ln w="28575" cmpd="dbl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8" name="矩形 227"/>
          <p:cNvSpPr/>
          <p:nvPr/>
        </p:nvSpPr>
        <p:spPr>
          <a:xfrm>
            <a:off x="2160905" y="4297680"/>
            <a:ext cx="4451350" cy="256794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1600">
              <a:sym typeface="+mn-ea"/>
            </a:endParaRPr>
          </a:p>
        </p:txBody>
      </p:sp>
      <p:sp>
        <p:nvSpPr>
          <p:cNvPr id="230" name="文本框 229"/>
          <p:cNvSpPr txBox="1"/>
          <p:nvPr/>
        </p:nvSpPr>
        <p:spPr>
          <a:xfrm>
            <a:off x="32068" y="4222115"/>
            <a:ext cx="1764665" cy="3352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/>
              <a:t>Initial Seeds</a:t>
            </a:r>
            <a:endParaRPr lang="en-US" altLang="zh-CN" b="1"/>
          </a:p>
        </p:txBody>
      </p:sp>
      <p:sp>
        <p:nvSpPr>
          <p:cNvPr id="231" name="文本框 230"/>
          <p:cNvSpPr txBox="1"/>
          <p:nvPr/>
        </p:nvSpPr>
        <p:spPr>
          <a:xfrm>
            <a:off x="32703" y="2411730"/>
            <a:ext cx="17659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/>
              <a:t>Test data</a:t>
            </a:r>
            <a:endParaRPr lang="en-US" altLang="zh-CN" b="1"/>
          </a:p>
        </p:txBody>
      </p:sp>
      <p:sp>
        <p:nvSpPr>
          <p:cNvPr id="232" name="文本框 231"/>
          <p:cNvSpPr txBox="1"/>
          <p:nvPr/>
        </p:nvSpPr>
        <p:spPr>
          <a:xfrm>
            <a:off x="32385" y="6021705"/>
            <a:ext cx="17665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/>
              <a:t>Seed Queue</a:t>
            </a:r>
            <a:endParaRPr lang="en-US" altLang="zh-CN" b="1"/>
          </a:p>
        </p:txBody>
      </p:sp>
      <p:sp>
        <p:nvSpPr>
          <p:cNvPr id="233" name="右箭头 232"/>
          <p:cNvSpPr/>
          <p:nvPr/>
        </p:nvSpPr>
        <p:spPr>
          <a:xfrm>
            <a:off x="1483995" y="5450205"/>
            <a:ext cx="433070" cy="29718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34" name="肘形连接符 233"/>
          <p:cNvCxnSpPr>
            <a:stCxn id="295" idx="3"/>
            <a:endCxn id="232" idx="2"/>
          </p:cNvCxnSpPr>
          <p:nvPr/>
        </p:nvCxnSpPr>
        <p:spPr>
          <a:xfrm flipH="1">
            <a:off x="915670" y="5332730"/>
            <a:ext cx="17006570" cy="1057275"/>
          </a:xfrm>
          <a:prstGeom prst="bentConnector4">
            <a:avLst>
              <a:gd name="adj1" fmla="val -1900"/>
              <a:gd name="adj2" fmla="val 175375"/>
            </a:avLst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5" name="直接箭头连接符 234"/>
          <p:cNvCxnSpPr/>
          <p:nvPr/>
        </p:nvCxnSpPr>
        <p:spPr>
          <a:xfrm>
            <a:off x="901700" y="2835910"/>
            <a:ext cx="0" cy="4680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直接箭头连接符 235"/>
          <p:cNvCxnSpPr/>
          <p:nvPr/>
        </p:nvCxnSpPr>
        <p:spPr>
          <a:xfrm>
            <a:off x="901700" y="4630420"/>
            <a:ext cx="0" cy="4680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7" name="图片 236" descr="队列-copy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0855" y="5220335"/>
            <a:ext cx="801370" cy="801370"/>
          </a:xfrm>
          <a:prstGeom prst="rect">
            <a:avLst/>
          </a:prstGeom>
        </p:spPr>
      </p:pic>
      <p:sp>
        <p:nvSpPr>
          <p:cNvPr id="238" name="矩形 237"/>
          <p:cNvSpPr/>
          <p:nvPr/>
        </p:nvSpPr>
        <p:spPr>
          <a:xfrm>
            <a:off x="2165350" y="2134235"/>
            <a:ext cx="4451350" cy="19615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 cmpd="dbl">
            <a:solidFill>
              <a:schemeClr val="tx1"/>
            </a:solidFill>
            <a:prstDash val="lgDash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0" name="圆角矩形 239"/>
          <p:cNvSpPr/>
          <p:nvPr/>
        </p:nvSpPr>
        <p:spPr>
          <a:xfrm>
            <a:off x="2514162" y="6273255"/>
            <a:ext cx="1764000" cy="432000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241" name="圆角矩形 240"/>
          <p:cNvSpPr/>
          <p:nvPr/>
        </p:nvSpPr>
        <p:spPr>
          <a:xfrm>
            <a:off x="2495112" y="5571664"/>
            <a:ext cx="1764000" cy="432000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242" name="圆角矩形 241"/>
          <p:cNvSpPr/>
          <p:nvPr/>
        </p:nvSpPr>
        <p:spPr>
          <a:xfrm>
            <a:off x="4628077" y="4934040"/>
            <a:ext cx="1764000" cy="432000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243" name="圆角矩形 242"/>
          <p:cNvSpPr/>
          <p:nvPr/>
        </p:nvSpPr>
        <p:spPr>
          <a:xfrm>
            <a:off x="4628077" y="5571664"/>
            <a:ext cx="1764000" cy="432000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244" name="圆角矩形 243"/>
          <p:cNvSpPr/>
          <p:nvPr/>
        </p:nvSpPr>
        <p:spPr>
          <a:xfrm>
            <a:off x="4628077" y="6290484"/>
            <a:ext cx="1764000" cy="432000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245" name="圆角矩形 244"/>
          <p:cNvSpPr/>
          <p:nvPr/>
        </p:nvSpPr>
        <p:spPr>
          <a:xfrm>
            <a:off x="2503805" y="4934875"/>
            <a:ext cx="1764030" cy="431165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Vehicle</a:t>
            </a: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sp>
        <p:nvSpPr>
          <p:cNvPr id="246" name="矩形 245"/>
          <p:cNvSpPr/>
          <p:nvPr/>
        </p:nvSpPr>
        <p:spPr>
          <a:xfrm>
            <a:off x="2503805" y="4908550"/>
            <a:ext cx="1764030" cy="431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2">
                    <a:lumMod val="95000"/>
                  </a:schemeClr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sp>
        <p:nvSpPr>
          <p:cNvPr id="247" name="文本框 246"/>
          <p:cNvSpPr txBox="1"/>
          <p:nvPr/>
        </p:nvSpPr>
        <p:spPr>
          <a:xfrm>
            <a:off x="2494915" y="5581650"/>
            <a:ext cx="1764030" cy="4318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>
                <a:sym typeface="+mn-ea"/>
              </a:rPr>
              <a:t>Vegetation</a:t>
            </a:r>
            <a:endParaRPr lang="en-US" altLang="zh-CN">
              <a:sym typeface="+mn-ea"/>
            </a:endParaRPr>
          </a:p>
        </p:txBody>
      </p:sp>
      <p:sp>
        <p:nvSpPr>
          <p:cNvPr id="248" name="文本框 247"/>
          <p:cNvSpPr txBox="1"/>
          <p:nvPr/>
        </p:nvSpPr>
        <p:spPr>
          <a:xfrm>
            <a:off x="4627880" y="5581650"/>
            <a:ext cx="1764030" cy="4318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>
                <a:sym typeface="+mn-ea"/>
              </a:rPr>
              <a:t>Animal</a:t>
            </a:r>
            <a:endParaRPr lang="en-US" altLang="zh-CN">
              <a:sym typeface="+mn-ea"/>
            </a:endParaRPr>
          </a:p>
        </p:txBody>
      </p:sp>
      <p:sp>
        <p:nvSpPr>
          <p:cNvPr id="250" name="文本框 249"/>
          <p:cNvSpPr txBox="1"/>
          <p:nvPr/>
        </p:nvSpPr>
        <p:spPr>
          <a:xfrm>
            <a:off x="4627880" y="4949825"/>
            <a:ext cx="1764030" cy="4318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>
                <a:sym typeface="+mn-ea"/>
              </a:rPr>
              <a:t>Person</a:t>
            </a:r>
            <a:endParaRPr lang="en-US" altLang="zh-CN">
              <a:sym typeface="+mn-ea"/>
            </a:endParaRPr>
          </a:p>
        </p:txBody>
      </p:sp>
      <p:sp>
        <p:nvSpPr>
          <p:cNvPr id="251" name="文本框 250"/>
          <p:cNvSpPr txBox="1"/>
          <p:nvPr/>
        </p:nvSpPr>
        <p:spPr>
          <a:xfrm>
            <a:off x="2513965" y="6290310"/>
            <a:ext cx="1764030" cy="4318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zh-CN" altLang="en-US">
                <a:sym typeface="+mn-ea"/>
              </a:rPr>
              <a:t>Infrastructure</a:t>
            </a:r>
            <a:endParaRPr lang="zh-CN" altLang="en-US">
              <a:sym typeface="+mn-ea"/>
            </a:endParaRPr>
          </a:p>
        </p:txBody>
      </p:sp>
      <p:sp>
        <p:nvSpPr>
          <p:cNvPr id="254" name="矩形 253"/>
          <p:cNvSpPr/>
          <p:nvPr/>
        </p:nvSpPr>
        <p:spPr>
          <a:xfrm>
            <a:off x="9323070" y="1417955"/>
            <a:ext cx="8726170" cy="2690495"/>
          </a:xfrm>
          <a:prstGeom prst="rect">
            <a:avLst/>
          </a:prstGeom>
          <a:noFill/>
          <a:ln w="28575" cmpd="dbl">
            <a:solidFill>
              <a:schemeClr val="tx1"/>
            </a:solidFill>
            <a:prstDash val="lgDash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61" name="矩形 260"/>
          <p:cNvSpPr/>
          <p:nvPr/>
        </p:nvSpPr>
        <p:spPr>
          <a:xfrm>
            <a:off x="9323070" y="4322445"/>
            <a:ext cx="8726805" cy="2631440"/>
          </a:xfrm>
          <a:prstGeom prst="rect">
            <a:avLst/>
          </a:prstGeom>
          <a:noFill/>
          <a:ln w="28575" cmpd="dbl">
            <a:solidFill>
              <a:schemeClr val="tx1"/>
            </a:solidFill>
            <a:prstDash val="lgDash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62" name="矩形 261"/>
          <p:cNvSpPr/>
          <p:nvPr/>
        </p:nvSpPr>
        <p:spPr>
          <a:xfrm>
            <a:off x="9398635" y="2096135"/>
            <a:ext cx="2728595" cy="181102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1600">
              <a:sym typeface="+mn-ea"/>
            </a:endParaRPr>
          </a:p>
        </p:txBody>
      </p:sp>
      <p:sp>
        <p:nvSpPr>
          <p:cNvPr id="263" name="圆角矩形 262"/>
          <p:cNvSpPr/>
          <p:nvPr/>
        </p:nvSpPr>
        <p:spPr>
          <a:xfrm>
            <a:off x="9476740" y="2554605"/>
            <a:ext cx="2520000" cy="540000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t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264" name="矩形 263"/>
          <p:cNvSpPr/>
          <p:nvPr/>
        </p:nvSpPr>
        <p:spPr>
          <a:xfrm>
            <a:off x="12355195" y="2095500"/>
            <a:ext cx="2728595" cy="181229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1600">
              <a:sym typeface="+mn-ea"/>
            </a:endParaRPr>
          </a:p>
        </p:txBody>
      </p:sp>
      <p:sp>
        <p:nvSpPr>
          <p:cNvPr id="265" name="圆角矩形 264"/>
          <p:cNvSpPr/>
          <p:nvPr/>
        </p:nvSpPr>
        <p:spPr>
          <a:xfrm>
            <a:off x="9476740" y="3237230"/>
            <a:ext cx="2520000" cy="540000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t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266" name="文本框 265"/>
          <p:cNvSpPr txBox="1"/>
          <p:nvPr/>
        </p:nvSpPr>
        <p:spPr>
          <a:xfrm>
            <a:off x="9476740" y="3289300"/>
            <a:ext cx="2519680" cy="443865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ym typeface="+mn-ea"/>
              </a:rPr>
              <a:t>Sensor Specification</a:t>
            </a:r>
            <a:endParaRPr lang="en-US" altLang="zh-CN">
              <a:sym typeface="+mn-ea"/>
            </a:endParaRPr>
          </a:p>
        </p:txBody>
      </p:sp>
      <p:sp>
        <p:nvSpPr>
          <p:cNvPr id="267" name="文本框 266"/>
          <p:cNvSpPr txBox="1"/>
          <p:nvPr/>
        </p:nvSpPr>
        <p:spPr>
          <a:xfrm>
            <a:off x="9476740" y="2621915"/>
            <a:ext cx="2522855" cy="460375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p>
            <a:pPr algn="ctr"/>
            <a:r>
              <a:rPr lang="en-US" altLang="zh-CN">
                <a:sym typeface="+mn-ea"/>
              </a:rPr>
              <a:t>Beam Generation</a:t>
            </a:r>
            <a:endParaRPr lang="en-US" altLang="zh-CN">
              <a:sym typeface="+mn-ea"/>
            </a:endParaRPr>
          </a:p>
        </p:txBody>
      </p:sp>
      <p:sp>
        <p:nvSpPr>
          <p:cNvPr id="268" name="文本框 267"/>
          <p:cNvSpPr txBox="1"/>
          <p:nvPr/>
        </p:nvSpPr>
        <p:spPr>
          <a:xfrm>
            <a:off x="9398000" y="2119630"/>
            <a:ext cx="2729230" cy="2305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>
                <a:sym typeface="+mn-ea"/>
              </a:rPr>
              <a:t>Virtual LiDAR Setup</a:t>
            </a:r>
            <a:endParaRPr lang="en-US" altLang="zh-CN" b="1">
              <a:sym typeface="+mn-ea"/>
            </a:endParaRPr>
          </a:p>
        </p:txBody>
      </p:sp>
      <p:sp>
        <p:nvSpPr>
          <p:cNvPr id="269" name="文本框 268"/>
          <p:cNvSpPr txBox="1"/>
          <p:nvPr/>
        </p:nvSpPr>
        <p:spPr>
          <a:xfrm>
            <a:off x="12355195" y="2094865"/>
            <a:ext cx="2727325" cy="4438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>
                <a:sym typeface="+mn-ea"/>
              </a:rPr>
              <a:t>Beam Propagatio</a:t>
            </a:r>
            <a:r>
              <a:rPr lang="zh-CN" altLang="en-US" b="1">
                <a:sym typeface="+mn-ea"/>
              </a:rPr>
              <a:t>n</a:t>
            </a:r>
            <a:endParaRPr lang="en-US" altLang="zh-CN" b="1">
              <a:sym typeface="+mn-ea"/>
            </a:endParaRPr>
          </a:p>
        </p:txBody>
      </p:sp>
      <p:sp>
        <p:nvSpPr>
          <p:cNvPr id="270" name="圆角矩形 269"/>
          <p:cNvSpPr/>
          <p:nvPr/>
        </p:nvSpPr>
        <p:spPr>
          <a:xfrm>
            <a:off x="12486005" y="2554605"/>
            <a:ext cx="2520000" cy="540000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t" anchorCtr="0" forceAA="0" compatLnSpc="1">
            <a:noAutofit/>
          </a:bodyPr>
          <a:p>
            <a:pPr lvl="0" algn="ctr">
              <a:lnSpc>
                <a:spcPct val="120000"/>
              </a:lnSpc>
              <a:buClrTx/>
              <a:buSzTx/>
              <a:buFontTx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Range Computation</a:t>
            </a: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sp>
        <p:nvSpPr>
          <p:cNvPr id="271" name="圆角矩形 270"/>
          <p:cNvSpPr/>
          <p:nvPr/>
        </p:nvSpPr>
        <p:spPr>
          <a:xfrm>
            <a:off x="12486005" y="3237230"/>
            <a:ext cx="2520000" cy="540000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t" anchorCtr="0" forceAA="0" compatLnSpc="1">
            <a:noAutofit/>
          </a:bodyPr>
          <a:p>
            <a:pPr lvl="0" algn="ctr">
              <a:lnSpc>
                <a:spcPct val="120000"/>
              </a:lnSpc>
              <a:buClrTx/>
              <a:buSzTx/>
              <a:buFontTx/>
            </a:pPr>
            <a:r>
              <a:rPr lang="zh-CN" altLang="en-US">
                <a:sym typeface="+mn-ea"/>
              </a:rPr>
              <a:t>Reflectivity Modeling</a:t>
            </a: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272" name="直接箭头连接符 271"/>
          <p:cNvCxnSpPr/>
          <p:nvPr/>
        </p:nvCxnSpPr>
        <p:spPr>
          <a:xfrm>
            <a:off x="12075795" y="3030220"/>
            <a:ext cx="332105" cy="0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73" name="矩形 272"/>
          <p:cNvSpPr/>
          <p:nvPr/>
        </p:nvSpPr>
        <p:spPr>
          <a:xfrm>
            <a:off x="15210790" y="2096135"/>
            <a:ext cx="2728595" cy="181229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1600">
              <a:sym typeface="+mn-ea"/>
            </a:endParaRPr>
          </a:p>
        </p:txBody>
      </p:sp>
      <p:sp>
        <p:nvSpPr>
          <p:cNvPr id="274" name="文本框 273"/>
          <p:cNvSpPr txBox="1"/>
          <p:nvPr/>
        </p:nvSpPr>
        <p:spPr>
          <a:xfrm>
            <a:off x="15212060" y="2101850"/>
            <a:ext cx="2727325" cy="4438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b="1">
                <a:sym typeface="+mn-ea"/>
              </a:rPr>
              <a:t>Entity Integration</a:t>
            </a:r>
            <a:endParaRPr lang="en-US" altLang="zh-CN" b="1">
              <a:sym typeface="+mn-ea"/>
            </a:endParaRPr>
          </a:p>
        </p:txBody>
      </p:sp>
      <p:sp>
        <p:nvSpPr>
          <p:cNvPr id="275" name="文本框 274"/>
          <p:cNvSpPr txBox="1"/>
          <p:nvPr/>
        </p:nvSpPr>
        <p:spPr>
          <a:xfrm>
            <a:off x="15370810" y="2554605"/>
            <a:ext cx="2255520" cy="3943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endParaRPr lang="zh-CN" altLang="en-US"/>
          </a:p>
        </p:txBody>
      </p:sp>
      <p:sp>
        <p:nvSpPr>
          <p:cNvPr id="276" name="圆角矩形 275"/>
          <p:cNvSpPr/>
          <p:nvPr/>
        </p:nvSpPr>
        <p:spPr>
          <a:xfrm>
            <a:off x="15342870" y="2554605"/>
            <a:ext cx="2520000" cy="540000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t" anchorCtr="0" forceAA="0" compatLnSpc="1">
            <a:noAutofit/>
          </a:bodyPr>
          <a:p>
            <a:pPr lvl="0" algn="ctr">
              <a:lnSpc>
                <a:spcPct val="120000"/>
              </a:lnSpc>
              <a:buClrTx/>
              <a:buSzTx/>
              <a:buFontTx/>
            </a:pPr>
            <a:r>
              <a:rPr lang="zh-CN" altLang="en-US">
                <a:sym typeface="+mn-ea"/>
              </a:rPr>
              <a:t>Occlusion Handling</a:t>
            </a: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sp>
        <p:nvSpPr>
          <p:cNvPr id="277" name="圆角矩形 276"/>
          <p:cNvSpPr/>
          <p:nvPr/>
        </p:nvSpPr>
        <p:spPr>
          <a:xfrm>
            <a:off x="15342870" y="3237230"/>
            <a:ext cx="2548255" cy="539750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t" anchorCtr="0" forceAA="0" compatLnSpc="1">
            <a:noAutofit/>
          </a:bodyPr>
          <a:p>
            <a:pPr lvl="0" algn="ctr">
              <a:lnSpc>
                <a:spcPct val="120000"/>
              </a:lnSpc>
              <a:buClrTx/>
              <a:buSzTx/>
              <a:buFontTx/>
            </a:pPr>
            <a:endParaRPr lang="en-US" altLang="zh-CN">
              <a:sym typeface="+mn-ea"/>
            </a:endParaRPr>
          </a:p>
        </p:txBody>
      </p:sp>
      <p:sp>
        <p:nvSpPr>
          <p:cNvPr id="279" name="圆角矩形 278"/>
          <p:cNvSpPr/>
          <p:nvPr>
            <p:custDataLst>
              <p:tags r:id="rId3"/>
            </p:custDataLst>
          </p:nvPr>
        </p:nvSpPr>
        <p:spPr>
          <a:xfrm>
            <a:off x="11025505" y="4872355"/>
            <a:ext cx="5048885" cy="1824990"/>
          </a:xfrm>
          <a:prstGeom prst="roundRect">
            <a:avLst>
              <a:gd name="adj" fmla="val 5234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80" name="334E55B0-647D-440b-865C-3EC943EB4CBC-5" descr="/Users/gaoxinyu/Library/Containers/com.kingsoft.wpsoffice.mac/Data/tmp/wpsoffice.cEbuJowpsoffic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0615" y="5749290"/>
            <a:ext cx="2155190" cy="636905"/>
          </a:xfrm>
          <a:prstGeom prst="rect">
            <a:avLst/>
          </a:prstGeom>
        </p:spPr>
      </p:pic>
      <p:sp>
        <p:nvSpPr>
          <p:cNvPr id="281" name="文本框 280"/>
          <p:cNvSpPr txBox="1"/>
          <p:nvPr>
            <p:custDataLst>
              <p:tags r:id="rId5"/>
            </p:custDataLst>
          </p:nvPr>
        </p:nvSpPr>
        <p:spPr>
          <a:xfrm>
            <a:off x="11090275" y="4872355"/>
            <a:ext cx="4983480" cy="6623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>
                <a:sym typeface="+mn-ea"/>
              </a:rPr>
              <a:t>Diversity</a:t>
            </a:r>
            <a:r>
              <a:rPr lang="en-US" altLang="zh-CN" b="1"/>
              <a:t> Guidance</a:t>
            </a:r>
            <a:r>
              <a:rPr lang="en-US" altLang="zh-CN"/>
              <a:t> : </a:t>
            </a:r>
            <a:r>
              <a:rPr lang="zh-CN" altLang="en-US">
                <a:sym typeface="+mn-ea"/>
              </a:rPr>
              <a:t>Measuring the </a:t>
            </a:r>
            <a:r>
              <a:rPr lang="en-US" altLang="zh-CN">
                <a:sym typeface="+mn-ea"/>
              </a:rPr>
              <a:t>diversity </a:t>
            </a:r>
            <a:r>
              <a:rPr lang="zh-CN" altLang="en-US">
                <a:sym typeface="+mn-ea"/>
              </a:rPr>
              <a:t>of </a:t>
            </a:r>
            <a:r>
              <a:rPr lang="en-US" altLang="zh-CN">
                <a:sym typeface="+mn-ea"/>
              </a:rPr>
              <a:t>generate point cloud S</a:t>
            </a:r>
            <a:endParaRPr lang="en-US" altLang="zh-CN">
              <a:sym typeface="+mn-ea"/>
            </a:endParaRPr>
          </a:p>
        </p:txBody>
      </p:sp>
      <p:grpSp>
        <p:nvGrpSpPr>
          <p:cNvPr id="282" name="组合 281"/>
          <p:cNvGrpSpPr/>
          <p:nvPr/>
        </p:nvGrpSpPr>
        <p:grpSpPr>
          <a:xfrm>
            <a:off x="13491210" y="5500796"/>
            <a:ext cx="2372103" cy="975298"/>
            <a:chOff x="2806" y="-6735"/>
            <a:chExt cx="6271" cy="2677"/>
          </a:xfrm>
        </p:grpSpPr>
        <p:sp>
          <p:nvSpPr>
            <p:cNvPr id="283" name="椭圆 282"/>
            <p:cNvSpPr/>
            <p:nvPr/>
          </p:nvSpPr>
          <p:spPr>
            <a:xfrm>
              <a:off x="2806" y="-6735"/>
              <a:ext cx="6271" cy="2677"/>
            </a:xfrm>
            <a:prstGeom prst="ellipse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pic>
          <p:nvPicPr>
            <p:cNvPr id="284" name="图片 283" descr="交通标志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400" y="-6233"/>
              <a:ext cx="1154" cy="1154"/>
            </a:xfrm>
            <a:prstGeom prst="rect">
              <a:avLst/>
            </a:prstGeom>
          </p:spPr>
        </p:pic>
        <p:pic>
          <p:nvPicPr>
            <p:cNvPr id="285" name="图片 284" descr="步行"/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965" y="-5830"/>
              <a:ext cx="853" cy="853"/>
            </a:xfrm>
            <a:prstGeom prst="rect">
              <a:avLst/>
            </a:prstGeom>
          </p:spPr>
        </p:pic>
        <p:pic>
          <p:nvPicPr>
            <p:cNvPr id="286" name="图片 285" descr="_汽车票"/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6415" y="-6449"/>
              <a:ext cx="918" cy="918"/>
            </a:xfrm>
            <a:prstGeom prst="rect">
              <a:avLst/>
            </a:prstGeom>
          </p:spPr>
        </p:pic>
        <p:pic>
          <p:nvPicPr>
            <p:cNvPr id="287" name="图片 286" descr="步行"/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578" y="-5364"/>
              <a:ext cx="725" cy="725"/>
            </a:xfrm>
            <a:prstGeom prst="rect">
              <a:avLst/>
            </a:prstGeom>
          </p:spPr>
        </p:pic>
        <p:pic>
          <p:nvPicPr>
            <p:cNvPr id="288" name="图片 287" descr="_汽车票"/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7333" y="-6158"/>
              <a:ext cx="918" cy="918"/>
            </a:xfrm>
            <a:prstGeom prst="rect">
              <a:avLst/>
            </a:prstGeom>
          </p:spPr>
        </p:pic>
        <p:pic>
          <p:nvPicPr>
            <p:cNvPr id="289" name="图片 288" descr="_汽车票"/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6415" y="-5531"/>
              <a:ext cx="918" cy="918"/>
            </a:xfrm>
            <a:prstGeom prst="rect">
              <a:avLst/>
            </a:prstGeom>
          </p:spPr>
        </p:pic>
        <p:pic>
          <p:nvPicPr>
            <p:cNvPr id="290" name="图片 289" descr="交通标志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063" y="-5577"/>
              <a:ext cx="1154" cy="1154"/>
            </a:xfrm>
            <a:prstGeom prst="rect">
              <a:avLst/>
            </a:prstGeom>
          </p:spPr>
        </p:pic>
        <p:pic>
          <p:nvPicPr>
            <p:cNvPr id="291" name="图片 290" descr="自行车-母婴"/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4978" y="-6688"/>
              <a:ext cx="1105" cy="1110"/>
            </a:xfrm>
            <a:prstGeom prst="rect">
              <a:avLst/>
            </a:prstGeom>
          </p:spPr>
        </p:pic>
      </p:grpSp>
      <p:sp>
        <p:nvSpPr>
          <p:cNvPr id="293" name="文本框 292"/>
          <p:cNvSpPr txBox="1"/>
          <p:nvPr/>
        </p:nvSpPr>
        <p:spPr>
          <a:xfrm>
            <a:off x="9323070" y="6162040"/>
            <a:ext cx="16605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/>
              <a:t>Transformed</a:t>
            </a:r>
            <a:endParaRPr lang="en-US" altLang="zh-CN" b="1"/>
          </a:p>
          <a:p>
            <a:pPr algn="ctr"/>
            <a:r>
              <a:rPr lang="en-US" altLang="zh-CN" b="1"/>
              <a:t>point cloud</a:t>
            </a:r>
            <a:endParaRPr lang="en-US" altLang="zh-CN" b="1"/>
          </a:p>
        </p:txBody>
      </p:sp>
      <p:cxnSp>
        <p:nvCxnSpPr>
          <p:cNvPr id="294" name="直接箭头连接符 293"/>
          <p:cNvCxnSpPr>
            <a:stCxn id="292" idx="3"/>
          </p:cNvCxnSpPr>
          <p:nvPr/>
        </p:nvCxnSpPr>
        <p:spPr>
          <a:xfrm>
            <a:off x="10579100" y="5662930"/>
            <a:ext cx="45783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95" name="菱形 294"/>
          <p:cNvSpPr/>
          <p:nvPr/>
        </p:nvSpPr>
        <p:spPr>
          <a:xfrm>
            <a:off x="16353155" y="5041900"/>
            <a:ext cx="1569085" cy="581025"/>
          </a:xfrm>
          <a:prstGeom prst="diamond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000">
              <a:solidFill>
                <a:schemeClr val="tx1"/>
              </a:solidFill>
            </a:endParaRPr>
          </a:p>
        </p:txBody>
      </p:sp>
      <p:sp>
        <p:nvSpPr>
          <p:cNvPr id="296" name="流程图: 过程 295"/>
          <p:cNvSpPr/>
          <p:nvPr>
            <p:custDataLst>
              <p:tags r:id="rId14"/>
            </p:custDataLst>
          </p:nvPr>
        </p:nvSpPr>
        <p:spPr>
          <a:xfrm>
            <a:off x="16539210" y="6288405"/>
            <a:ext cx="1217295" cy="423545"/>
          </a:xfrm>
          <a:prstGeom prst="flowChartProcess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>
                <a:solidFill>
                  <a:schemeClr val="tx1"/>
                </a:solidFill>
              </a:rPr>
              <a:t>Discarded</a:t>
            </a:r>
            <a:endParaRPr lang="en-US" altLang="zh-CN" sz="1600">
              <a:solidFill>
                <a:schemeClr val="tx1"/>
              </a:solidFill>
            </a:endParaRPr>
          </a:p>
        </p:txBody>
      </p:sp>
      <p:cxnSp>
        <p:nvCxnSpPr>
          <p:cNvPr id="297" name="直接箭头连接符 296"/>
          <p:cNvCxnSpPr>
            <a:stCxn id="295" idx="2"/>
            <a:endCxn id="296" idx="0"/>
          </p:cNvCxnSpPr>
          <p:nvPr/>
        </p:nvCxnSpPr>
        <p:spPr>
          <a:xfrm>
            <a:off x="17138015" y="5622925"/>
            <a:ext cx="10160" cy="66548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98" name="文本框 297"/>
          <p:cNvSpPr txBox="1"/>
          <p:nvPr/>
        </p:nvSpPr>
        <p:spPr>
          <a:xfrm>
            <a:off x="17296130" y="5755005"/>
            <a:ext cx="42037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000"/>
              <a:t>N</a:t>
            </a:r>
            <a:endParaRPr lang="en-US" altLang="zh-CN" sz="1000"/>
          </a:p>
        </p:txBody>
      </p:sp>
      <p:cxnSp>
        <p:nvCxnSpPr>
          <p:cNvPr id="301" name="直接箭头连接符 300"/>
          <p:cNvCxnSpPr>
            <a:endCxn id="295" idx="1"/>
          </p:cNvCxnSpPr>
          <p:nvPr/>
        </p:nvCxnSpPr>
        <p:spPr>
          <a:xfrm>
            <a:off x="16066135" y="5332730"/>
            <a:ext cx="28702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02" name="文本框 301"/>
          <p:cNvSpPr txBox="1"/>
          <p:nvPr/>
        </p:nvSpPr>
        <p:spPr>
          <a:xfrm>
            <a:off x="9614535" y="7217410"/>
            <a:ext cx="3876675" cy="5410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600"/>
              <a:t>Add seeds back to the queue</a:t>
            </a:r>
            <a:endParaRPr lang="en-US" altLang="zh-CN" sz="1600"/>
          </a:p>
        </p:txBody>
      </p:sp>
      <p:sp>
        <p:nvSpPr>
          <p:cNvPr id="303" name="文本框 302"/>
          <p:cNvSpPr txBox="1"/>
          <p:nvPr/>
        </p:nvSpPr>
        <p:spPr>
          <a:xfrm>
            <a:off x="18311495" y="2467610"/>
            <a:ext cx="17170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/>
              <a:t>Test dataset</a:t>
            </a:r>
            <a:endParaRPr lang="en-US" altLang="zh-CN" b="1"/>
          </a:p>
        </p:txBody>
      </p:sp>
      <p:grpSp>
        <p:nvGrpSpPr>
          <p:cNvPr id="304" name="组合 303"/>
          <p:cNvGrpSpPr/>
          <p:nvPr/>
        </p:nvGrpSpPr>
        <p:grpSpPr>
          <a:xfrm>
            <a:off x="18728055" y="1548765"/>
            <a:ext cx="902335" cy="862965"/>
            <a:chOff x="2244" y="177"/>
            <a:chExt cx="960" cy="960"/>
          </a:xfrm>
        </p:grpSpPr>
        <p:pic>
          <p:nvPicPr>
            <p:cNvPr id="305" name="图片 304" descr="24gl-fileEmpty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2244" y="177"/>
              <a:ext cx="960" cy="960"/>
            </a:xfrm>
            <a:prstGeom prst="rect">
              <a:avLst/>
            </a:prstGeom>
          </p:spPr>
        </p:pic>
        <p:pic>
          <p:nvPicPr>
            <p:cNvPr id="306" name="图片 305" descr="点云数据"/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2412" y="506"/>
              <a:ext cx="671" cy="483"/>
            </a:xfrm>
            <a:prstGeom prst="rect">
              <a:avLst/>
            </a:prstGeom>
          </p:spPr>
        </p:pic>
      </p:grpSp>
      <p:cxnSp>
        <p:nvCxnSpPr>
          <p:cNvPr id="307" name="直接箭头连接符 306"/>
          <p:cNvCxnSpPr/>
          <p:nvPr/>
        </p:nvCxnSpPr>
        <p:spPr>
          <a:xfrm>
            <a:off x="18092420" y="1864360"/>
            <a:ext cx="61468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09" name="图片 308" descr="激光雷达"/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8713450" y="3533775"/>
            <a:ext cx="866140" cy="866140"/>
          </a:xfrm>
          <a:prstGeom prst="rect">
            <a:avLst/>
          </a:prstGeom>
        </p:spPr>
      </p:pic>
      <p:sp>
        <p:nvSpPr>
          <p:cNvPr id="310" name="文本框 309"/>
          <p:cNvSpPr txBox="1"/>
          <p:nvPr/>
        </p:nvSpPr>
        <p:spPr>
          <a:xfrm>
            <a:off x="18092420" y="4399915"/>
            <a:ext cx="2265680" cy="5810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 b="1">
                <a:sym typeface="+mn-ea"/>
              </a:rPr>
              <a:t>LiDAR-based </a:t>
            </a:r>
            <a:endParaRPr lang="en-US" altLang="zh-CN" b="1">
              <a:sym typeface="+mn-ea"/>
            </a:endParaRPr>
          </a:p>
          <a:p>
            <a:pPr algn="ctr"/>
            <a:r>
              <a:rPr lang="en-US" altLang="zh-CN" b="1">
                <a:sym typeface="+mn-ea"/>
              </a:rPr>
              <a:t>perception system</a:t>
            </a:r>
            <a:endParaRPr lang="en-US" altLang="zh-CN" b="1">
              <a:sym typeface="+mn-ea"/>
            </a:endParaRPr>
          </a:p>
        </p:txBody>
      </p:sp>
      <p:pic>
        <p:nvPicPr>
          <p:cNvPr id="312" name="图片 311" descr="测试报告"/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8778855" y="5624830"/>
            <a:ext cx="828040" cy="828040"/>
          </a:xfrm>
          <a:prstGeom prst="rect">
            <a:avLst/>
          </a:prstGeom>
        </p:spPr>
      </p:pic>
      <p:sp>
        <p:nvSpPr>
          <p:cNvPr id="313" name="文本框 312"/>
          <p:cNvSpPr txBox="1"/>
          <p:nvPr/>
        </p:nvSpPr>
        <p:spPr>
          <a:xfrm>
            <a:off x="18151475" y="6524625"/>
            <a:ext cx="2155825" cy="6927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 b="1">
                <a:sym typeface="+mn-ea"/>
              </a:rPr>
              <a:t>Test  Report</a:t>
            </a:r>
            <a:endParaRPr lang="en-US" altLang="zh-CN" b="1">
              <a:sym typeface="+mn-ea"/>
            </a:endParaRPr>
          </a:p>
        </p:txBody>
      </p:sp>
      <p:sp>
        <p:nvSpPr>
          <p:cNvPr id="314" name="文本框 313"/>
          <p:cNvSpPr txBox="1"/>
          <p:nvPr/>
        </p:nvSpPr>
        <p:spPr>
          <a:xfrm>
            <a:off x="2338705" y="2129155"/>
            <a:ext cx="4396105" cy="4337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400" b="1">
                <a:sym typeface="+mn-ea"/>
              </a:rPr>
              <a:t>Pose Generation</a:t>
            </a:r>
            <a:endParaRPr lang="en-US" altLang="zh-CN" sz="2000" b="1">
              <a:sym typeface="+mn-ea"/>
            </a:endParaRPr>
          </a:p>
        </p:txBody>
      </p:sp>
      <p:grpSp>
        <p:nvGrpSpPr>
          <p:cNvPr id="315" name="组合 314"/>
          <p:cNvGrpSpPr/>
          <p:nvPr/>
        </p:nvGrpSpPr>
        <p:grpSpPr>
          <a:xfrm>
            <a:off x="422910" y="1436370"/>
            <a:ext cx="935990" cy="975360"/>
            <a:chOff x="873" y="721"/>
            <a:chExt cx="1360" cy="1360"/>
          </a:xfrm>
        </p:grpSpPr>
        <p:pic>
          <p:nvPicPr>
            <p:cNvPr id="316" name="图片 315" descr="点云数据"/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1208" y="1220"/>
              <a:ext cx="692" cy="488"/>
            </a:xfrm>
            <a:prstGeom prst="rect">
              <a:avLst/>
            </a:prstGeom>
          </p:spPr>
        </p:pic>
        <p:pic>
          <p:nvPicPr>
            <p:cNvPr id="317" name="图片 316" descr="数据集"/>
            <p:cNvPicPr>
              <a:picLocks noChangeAspect="1"/>
            </p:cNvPicPr>
            <p:nvPr/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873" y="721"/>
              <a:ext cx="1360" cy="1360"/>
            </a:xfrm>
            <a:prstGeom prst="rect">
              <a:avLst/>
            </a:prstGeom>
          </p:spPr>
        </p:pic>
      </p:grpSp>
      <p:grpSp>
        <p:nvGrpSpPr>
          <p:cNvPr id="318" name="组合 317"/>
          <p:cNvGrpSpPr/>
          <p:nvPr/>
        </p:nvGrpSpPr>
        <p:grpSpPr>
          <a:xfrm>
            <a:off x="490855" y="3387090"/>
            <a:ext cx="838835" cy="862330"/>
            <a:chOff x="873" y="3352"/>
            <a:chExt cx="1260" cy="1234"/>
          </a:xfrm>
        </p:grpSpPr>
        <p:pic>
          <p:nvPicPr>
            <p:cNvPr id="319" name="图片 318" descr="24gl-fileEmpty"/>
            <p:cNvPicPr>
              <a:picLocks noChangeAspect="1"/>
            </p:cNvPicPr>
            <p:nvPr>
              <p:custDataLst>
                <p:tags r:id="rId26"/>
              </p:custDataLst>
            </p:nvPr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873" y="3352"/>
              <a:ext cx="1261" cy="1235"/>
            </a:xfrm>
            <a:prstGeom prst="rect">
              <a:avLst/>
            </a:prstGeom>
          </p:spPr>
        </p:pic>
        <p:pic>
          <p:nvPicPr>
            <p:cNvPr id="320" name="图片 319" descr="点云数据"/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1168" y="3783"/>
              <a:ext cx="692" cy="488"/>
            </a:xfrm>
            <a:prstGeom prst="rect">
              <a:avLst/>
            </a:prstGeom>
          </p:spPr>
        </p:pic>
      </p:grpSp>
      <p:sp>
        <p:nvSpPr>
          <p:cNvPr id="321" name="文本框 320"/>
          <p:cNvSpPr txBox="1"/>
          <p:nvPr/>
        </p:nvSpPr>
        <p:spPr>
          <a:xfrm>
            <a:off x="2338705" y="1469390"/>
            <a:ext cx="64325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800" b="1">
                <a:sym typeface="+mn-ea"/>
              </a:rPr>
              <a:t>Semantic Entity Insertion Operator</a:t>
            </a:r>
            <a:endParaRPr lang="en-US" altLang="zh-CN" sz="2800" b="1">
              <a:sym typeface="+mn-ea"/>
            </a:endParaRPr>
          </a:p>
        </p:txBody>
      </p:sp>
      <p:sp>
        <p:nvSpPr>
          <p:cNvPr id="322" name="矩形 321"/>
          <p:cNvSpPr/>
          <p:nvPr/>
        </p:nvSpPr>
        <p:spPr>
          <a:xfrm>
            <a:off x="1993900" y="1437005"/>
            <a:ext cx="7072630" cy="5555615"/>
          </a:xfrm>
          <a:prstGeom prst="rect">
            <a:avLst/>
          </a:prstGeom>
          <a:noFill/>
          <a:ln w="28575" cmpd="dbl">
            <a:solidFill>
              <a:schemeClr val="tx1"/>
            </a:solidFill>
            <a:prstDash val="lgDash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4" name="文本框 323"/>
          <p:cNvSpPr txBox="1"/>
          <p:nvPr/>
        </p:nvSpPr>
        <p:spPr>
          <a:xfrm>
            <a:off x="2283460" y="4340860"/>
            <a:ext cx="4451350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400" b="1">
                <a:sym typeface="+mn-ea"/>
              </a:rPr>
              <a:t>Entity </a:t>
            </a:r>
            <a:r>
              <a:rPr lang="en-US" altLang="zh-CN" sz="2400" b="1">
                <a:sym typeface="+mn-ea"/>
              </a:rPr>
              <a:t>Database</a:t>
            </a:r>
            <a:endParaRPr lang="en-US" altLang="zh-CN" sz="2400" b="1">
              <a:sym typeface="+mn-ea"/>
            </a:endParaRPr>
          </a:p>
        </p:txBody>
      </p:sp>
      <p:grpSp>
        <p:nvGrpSpPr>
          <p:cNvPr id="328" name="组合 327"/>
          <p:cNvGrpSpPr/>
          <p:nvPr/>
        </p:nvGrpSpPr>
        <p:grpSpPr>
          <a:xfrm>
            <a:off x="6831965" y="2738755"/>
            <a:ext cx="2234565" cy="1303020"/>
            <a:chOff x="10806" y="4579"/>
            <a:chExt cx="3394" cy="1723"/>
          </a:xfrm>
        </p:grpSpPr>
        <p:sp>
          <p:nvSpPr>
            <p:cNvPr id="256" name="文本框 255"/>
            <p:cNvSpPr txBox="1"/>
            <p:nvPr/>
          </p:nvSpPr>
          <p:spPr>
            <a:xfrm>
              <a:off x="10806" y="5623"/>
              <a:ext cx="3394" cy="67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n-US" altLang="zh-CN" b="1"/>
                <a:t>Physically</a:t>
              </a:r>
              <a:endParaRPr lang="en-US" altLang="zh-CN" b="1"/>
            </a:p>
            <a:p>
              <a:pPr algn="ctr"/>
              <a:r>
                <a:rPr lang="en-US" altLang="zh-CN" b="1"/>
                <a:t> and Semantic Plausible </a:t>
              </a:r>
              <a:r>
                <a:rPr lang="en-US" altLang="zh-CN" b="1"/>
                <a:t>Pose</a:t>
              </a:r>
              <a:endParaRPr lang="en-US" altLang="zh-CN" b="1"/>
            </a:p>
          </p:txBody>
        </p:sp>
        <p:pic>
          <p:nvPicPr>
            <p:cNvPr id="458" name="图片 457" descr="平面直角坐标系"/>
            <p:cNvPicPr>
              <a:picLocks noChangeAspect="1"/>
            </p:cNvPicPr>
            <p:nvPr/>
          </p:nvPicPr>
          <p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11468" y="4579"/>
              <a:ext cx="968" cy="983"/>
            </a:xfrm>
            <a:prstGeom prst="rect">
              <a:avLst/>
            </a:prstGeom>
          </p:spPr>
        </p:pic>
        <p:grpSp>
          <p:nvGrpSpPr>
            <p:cNvPr id="459" name="组合 458"/>
            <p:cNvGrpSpPr/>
            <p:nvPr/>
          </p:nvGrpSpPr>
          <p:grpSpPr>
            <a:xfrm rot="18960000">
              <a:off x="11911" y="4720"/>
              <a:ext cx="117" cy="524"/>
              <a:chOff x="14084" y="7910"/>
              <a:chExt cx="660" cy="2210"/>
            </a:xfrm>
            <a:solidFill>
              <a:schemeClr val="accent1">
                <a:lumMod val="75000"/>
              </a:schemeClr>
            </a:solidFill>
          </p:grpSpPr>
          <p:grpSp>
            <p:nvGrpSpPr>
              <p:cNvPr id="460" name="组合 459"/>
              <p:cNvGrpSpPr/>
              <p:nvPr/>
            </p:nvGrpSpPr>
            <p:grpSpPr>
              <a:xfrm>
                <a:off x="14084" y="7910"/>
                <a:ext cx="660" cy="2211"/>
                <a:chOff x="14084" y="7910"/>
                <a:chExt cx="660" cy="2211"/>
              </a:xfrm>
              <a:grpFill/>
            </p:grpSpPr>
            <p:sp>
              <p:nvSpPr>
                <p:cNvPr id="461" name="矩形 460"/>
                <p:cNvSpPr/>
                <p:nvPr/>
              </p:nvSpPr>
              <p:spPr>
                <a:xfrm>
                  <a:off x="14084" y="8711"/>
                  <a:ext cx="660" cy="1411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cxnSp>
              <p:nvCxnSpPr>
                <p:cNvPr id="462" name="直接箭头连接符 461"/>
                <p:cNvCxnSpPr>
                  <a:stCxn id="461" idx="0"/>
                </p:cNvCxnSpPr>
                <p:nvPr/>
              </p:nvCxnSpPr>
              <p:spPr>
                <a:xfrm flipH="1" flipV="1">
                  <a:off x="14403" y="7910"/>
                  <a:ext cx="0" cy="801"/>
                </a:xfrm>
                <a:prstGeom prst="straightConnector1">
                  <a:avLst/>
                </a:prstGeom>
                <a:grpFill/>
                <a:ln w="6350">
                  <a:solidFill>
                    <a:schemeClr val="tx1"/>
                  </a:solidFill>
                  <a:tailEnd type="arrow" w="sm" len="med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63" name="椭圆 462"/>
              <p:cNvSpPr/>
              <p:nvPr/>
            </p:nvSpPr>
            <p:spPr>
              <a:xfrm>
                <a:off x="14355" y="9341"/>
                <a:ext cx="119" cy="119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464" name="组合 463"/>
            <p:cNvGrpSpPr/>
            <p:nvPr/>
          </p:nvGrpSpPr>
          <p:grpSpPr>
            <a:xfrm>
              <a:off x="11549" y="5315"/>
              <a:ext cx="193" cy="192"/>
              <a:chOff x="7747" y="9660"/>
              <a:chExt cx="176" cy="192"/>
            </a:xfrm>
          </p:grpSpPr>
          <p:sp>
            <p:nvSpPr>
              <p:cNvPr id="465" name="椭圆 464"/>
              <p:cNvSpPr/>
              <p:nvPr/>
            </p:nvSpPr>
            <p:spPr>
              <a:xfrm>
                <a:off x="7747" y="9660"/>
                <a:ext cx="176" cy="192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66" name="椭圆 465"/>
              <p:cNvSpPr/>
              <p:nvPr>
                <p:custDataLst>
                  <p:tags r:id="rId29"/>
                </p:custDataLst>
              </p:nvPr>
            </p:nvSpPr>
            <p:spPr>
              <a:xfrm>
                <a:off x="7812" y="9724"/>
                <a:ext cx="57" cy="57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68" name="文本框 467"/>
                <p:cNvSpPr txBox="1"/>
                <p:nvPr/>
              </p:nvSpPr>
              <p:spPr>
                <a:xfrm>
                  <a:off x="12002" y="4680"/>
                  <a:ext cx="1385" cy="453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altLang="zh-CN" sz="1400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x</m:t>
                        </m:r>
                        <m:r>
                          <a:rPr lang="en-US" altLang="zh-CN" sz="1400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CN" sz="1400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y</m:t>
                        </m:r>
                        <m:r>
                          <a:rPr lang="en-US" altLang="zh-CN" sz="1400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CN" sz="1400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z</m:t>
                        </m:r>
                        <m:r>
                          <a:rPr lang="en-US" altLang="zh-CN" sz="1400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1400" i="1">
                                <a:latin typeface="Cambria Math" panose="02040503050406030204" charset="0"/>
                                <a:cs typeface="Cambria Math" panose="02040503050406030204" charset="0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lang="en-US" altLang="zh-CN" sz="1400" i="1">
                                <a:latin typeface="Cambria Math" panose="02040503050406030204" charset="0"/>
                                <a:cs typeface="Cambria Math" panose="02040503050406030204" charset="0"/>
                                <a:sym typeface="+mn-ea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sz="1400" i="1">
                                <a:latin typeface="Cambria Math" panose="02040503050406030204" charset="0"/>
                                <a:cs typeface="Cambria Math" panose="02040503050406030204" charset="0"/>
                                <a:sym typeface="+mn-ea"/>
                              </a:rPr>
                              <m:t>𝑧</m:t>
                            </m:r>
                          </m:sub>
                        </m:sSub>
                        <m:r>
                          <a:rPr lang="en-US" altLang="zh-CN" sz="1400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)</m:t>
                        </m:r>
                      </m:oMath>
                    </m:oMathPara>
                  </a14:m>
                  <a:endParaRPr lang="en-US" altLang="zh-CN" sz="1400">
                    <a:latin typeface="Cambria Math" panose="02040503050406030204" charset="0"/>
                    <a:cs typeface="Cambria Math" panose="02040503050406030204" charset="0"/>
                    <a:sym typeface="+mn-ea"/>
                  </a:endParaRPr>
                </a:p>
              </p:txBody>
            </p:sp>
          </mc:Choice>
          <mc:Fallback>
            <p:sp>
              <p:nvSpPr>
                <p:cNvPr id="468" name="文本框 46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02" y="4680"/>
                  <a:ext cx="1385" cy="453"/>
                </a:xfrm>
                <a:prstGeom prst="rect">
                  <a:avLst/>
                </a:prstGeom>
                <a:blipFill rotWithShape="1">
                  <a:blip r:embed="rId30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" name="直接箭头连接符 1"/>
          <p:cNvCxnSpPr>
            <a:stCxn id="228" idx="3"/>
          </p:cNvCxnSpPr>
          <p:nvPr/>
        </p:nvCxnSpPr>
        <p:spPr>
          <a:xfrm>
            <a:off x="6612255" y="5581650"/>
            <a:ext cx="3810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439" name="图片 438"/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32"/>
          <a:stretch>
            <a:fillRect/>
          </a:stretch>
        </p:blipFill>
        <p:spPr>
          <a:xfrm>
            <a:off x="7363460" y="5220970"/>
            <a:ext cx="1217930" cy="69278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831965" y="5963920"/>
            <a:ext cx="2155190" cy="4311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/>
              <a:t>Entity </a:t>
            </a:r>
            <a:endParaRPr lang="en-US" altLang="zh-CN" b="1"/>
          </a:p>
          <a:p>
            <a:pPr algn="ctr"/>
            <a:r>
              <a:rPr lang="en-US" altLang="zh-CN" b="1"/>
              <a:t>instance</a:t>
            </a:r>
            <a:endParaRPr lang="en-US" altLang="zh-CN" b="1"/>
          </a:p>
        </p:txBody>
      </p:sp>
      <p:sp>
        <p:nvSpPr>
          <p:cNvPr id="6" name="文本框 5"/>
          <p:cNvSpPr txBox="1"/>
          <p:nvPr/>
        </p:nvSpPr>
        <p:spPr>
          <a:xfrm>
            <a:off x="9201150" y="1469390"/>
            <a:ext cx="8662035" cy="3956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buClrTx/>
              <a:buSzTx/>
              <a:buFontTx/>
            </a:pPr>
            <a:r>
              <a:rPr lang="en-US" altLang="zh-CN" sz="2800" b="1"/>
              <a:t>Semantic-Aware LiDAR Simulation</a:t>
            </a:r>
            <a:endParaRPr lang="en-US" altLang="zh-CN" sz="2800" b="1"/>
          </a:p>
        </p:txBody>
      </p:sp>
      <p:sp>
        <p:nvSpPr>
          <p:cNvPr id="7" name="文本框 6"/>
          <p:cNvSpPr txBox="1"/>
          <p:nvPr/>
        </p:nvSpPr>
        <p:spPr>
          <a:xfrm>
            <a:off x="9401175" y="4342765"/>
            <a:ext cx="8385810" cy="5403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 sz="2800" b="1">
                <a:sym typeface="+mn-ea"/>
              </a:rPr>
              <a:t>Semantic-Diversity Guided Testing</a:t>
            </a:r>
            <a:endParaRPr lang="en-US" altLang="zh-CN" sz="2800" b="1">
              <a:sym typeface="+mn-ea"/>
            </a:endParaRPr>
          </a:p>
        </p:txBody>
      </p:sp>
      <p:cxnSp>
        <p:nvCxnSpPr>
          <p:cNvPr id="9" name="直接箭头连接符 8"/>
          <p:cNvCxnSpPr/>
          <p:nvPr/>
        </p:nvCxnSpPr>
        <p:spPr>
          <a:xfrm>
            <a:off x="6612255" y="3256280"/>
            <a:ext cx="3810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4627880" y="6300470"/>
            <a:ext cx="1764030" cy="4318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>
                <a:sym typeface="+mn-ea"/>
              </a:rPr>
              <a:t>Others</a:t>
            </a:r>
            <a:endParaRPr lang="en-US" altLang="zh-CN">
              <a:sym typeface="+mn-ea"/>
            </a:endParaRPr>
          </a:p>
        </p:txBody>
      </p:sp>
      <p:cxnSp>
        <p:nvCxnSpPr>
          <p:cNvPr id="15" name="直接箭头连接符 14"/>
          <p:cNvCxnSpPr>
            <a:endCxn id="292" idx="0"/>
          </p:cNvCxnSpPr>
          <p:nvPr/>
        </p:nvCxnSpPr>
        <p:spPr>
          <a:xfrm flipH="1">
            <a:off x="10086340" y="3805555"/>
            <a:ext cx="3810" cy="136461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" name="圆角矩形 18"/>
          <p:cNvSpPr/>
          <p:nvPr/>
        </p:nvSpPr>
        <p:spPr>
          <a:xfrm>
            <a:off x="2494280" y="3418840"/>
            <a:ext cx="3877310" cy="494030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474595" y="3469640"/>
            <a:ext cx="3896360" cy="4311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>
                <a:sym typeface="+mn-ea"/>
              </a:rPr>
              <a:t>Semantic Constraints</a:t>
            </a:r>
            <a:endParaRPr lang="en-US" altLang="zh-CN" b="1"/>
          </a:p>
        </p:txBody>
      </p:sp>
      <p:sp>
        <p:nvSpPr>
          <p:cNvPr id="22" name="圆角矩形 21"/>
          <p:cNvSpPr/>
          <p:nvPr/>
        </p:nvSpPr>
        <p:spPr>
          <a:xfrm>
            <a:off x="2494915" y="2688590"/>
            <a:ext cx="3877310" cy="494030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2494915" y="2739390"/>
            <a:ext cx="3896995" cy="4940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>
                <a:sym typeface="+mn-ea"/>
              </a:rPr>
              <a:t>Spatial Constraints</a:t>
            </a:r>
            <a:endParaRPr lang="en-US" altLang="zh-CN" b="1"/>
          </a:p>
        </p:txBody>
      </p:sp>
      <p:cxnSp>
        <p:nvCxnSpPr>
          <p:cNvPr id="23" name="直接箭头连接符 22"/>
          <p:cNvCxnSpPr/>
          <p:nvPr/>
        </p:nvCxnSpPr>
        <p:spPr>
          <a:xfrm>
            <a:off x="19176365" y="2950845"/>
            <a:ext cx="0" cy="4680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15294610" y="3264535"/>
            <a:ext cx="2720975" cy="4235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ctr">
              <a:lnSpc>
                <a:spcPct val="120000"/>
              </a:lnSpc>
              <a:buClrTx/>
              <a:buSzTx/>
              <a:buFontTx/>
            </a:pPr>
            <a:r>
              <a:rPr lang="en-US" altLang="zh-CN">
                <a:sym typeface="+mn-ea"/>
              </a:rPr>
              <a:t>Point Cloud Generation</a:t>
            </a:r>
            <a:endParaRPr lang="en-US" altLang="zh-CN">
              <a:sym typeface="+mn-ea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9687560" y="5245100"/>
            <a:ext cx="866140" cy="866140"/>
            <a:chOff x="873" y="3352"/>
            <a:chExt cx="1260" cy="1234"/>
          </a:xfrm>
          <a:solidFill>
            <a:schemeClr val="accent1">
              <a:lumMod val="75000"/>
            </a:schemeClr>
          </a:solidFill>
        </p:grpSpPr>
        <p:pic>
          <p:nvPicPr>
            <p:cNvPr id="27" name="图片 26" descr="24gl-fileEmpty"/>
            <p:cNvPicPr>
              <a:picLocks noChangeAspect="1"/>
            </p:cNvPicPr>
            <p:nvPr>
              <p:custDataLst>
                <p:tags r:id="rId33"/>
              </p:custDataLst>
            </p:nvPr>
          </p:nvPicPr>
          <p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873" y="3352"/>
              <a:ext cx="1261" cy="1235"/>
            </a:xfrm>
            <a:prstGeom prst="rect">
              <a:avLst/>
            </a:prstGeom>
          </p:spPr>
        </p:pic>
        <p:pic>
          <p:nvPicPr>
            <p:cNvPr id="28" name="图片 27" descr="点云数据"/>
            <p:cNvPicPr>
              <a:picLocks noChangeAspect="1"/>
            </p:cNvPicPr>
            <p:nvPr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168" y="3783"/>
              <a:ext cx="692" cy="488"/>
            </a:xfrm>
            <a:prstGeom prst="rect">
              <a:avLst/>
            </a:prstGeom>
          </p:spPr>
        </p:pic>
      </p:grpSp>
      <p:sp>
        <p:nvSpPr>
          <p:cNvPr id="30" name="文本框 29"/>
          <p:cNvSpPr txBox="1"/>
          <p:nvPr>
            <p:custDataLst>
              <p:tags r:id="rId38"/>
            </p:custDataLst>
          </p:nvPr>
        </p:nvSpPr>
        <p:spPr>
          <a:xfrm>
            <a:off x="16563975" y="5155565"/>
            <a:ext cx="107632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sym typeface="+mn-ea"/>
              </a:rPr>
              <a:t>Increased?</a:t>
            </a:r>
            <a:endParaRPr lang="zh-CN" altLang="en-US" sz="1600"/>
          </a:p>
        </p:txBody>
      </p:sp>
      <p:cxnSp>
        <p:nvCxnSpPr>
          <p:cNvPr id="32" name="直接箭头连接符 31"/>
          <p:cNvCxnSpPr/>
          <p:nvPr/>
        </p:nvCxnSpPr>
        <p:spPr>
          <a:xfrm>
            <a:off x="19164300" y="5026025"/>
            <a:ext cx="0" cy="4680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矩形 227"/>
          <p:cNvSpPr/>
          <p:nvPr/>
        </p:nvSpPr>
        <p:spPr>
          <a:xfrm>
            <a:off x="2160905" y="4424680"/>
            <a:ext cx="6749415" cy="179197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1600">
              <a:sym typeface="+mn-ea"/>
            </a:endParaRPr>
          </a:p>
        </p:txBody>
      </p:sp>
      <p:sp>
        <p:nvSpPr>
          <p:cNvPr id="229" name="圆角矩形 228"/>
          <p:cNvSpPr/>
          <p:nvPr/>
        </p:nvSpPr>
        <p:spPr>
          <a:xfrm>
            <a:off x="2283460" y="6333490"/>
            <a:ext cx="6441440" cy="433705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 sz="1600">
              <a:solidFill>
                <a:schemeClr val="tx1">
                  <a:lumMod val="50000"/>
                  <a:lumOff val="50000"/>
                </a:schemeClr>
              </a:solidFill>
              <a:sym typeface="+mn-ea"/>
            </a:endParaRPr>
          </a:p>
        </p:txBody>
      </p:sp>
      <p:sp>
        <p:nvSpPr>
          <p:cNvPr id="230" name="文本框 229"/>
          <p:cNvSpPr txBox="1"/>
          <p:nvPr/>
        </p:nvSpPr>
        <p:spPr>
          <a:xfrm>
            <a:off x="32068" y="4222115"/>
            <a:ext cx="1764665" cy="3352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/>
              <a:t>Initial Seeds</a:t>
            </a:r>
            <a:endParaRPr lang="en-US" altLang="zh-CN" b="1"/>
          </a:p>
        </p:txBody>
      </p:sp>
      <p:sp>
        <p:nvSpPr>
          <p:cNvPr id="231" name="文本框 230"/>
          <p:cNvSpPr txBox="1"/>
          <p:nvPr/>
        </p:nvSpPr>
        <p:spPr>
          <a:xfrm>
            <a:off x="32703" y="2411730"/>
            <a:ext cx="17659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/>
              <a:t>Test data</a:t>
            </a:r>
            <a:endParaRPr lang="en-US" altLang="zh-CN" b="1"/>
          </a:p>
        </p:txBody>
      </p:sp>
      <p:sp>
        <p:nvSpPr>
          <p:cNvPr id="232" name="文本框 231"/>
          <p:cNvSpPr txBox="1"/>
          <p:nvPr/>
        </p:nvSpPr>
        <p:spPr>
          <a:xfrm>
            <a:off x="32385" y="6021705"/>
            <a:ext cx="17665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/>
              <a:t>Seed Queue</a:t>
            </a:r>
            <a:endParaRPr lang="en-US" altLang="zh-CN" b="1"/>
          </a:p>
        </p:txBody>
      </p:sp>
      <p:sp>
        <p:nvSpPr>
          <p:cNvPr id="233" name="右箭头 232"/>
          <p:cNvSpPr/>
          <p:nvPr/>
        </p:nvSpPr>
        <p:spPr>
          <a:xfrm>
            <a:off x="1560195" y="5424805"/>
            <a:ext cx="433070" cy="29718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34" name="肘形连接符 233"/>
          <p:cNvCxnSpPr>
            <a:stCxn id="295" idx="3"/>
            <a:endCxn id="232" idx="2"/>
          </p:cNvCxnSpPr>
          <p:nvPr/>
        </p:nvCxnSpPr>
        <p:spPr>
          <a:xfrm flipH="1">
            <a:off x="915670" y="5002530"/>
            <a:ext cx="17006570" cy="1387475"/>
          </a:xfrm>
          <a:prstGeom prst="bentConnector4">
            <a:avLst>
              <a:gd name="adj1" fmla="val -1400"/>
              <a:gd name="adj2" fmla="val 178169"/>
            </a:avLst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5" name="直接箭头连接符 234"/>
          <p:cNvCxnSpPr/>
          <p:nvPr/>
        </p:nvCxnSpPr>
        <p:spPr>
          <a:xfrm>
            <a:off x="901700" y="2835910"/>
            <a:ext cx="0" cy="4680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直接箭头连接符 235"/>
          <p:cNvCxnSpPr/>
          <p:nvPr/>
        </p:nvCxnSpPr>
        <p:spPr>
          <a:xfrm>
            <a:off x="901700" y="4630420"/>
            <a:ext cx="0" cy="4680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7" name="图片 236" descr="队列-copy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0855" y="5220335"/>
            <a:ext cx="801370" cy="801370"/>
          </a:xfrm>
          <a:prstGeom prst="rect">
            <a:avLst/>
          </a:prstGeom>
        </p:spPr>
      </p:pic>
      <p:sp>
        <p:nvSpPr>
          <p:cNvPr id="238" name="矩形 237"/>
          <p:cNvSpPr/>
          <p:nvPr/>
        </p:nvSpPr>
        <p:spPr>
          <a:xfrm>
            <a:off x="2165350" y="2288540"/>
            <a:ext cx="6750050" cy="1961515"/>
          </a:xfrm>
          <a:prstGeom prst="rect">
            <a:avLst/>
          </a:prstGeom>
          <a:noFill/>
          <a:ln w="28575" cmpd="dbl">
            <a:solidFill>
              <a:schemeClr val="tx1"/>
            </a:solidFill>
            <a:prstDash val="lgDash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0" name="圆角矩形 239"/>
          <p:cNvSpPr/>
          <p:nvPr/>
        </p:nvSpPr>
        <p:spPr>
          <a:xfrm>
            <a:off x="6725482" y="5061040"/>
            <a:ext cx="1764000" cy="432000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241" name="圆角矩形 240"/>
          <p:cNvSpPr/>
          <p:nvPr/>
        </p:nvSpPr>
        <p:spPr>
          <a:xfrm>
            <a:off x="2495112" y="5698664"/>
            <a:ext cx="1764000" cy="432000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242" name="圆角矩形 241"/>
          <p:cNvSpPr/>
          <p:nvPr/>
        </p:nvSpPr>
        <p:spPr>
          <a:xfrm>
            <a:off x="4628077" y="5061040"/>
            <a:ext cx="1764000" cy="432000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243" name="圆角矩形 242"/>
          <p:cNvSpPr/>
          <p:nvPr/>
        </p:nvSpPr>
        <p:spPr>
          <a:xfrm>
            <a:off x="4628077" y="5698664"/>
            <a:ext cx="1764000" cy="432000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244" name="圆角矩形 243"/>
          <p:cNvSpPr/>
          <p:nvPr/>
        </p:nvSpPr>
        <p:spPr>
          <a:xfrm>
            <a:off x="6726752" y="5698664"/>
            <a:ext cx="1764000" cy="432000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245" name="圆角矩形 244"/>
          <p:cNvSpPr/>
          <p:nvPr/>
        </p:nvSpPr>
        <p:spPr>
          <a:xfrm>
            <a:off x="2503805" y="5061875"/>
            <a:ext cx="1764030" cy="431165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Vehicle</a:t>
            </a: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sp>
        <p:nvSpPr>
          <p:cNvPr id="246" name="矩形 245"/>
          <p:cNvSpPr/>
          <p:nvPr/>
        </p:nvSpPr>
        <p:spPr>
          <a:xfrm>
            <a:off x="2503805" y="5035550"/>
            <a:ext cx="1764030" cy="431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2">
                    <a:lumMod val="95000"/>
                  </a:schemeClr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sp>
        <p:nvSpPr>
          <p:cNvPr id="247" name="文本框 246"/>
          <p:cNvSpPr txBox="1"/>
          <p:nvPr/>
        </p:nvSpPr>
        <p:spPr>
          <a:xfrm>
            <a:off x="2494915" y="5708650"/>
            <a:ext cx="1764030" cy="4318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>
                <a:sym typeface="+mn-ea"/>
              </a:rPr>
              <a:t>Vegetation</a:t>
            </a:r>
            <a:endParaRPr lang="en-US" altLang="zh-CN">
              <a:sym typeface="+mn-ea"/>
            </a:endParaRPr>
          </a:p>
        </p:txBody>
      </p:sp>
      <p:sp>
        <p:nvSpPr>
          <p:cNvPr id="248" name="文本框 247"/>
          <p:cNvSpPr txBox="1"/>
          <p:nvPr/>
        </p:nvSpPr>
        <p:spPr>
          <a:xfrm>
            <a:off x="4627880" y="5708650"/>
            <a:ext cx="1764030" cy="4318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>
                <a:sym typeface="+mn-ea"/>
              </a:rPr>
              <a:t>Animal</a:t>
            </a:r>
            <a:endParaRPr lang="en-US" altLang="zh-CN">
              <a:sym typeface="+mn-ea"/>
            </a:endParaRPr>
          </a:p>
        </p:txBody>
      </p:sp>
      <p:sp>
        <p:nvSpPr>
          <p:cNvPr id="249" name="文本框 248"/>
          <p:cNvSpPr txBox="1"/>
          <p:nvPr/>
        </p:nvSpPr>
        <p:spPr>
          <a:xfrm>
            <a:off x="6726555" y="5708650"/>
            <a:ext cx="1764030" cy="4318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>
                <a:sym typeface="+mn-ea"/>
              </a:rPr>
              <a:t>Others</a:t>
            </a:r>
            <a:endParaRPr lang="en-US" altLang="zh-CN">
              <a:sym typeface="+mn-ea"/>
            </a:endParaRPr>
          </a:p>
        </p:txBody>
      </p:sp>
      <p:sp>
        <p:nvSpPr>
          <p:cNvPr id="250" name="文本框 249"/>
          <p:cNvSpPr txBox="1"/>
          <p:nvPr/>
        </p:nvSpPr>
        <p:spPr>
          <a:xfrm>
            <a:off x="4627880" y="5076825"/>
            <a:ext cx="1764030" cy="4318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>
                <a:sym typeface="+mn-ea"/>
              </a:rPr>
              <a:t>Person</a:t>
            </a:r>
            <a:endParaRPr lang="en-US" altLang="zh-CN">
              <a:sym typeface="+mn-ea"/>
            </a:endParaRPr>
          </a:p>
        </p:txBody>
      </p:sp>
      <p:sp>
        <p:nvSpPr>
          <p:cNvPr id="251" name="文本框 250"/>
          <p:cNvSpPr txBox="1"/>
          <p:nvPr/>
        </p:nvSpPr>
        <p:spPr>
          <a:xfrm>
            <a:off x="6725285" y="5078095"/>
            <a:ext cx="1764030" cy="4318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zh-CN" altLang="en-US">
                <a:sym typeface="+mn-ea"/>
              </a:rPr>
              <a:t>Infrastructure</a:t>
            </a:r>
            <a:endParaRPr lang="zh-CN" altLang="en-US">
              <a:sym typeface="+mn-ea"/>
            </a:endParaRPr>
          </a:p>
        </p:txBody>
      </p:sp>
      <p:sp>
        <p:nvSpPr>
          <p:cNvPr id="252" name="文本框 251"/>
          <p:cNvSpPr txBox="1"/>
          <p:nvPr/>
        </p:nvSpPr>
        <p:spPr>
          <a:xfrm>
            <a:off x="2338705" y="6355080"/>
            <a:ext cx="6381750" cy="4337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>
                <a:sym typeface="+mn-ea"/>
              </a:rPr>
              <a:t>Entity </a:t>
            </a:r>
            <a:r>
              <a:rPr lang="en-US" altLang="zh-CN" b="1">
                <a:sym typeface="+mn-ea"/>
              </a:rPr>
              <a:t>Database</a:t>
            </a:r>
            <a:endParaRPr lang="en-US" altLang="zh-CN" b="1">
              <a:sym typeface="+mn-ea"/>
            </a:endParaRPr>
          </a:p>
        </p:txBody>
      </p:sp>
      <p:sp>
        <p:nvSpPr>
          <p:cNvPr id="253" name="矩形 252"/>
          <p:cNvSpPr/>
          <p:nvPr/>
        </p:nvSpPr>
        <p:spPr>
          <a:xfrm>
            <a:off x="2513965" y="2832100"/>
            <a:ext cx="3590925" cy="459740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1600">
              <a:sym typeface="+mn-ea"/>
            </a:endParaRPr>
          </a:p>
        </p:txBody>
      </p:sp>
      <p:sp>
        <p:nvSpPr>
          <p:cNvPr id="254" name="矩形 253"/>
          <p:cNvSpPr/>
          <p:nvPr/>
        </p:nvSpPr>
        <p:spPr>
          <a:xfrm>
            <a:off x="9201785" y="1367155"/>
            <a:ext cx="8847455" cy="2395855"/>
          </a:xfrm>
          <a:prstGeom prst="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5" name="文本框 254"/>
          <p:cNvSpPr txBox="1"/>
          <p:nvPr/>
        </p:nvSpPr>
        <p:spPr>
          <a:xfrm>
            <a:off x="9201150" y="1356360"/>
            <a:ext cx="8662035" cy="3956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buClrTx/>
              <a:buSzTx/>
              <a:buFontTx/>
            </a:pPr>
            <a:r>
              <a:rPr lang="en-US" altLang="zh-CN" sz="2400" b="1"/>
              <a:t>Semantic-Aware LiDAR Simulation</a:t>
            </a:r>
            <a:endParaRPr lang="en-US" altLang="zh-CN" sz="2400" b="1"/>
          </a:p>
        </p:txBody>
      </p:sp>
      <p:sp>
        <p:nvSpPr>
          <p:cNvPr id="258" name="矩形 257"/>
          <p:cNvSpPr/>
          <p:nvPr/>
        </p:nvSpPr>
        <p:spPr>
          <a:xfrm>
            <a:off x="2505075" y="3725545"/>
            <a:ext cx="3590925" cy="459740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1600">
              <a:sym typeface="+mn-ea"/>
            </a:endParaRPr>
          </a:p>
        </p:txBody>
      </p:sp>
      <p:sp>
        <p:nvSpPr>
          <p:cNvPr id="260" name="右大括号 259"/>
          <p:cNvSpPr/>
          <p:nvPr/>
        </p:nvSpPr>
        <p:spPr>
          <a:xfrm>
            <a:off x="6256020" y="3044190"/>
            <a:ext cx="75565" cy="863600"/>
          </a:xfrm>
          <a:prstGeom prst="rightBrac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1" name="矩形 260"/>
          <p:cNvSpPr/>
          <p:nvPr/>
        </p:nvSpPr>
        <p:spPr>
          <a:xfrm>
            <a:off x="9323070" y="3992245"/>
            <a:ext cx="8726805" cy="2631440"/>
          </a:xfrm>
          <a:prstGeom prst="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2" name="矩形 261"/>
          <p:cNvSpPr/>
          <p:nvPr/>
        </p:nvSpPr>
        <p:spPr>
          <a:xfrm>
            <a:off x="9322435" y="1816735"/>
            <a:ext cx="2728595" cy="168529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1600">
              <a:sym typeface="+mn-ea"/>
            </a:endParaRPr>
          </a:p>
        </p:txBody>
      </p:sp>
      <p:sp>
        <p:nvSpPr>
          <p:cNvPr id="263" name="圆角矩形 262"/>
          <p:cNvSpPr/>
          <p:nvPr/>
        </p:nvSpPr>
        <p:spPr>
          <a:xfrm>
            <a:off x="9400540" y="2275205"/>
            <a:ext cx="2520000" cy="540000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t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264" name="矩形 263"/>
          <p:cNvSpPr/>
          <p:nvPr/>
        </p:nvSpPr>
        <p:spPr>
          <a:xfrm>
            <a:off x="12278995" y="1816100"/>
            <a:ext cx="2728595" cy="168529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1600">
              <a:sym typeface="+mn-ea"/>
            </a:endParaRPr>
          </a:p>
        </p:txBody>
      </p:sp>
      <p:sp>
        <p:nvSpPr>
          <p:cNvPr id="265" name="圆角矩形 264"/>
          <p:cNvSpPr/>
          <p:nvPr/>
        </p:nvSpPr>
        <p:spPr>
          <a:xfrm>
            <a:off x="9400540" y="2872105"/>
            <a:ext cx="2520000" cy="540000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t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266" name="文本框 265"/>
          <p:cNvSpPr txBox="1"/>
          <p:nvPr/>
        </p:nvSpPr>
        <p:spPr>
          <a:xfrm>
            <a:off x="9400540" y="2924175"/>
            <a:ext cx="2519680" cy="443865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600">
                <a:sym typeface="+mn-ea"/>
              </a:rPr>
              <a:t>Sensor Specification</a:t>
            </a:r>
            <a:endParaRPr lang="en-US" altLang="zh-CN" sz="1600">
              <a:sym typeface="+mn-ea"/>
            </a:endParaRPr>
          </a:p>
        </p:txBody>
      </p:sp>
      <p:sp>
        <p:nvSpPr>
          <p:cNvPr id="267" name="文本框 266"/>
          <p:cNvSpPr txBox="1"/>
          <p:nvPr/>
        </p:nvSpPr>
        <p:spPr>
          <a:xfrm>
            <a:off x="9400540" y="2342515"/>
            <a:ext cx="2522855" cy="460375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p>
            <a:pPr algn="ctr"/>
            <a:r>
              <a:rPr lang="en-US" altLang="zh-CN" sz="1600">
                <a:sym typeface="+mn-ea"/>
              </a:rPr>
              <a:t>Beam Generation</a:t>
            </a:r>
            <a:endParaRPr lang="en-US" altLang="zh-CN" sz="1600">
              <a:sym typeface="+mn-ea"/>
            </a:endParaRPr>
          </a:p>
        </p:txBody>
      </p:sp>
      <p:sp>
        <p:nvSpPr>
          <p:cNvPr id="268" name="文本框 267"/>
          <p:cNvSpPr txBox="1"/>
          <p:nvPr/>
        </p:nvSpPr>
        <p:spPr>
          <a:xfrm>
            <a:off x="9321800" y="1840230"/>
            <a:ext cx="2729230" cy="2305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>
                <a:sym typeface="+mn-ea"/>
              </a:rPr>
              <a:t>Virtual LiDAR Setup</a:t>
            </a:r>
            <a:endParaRPr lang="en-US" altLang="zh-CN" b="1">
              <a:sym typeface="+mn-ea"/>
            </a:endParaRPr>
          </a:p>
        </p:txBody>
      </p:sp>
      <p:sp>
        <p:nvSpPr>
          <p:cNvPr id="269" name="文本框 268"/>
          <p:cNvSpPr txBox="1"/>
          <p:nvPr/>
        </p:nvSpPr>
        <p:spPr>
          <a:xfrm>
            <a:off x="12278995" y="1815465"/>
            <a:ext cx="2727325" cy="4438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>
                <a:sym typeface="+mn-ea"/>
              </a:rPr>
              <a:t>Beam Propagatio</a:t>
            </a:r>
            <a:r>
              <a:rPr lang="zh-CN" altLang="en-US" b="1">
                <a:sym typeface="+mn-ea"/>
              </a:rPr>
              <a:t>n</a:t>
            </a:r>
            <a:endParaRPr lang="en-US" altLang="zh-CN" b="1">
              <a:sym typeface="+mn-ea"/>
            </a:endParaRPr>
          </a:p>
        </p:txBody>
      </p:sp>
      <p:sp>
        <p:nvSpPr>
          <p:cNvPr id="270" name="圆角矩形 269"/>
          <p:cNvSpPr/>
          <p:nvPr/>
        </p:nvSpPr>
        <p:spPr>
          <a:xfrm>
            <a:off x="12409805" y="2275205"/>
            <a:ext cx="2520000" cy="540000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t" anchorCtr="0" forceAA="0" compatLnSpc="1">
            <a:noAutofit/>
          </a:bodyPr>
          <a:p>
            <a:pPr lvl="0" algn="ctr">
              <a:lnSpc>
                <a:spcPct val="120000"/>
              </a:lnSpc>
              <a:buClrTx/>
              <a:buSzTx/>
              <a:buFontTx/>
            </a:pPr>
            <a:r>
              <a:rPr lang="en-US" altLang="zh-CN" sz="1600">
                <a:solidFill>
                  <a:schemeClr val="tx1"/>
                </a:solidFill>
                <a:sym typeface="+mn-ea"/>
              </a:rPr>
              <a:t>Range Computation</a:t>
            </a:r>
            <a:endParaRPr lang="en-US" altLang="zh-CN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271" name="圆角矩形 270"/>
          <p:cNvSpPr/>
          <p:nvPr/>
        </p:nvSpPr>
        <p:spPr>
          <a:xfrm>
            <a:off x="12409805" y="2872105"/>
            <a:ext cx="2520000" cy="540000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t" anchorCtr="0" forceAA="0" compatLnSpc="1">
            <a:noAutofit/>
          </a:bodyPr>
          <a:p>
            <a:pPr lvl="0" algn="ctr">
              <a:lnSpc>
                <a:spcPct val="120000"/>
              </a:lnSpc>
              <a:buClrTx/>
              <a:buSzTx/>
              <a:buFontTx/>
            </a:pPr>
            <a:r>
              <a:rPr lang="zh-CN" altLang="en-US" sz="1600">
                <a:sym typeface="+mn-ea"/>
              </a:rPr>
              <a:t>Reflectivity Modeling</a:t>
            </a:r>
            <a:endParaRPr lang="en-US" altLang="zh-CN" sz="1600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272" name="直接箭头连接符 271"/>
          <p:cNvCxnSpPr/>
          <p:nvPr/>
        </p:nvCxnSpPr>
        <p:spPr>
          <a:xfrm>
            <a:off x="11999595" y="2750820"/>
            <a:ext cx="332105" cy="0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73" name="矩形 272"/>
          <p:cNvSpPr/>
          <p:nvPr/>
        </p:nvSpPr>
        <p:spPr>
          <a:xfrm>
            <a:off x="15134590" y="1816735"/>
            <a:ext cx="2728595" cy="168529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1600">
              <a:sym typeface="+mn-ea"/>
            </a:endParaRPr>
          </a:p>
        </p:txBody>
      </p:sp>
      <p:sp>
        <p:nvSpPr>
          <p:cNvPr id="274" name="文本框 273"/>
          <p:cNvSpPr txBox="1"/>
          <p:nvPr/>
        </p:nvSpPr>
        <p:spPr>
          <a:xfrm>
            <a:off x="15135860" y="1898650"/>
            <a:ext cx="2727325" cy="4438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b="1">
                <a:sym typeface="+mn-ea"/>
              </a:rPr>
              <a:t>Entity Integration</a:t>
            </a:r>
            <a:endParaRPr lang="en-US" altLang="zh-CN" b="1">
              <a:sym typeface="+mn-ea"/>
            </a:endParaRPr>
          </a:p>
        </p:txBody>
      </p:sp>
      <p:sp>
        <p:nvSpPr>
          <p:cNvPr id="275" name="文本框 274"/>
          <p:cNvSpPr txBox="1"/>
          <p:nvPr/>
        </p:nvSpPr>
        <p:spPr>
          <a:xfrm>
            <a:off x="15294610" y="2275205"/>
            <a:ext cx="2255520" cy="3943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endParaRPr lang="zh-CN" altLang="en-US"/>
          </a:p>
        </p:txBody>
      </p:sp>
      <p:sp>
        <p:nvSpPr>
          <p:cNvPr id="276" name="圆角矩形 275"/>
          <p:cNvSpPr/>
          <p:nvPr/>
        </p:nvSpPr>
        <p:spPr>
          <a:xfrm>
            <a:off x="15266670" y="2275205"/>
            <a:ext cx="2520000" cy="540000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t" anchorCtr="0" forceAA="0" compatLnSpc="1">
            <a:noAutofit/>
          </a:bodyPr>
          <a:p>
            <a:pPr lvl="0" algn="ctr">
              <a:lnSpc>
                <a:spcPct val="120000"/>
              </a:lnSpc>
              <a:buClrTx/>
              <a:buSzTx/>
              <a:buFontTx/>
            </a:pPr>
            <a:r>
              <a:rPr lang="zh-CN" altLang="en-US" sz="1600">
                <a:sym typeface="+mn-ea"/>
              </a:rPr>
              <a:t>Occlusion Handling</a:t>
            </a:r>
            <a:endParaRPr lang="en-US" altLang="zh-CN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277" name="圆角矩形 276"/>
          <p:cNvSpPr/>
          <p:nvPr/>
        </p:nvSpPr>
        <p:spPr>
          <a:xfrm>
            <a:off x="15294610" y="2872105"/>
            <a:ext cx="2520000" cy="540000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t" anchorCtr="0" forceAA="0" compatLnSpc="1">
            <a:noAutofit/>
          </a:bodyPr>
          <a:p>
            <a:pPr lvl="0" algn="ctr">
              <a:lnSpc>
                <a:spcPct val="120000"/>
              </a:lnSpc>
              <a:buClrTx/>
              <a:buSzTx/>
              <a:buFontTx/>
            </a:pPr>
            <a:r>
              <a:rPr lang="en-US" altLang="zh-CN" sz="1600">
                <a:sym typeface="+mn-ea"/>
              </a:rPr>
              <a:t>Point Clou</a:t>
            </a:r>
            <a:r>
              <a:rPr lang="en-US" altLang="zh-CN" sz="1600">
                <a:sym typeface="+mn-ea"/>
              </a:rPr>
              <a:t>d Generation</a:t>
            </a:r>
            <a:endParaRPr lang="en-US" altLang="zh-CN" sz="1600">
              <a:sym typeface="+mn-ea"/>
            </a:endParaRPr>
          </a:p>
        </p:txBody>
      </p:sp>
      <p:sp>
        <p:nvSpPr>
          <p:cNvPr id="278" name="文本框 277"/>
          <p:cNvSpPr txBox="1"/>
          <p:nvPr/>
        </p:nvSpPr>
        <p:spPr>
          <a:xfrm>
            <a:off x="9401175" y="4063365"/>
            <a:ext cx="8385810" cy="5403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 sz="2400" b="1">
                <a:sym typeface="+mn-ea"/>
              </a:rPr>
              <a:t>Semantic-Diversity Guided Testing</a:t>
            </a:r>
            <a:endParaRPr lang="en-US" altLang="zh-CN" sz="2400" b="1">
              <a:sym typeface="+mn-ea"/>
            </a:endParaRPr>
          </a:p>
        </p:txBody>
      </p:sp>
      <p:sp>
        <p:nvSpPr>
          <p:cNvPr id="279" name="圆角矩形 278"/>
          <p:cNvSpPr/>
          <p:nvPr>
            <p:custDataLst>
              <p:tags r:id="rId3"/>
            </p:custDataLst>
          </p:nvPr>
        </p:nvSpPr>
        <p:spPr>
          <a:xfrm>
            <a:off x="11025505" y="4542155"/>
            <a:ext cx="5048885" cy="1824990"/>
          </a:xfrm>
          <a:prstGeom prst="roundRect">
            <a:avLst>
              <a:gd name="adj" fmla="val 5234"/>
            </a:avLst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80" name="334E55B0-647D-440b-865C-3EC943EB4CBC-6" descr="/Users/gaoxinyu/Library/Containers/com.kingsoft.wpsoffice.mac/Data/tmp/wpsoffice.cEbuJowpsoffic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0615" y="5419090"/>
            <a:ext cx="2155190" cy="636905"/>
          </a:xfrm>
          <a:prstGeom prst="rect">
            <a:avLst/>
          </a:prstGeom>
        </p:spPr>
      </p:pic>
      <p:sp>
        <p:nvSpPr>
          <p:cNvPr id="281" name="文本框 280"/>
          <p:cNvSpPr txBox="1"/>
          <p:nvPr>
            <p:custDataLst>
              <p:tags r:id="rId5"/>
            </p:custDataLst>
          </p:nvPr>
        </p:nvSpPr>
        <p:spPr>
          <a:xfrm>
            <a:off x="11090275" y="4542155"/>
            <a:ext cx="4983480" cy="6623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600" b="1">
                <a:sym typeface="+mn-ea"/>
              </a:rPr>
              <a:t>Diversity</a:t>
            </a:r>
            <a:r>
              <a:rPr lang="en-US" altLang="zh-CN" sz="1600" b="1"/>
              <a:t> Guidance</a:t>
            </a:r>
            <a:r>
              <a:rPr lang="en-US" altLang="zh-CN" sz="1600"/>
              <a:t> : </a:t>
            </a:r>
            <a:r>
              <a:rPr lang="zh-CN" altLang="en-US" sz="1600">
                <a:sym typeface="+mn-ea"/>
              </a:rPr>
              <a:t>Measuring the </a:t>
            </a:r>
            <a:r>
              <a:rPr lang="en-US" altLang="zh-CN" sz="1600">
                <a:sym typeface="+mn-ea"/>
              </a:rPr>
              <a:t>diversity </a:t>
            </a:r>
            <a:r>
              <a:rPr lang="zh-CN" altLang="en-US" sz="1600">
                <a:sym typeface="+mn-ea"/>
              </a:rPr>
              <a:t>of </a:t>
            </a:r>
            <a:r>
              <a:rPr lang="en-US" altLang="zh-CN" sz="1600">
                <a:sym typeface="+mn-ea"/>
              </a:rPr>
              <a:t>generate point cloud S</a:t>
            </a:r>
            <a:endParaRPr lang="en-US" altLang="zh-CN" sz="1600">
              <a:sym typeface="+mn-ea"/>
            </a:endParaRPr>
          </a:p>
        </p:txBody>
      </p:sp>
      <p:grpSp>
        <p:nvGrpSpPr>
          <p:cNvPr id="282" name="组合 281"/>
          <p:cNvGrpSpPr/>
          <p:nvPr/>
        </p:nvGrpSpPr>
        <p:grpSpPr>
          <a:xfrm>
            <a:off x="13491210" y="5170596"/>
            <a:ext cx="2372103" cy="975298"/>
            <a:chOff x="2806" y="-6735"/>
            <a:chExt cx="6271" cy="2677"/>
          </a:xfrm>
        </p:grpSpPr>
        <p:sp>
          <p:nvSpPr>
            <p:cNvPr id="283" name="椭圆 282"/>
            <p:cNvSpPr/>
            <p:nvPr/>
          </p:nvSpPr>
          <p:spPr>
            <a:xfrm>
              <a:off x="2806" y="-6735"/>
              <a:ext cx="6271" cy="2677"/>
            </a:xfrm>
            <a:prstGeom prst="ellipse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pic>
          <p:nvPicPr>
            <p:cNvPr id="284" name="图片 283" descr="交通标志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400" y="-6233"/>
              <a:ext cx="1154" cy="1154"/>
            </a:xfrm>
            <a:prstGeom prst="rect">
              <a:avLst/>
            </a:prstGeom>
          </p:spPr>
        </p:pic>
        <p:pic>
          <p:nvPicPr>
            <p:cNvPr id="285" name="图片 284" descr="步行"/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965" y="-5830"/>
              <a:ext cx="853" cy="853"/>
            </a:xfrm>
            <a:prstGeom prst="rect">
              <a:avLst/>
            </a:prstGeom>
          </p:spPr>
        </p:pic>
        <p:pic>
          <p:nvPicPr>
            <p:cNvPr id="286" name="图片 285" descr="_汽车票"/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6415" y="-6449"/>
              <a:ext cx="918" cy="918"/>
            </a:xfrm>
            <a:prstGeom prst="rect">
              <a:avLst/>
            </a:prstGeom>
          </p:spPr>
        </p:pic>
        <p:pic>
          <p:nvPicPr>
            <p:cNvPr id="287" name="图片 286" descr="步行"/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578" y="-5364"/>
              <a:ext cx="725" cy="725"/>
            </a:xfrm>
            <a:prstGeom prst="rect">
              <a:avLst/>
            </a:prstGeom>
          </p:spPr>
        </p:pic>
        <p:pic>
          <p:nvPicPr>
            <p:cNvPr id="288" name="图片 287" descr="_汽车票"/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7333" y="-6158"/>
              <a:ext cx="918" cy="918"/>
            </a:xfrm>
            <a:prstGeom prst="rect">
              <a:avLst/>
            </a:prstGeom>
          </p:spPr>
        </p:pic>
        <p:pic>
          <p:nvPicPr>
            <p:cNvPr id="289" name="图片 288" descr="_汽车票"/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6415" y="-5531"/>
              <a:ext cx="918" cy="918"/>
            </a:xfrm>
            <a:prstGeom prst="rect">
              <a:avLst/>
            </a:prstGeom>
          </p:spPr>
        </p:pic>
        <p:pic>
          <p:nvPicPr>
            <p:cNvPr id="290" name="图片 289" descr="交通标志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063" y="-5577"/>
              <a:ext cx="1154" cy="1154"/>
            </a:xfrm>
            <a:prstGeom prst="rect">
              <a:avLst/>
            </a:prstGeom>
          </p:spPr>
        </p:pic>
        <p:pic>
          <p:nvPicPr>
            <p:cNvPr id="291" name="图片 290" descr="自行车-母婴"/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4978" y="-6688"/>
              <a:ext cx="1105" cy="1110"/>
            </a:xfrm>
            <a:prstGeom prst="rect">
              <a:avLst/>
            </a:prstGeom>
          </p:spPr>
        </p:pic>
      </p:grpSp>
      <p:pic>
        <p:nvPicPr>
          <p:cNvPr id="292" name="图片 291" descr="测试用例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834880" y="4725670"/>
            <a:ext cx="693420" cy="693420"/>
          </a:xfrm>
          <a:prstGeom prst="rect">
            <a:avLst/>
          </a:prstGeom>
        </p:spPr>
      </p:pic>
      <p:sp>
        <p:nvSpPr>
          <p:cNvPr id="293" name="文本框 292"/>
          <p:cNvSpPr txBox="1"/>
          <p:nvPr/>
        </p:nvSpPr>
        <p:spPr>
          <a:xfrm>
            <a:off x="9401175" y="5374640"/>
            <a:ext cx="158242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600" b="1"/>
              <a:t>Transformed</a:t>
            </a:r>
            <a:endParaRPr lang="en-US" altLang="zh-CN" sz="1600" b="1"/>
          </a:p>
          <a:p>
            <a:pPr algn="ctr"/>
            <a:r>
              <a:rPr lang="en-US" altLang="zh-CN" sz="1600" b="1"/>
              <a:t>point cloud</a:t>
            </a:r>
            <a:endParaRPr lang="en-US" altLang="zh-CN" sz="1600" b="1"/>
          </a:p>
        </p:txBody>
      </p:sp>
      <p:cxnSp>
        <p:nvCxnSpPr>
          <p:cNvPr id="294" name="直接箭头连接符 293"/>
          <p:cNvCxnSpPr>
            <a:stCxn id="292" idx="3"/>
          </p:cNvCxnSpPr>
          <p:nvPr/>
        </p:nvCxnSpPr>
        <p:spPr>
          <a:xfrm>
            <a:off x="10528300" y="5072380"/>
            <a:ext cx="45783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95" name="菱形 294"/>
          <p:cNvSpPr/>
          <p:nvPr/>
        </p:nvSpPr>
        <p:spPr>
          <a:xfrm>
            <a:off x="16353155" y="4711700"/>
            <a:ext cx="1569085" cy="581025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000">
              <a:solidFill>
                <a:schemeClr val="tx1"/>
              </a:solidFill>
            </a:endParaRPr>
          </a:p>
        </p:txBody>
      </p:sp>
      <p:sp>
        <p:nvSpPr>
          <p:cNvPr id="296" name="流程图: 过程 295"/>
          <p:cNvSpPr/>
          <p:nvPr>
            <p:custDataLst>
              <p:tags r:id="rId16"/>
            </p:custDataLst>
          </p:nvPr>
        </p:nvSpPr>
        <p:spPr>
          <a:xfrm>
            <a:off x="16589375" y="5958205"/>
            <a:ext cx="1069975" cy="401320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Discarded</a:t>
            </a:r>
            <a:endParaRPr lang="en-US" altLang="zh-CN" sz="1200">
              <a:solidFill>
                <a:schemeClr val="tx1"/>
              </a:solidFill>
            </a:endParaRPr>
          </a:p>
        </p:txBody>
      </p:sp>
      <p:cxnSp>
        <p:nvCxnSpPr>
          <p:cNvPr id="297" name="直接箭头连接符 296"/>
          <p:cNvCxnSpPr>
            <a:stCxn id="295" idx="2"/>
            <a:endCxn id="296" idx="0"/>
          </p:cNvCxnSpPr>
          <p:nvPr/>
        </p:nvCxnSpPr>
        <p:spPr>
          <a:xfrm flipH="1">
            <a:off x="17124680" y="5292725"/>
            <a:ext cx="13335" cy="66548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98" name="文本框 297"/>
          <p:cNvSpPr txBox="1"/>
          <p:nvPr/>
        </p:nvSpPr>
        <p:spPr>
          <a:xfrm>
            <a:off x="17296130" y="5424805"/>
            <a:ext cx="42037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000"/>
              <a:t>N</a:t>
            </a:r>
            <a:endParaRPr lang="en-US" altLang="zh-CN" sz="1000"/>
          </a:p>
        </p:txBody>
      </p:sp>
      <p:sp>
        <p:nvSpPr>
          <p:cNvPr id="299" name="文本框 298"/>
          <p:cNvSpPr txBox="1"/>
          <p:nvPr>
            <p:custDataLst>
              <p:tags r:id="rId17"/>
            </p:custDataLst>
          </p:nvPr>
        </p:nvSpPr>
        <p:spPr>
          <a:xfrm>
            <a:off x="18514060" y="7453630"/>
            <a:ext cx="42037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000"/>
              <a:t>Y</a:t>
            </a:r>
            <a:endParaRPr lang="en-US" altLang="zh-CN" sz="1000"/>
          </a:p>
        </p:txBody>
      </p:sp>
      <p:sp>
        <p:nvSpPr>
          <p:cNvPr id="300" name="文本框 299"/>
          <p:cNvSpPr txBox="1"/>
          <p:nvPr>
            <p:custDataLst>
              <p:tags r:id="rId18"/>
            </p:custDataLst>
          </p:nvPr>
        </p:nvSpPr>
        <p:spPr>
          <a:xfrm>
            <a:off x="16640175" y="4850765"/>
            <a:ext cx="1076325" cy="2762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Increased?</a:t>
            </a:r>
            <a:endParaRPr lang="zh-CN" altLang="en-US" sz="1200"/>
          </a:p>
        </p:txBody>
      </p:sp>
      <p:cxnSp>
        <p:nvCxnSpPr>
          <p:cNvPr id="301" name="直接箭头连接符 300"/>
          <p:cNvCxnSpPr>
            <a:endCxn id="295" idx="1"/>
          </p:cNvCxnSpPr>
          <p:nvPr/>
        </p:nvCxnSpPr>
        <p:spPr>
          <a:xfrm>
            <a:off x="16066135" y="5002530"/>
            <a:ext cx="28702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02" name="文本框 301"/>
          <p:cNvSpPr txBox="1"/>
          <p:nvPr/>
        </p:nvSpPr>
        <p:spPr>
          <a:xfrm>
            <a:off x="9706610" y="6717030"/>
            <a:ext cx="234442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Add seeds back to the queue</a:t>
            </a:r>
            <a:endParaRPr lang="en-US" altLang="zh-CN" sz="1200"/>
          </a:p>
        </p:txBody>
      </p:sp>
      <p:sp>
        <p:nvSpPr>
          <p:cNvPr id="303" name="文本框 302"/>
          <p:cNvSpPr txBox="1"/>
          <p:nvPr/>
        </p:nvSpPr>
        <p:spPr>
          <a:xfrm>
            <a:off x="18635980" y="2351405"/>
            <a:ext cx="14116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/>
              <a:t>Test dataset</a:t>
            </a:r>
            <a:endParaRPr lang="en-US" altLang="zh-CN" b="1"/>
          </a:p>
        </p:txBody>
      </p:sp>
      <p:grpSp>
        <p:nvGrpSpPr>
          <p:cNvPr id="304" name="组合 303"/>
          <p:cNvGrpSpPr/>
          <p:nvPr/>
        </p:nvGrpSpPr>
        <p:grpSpPr>
          <a:xfrm>
            <a:off x="18931255" y="1432560"/>
            <a:ext cx="902335" cy="862965"/>
            <a:chOff x="2244" y="177"/>
            <a:chExt cx="960" cy="960"/>
          </a:xfrm>
        </p:grpSpPr>
        <p:pic>
          <p:nvPicPr>
            <p:cNvPr id="305" name="图片 304" descr="24gl-fileEmpty"/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2244" y="177"/>
              <a:ext cx="960" cy="960"/>
            </a:xfrm>
            <a:prstGeom prst="rect">
              <a:avLst/>
            </a:prstGeom>
          </p:spPr>
        </p:pic>
        <p:pic>
          <p:nvPicPr>
            <p:cNvPr id="306" name="图片 305" descr="点云数据"/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2412" y="506"/>
              <a:ext cx="671" cy="483"/>
            </a:xfrm>
            <a:prstGeom prst="rect">
              <a:avLst/>
            </a:prstGeom>
          </p:spPr>
        </p:pic>
      </p:grpSp>
      <p:cxnSp>
        <p:nvCxnSpPr>
          <p:cNvPr id="307" name="直接箭头连接符 306"/>
          <p:cNvCxnSpPr/>
          <p:nvPr/>
        </p:nvCxnSpPr>
        <p:spPr>
          <a:xfrm>
            <a:off x="18092420" y="1864360"/>
            <a:ext cx="83883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8" name="直接箭头连接符 307"/>
          <p:cNvCxnSpPr>
            <a:stCxn id="303" idx="2"/>
          </p:cNvCxnSpPr>
          <p:nvPr/>
        </p:nvCxnSpPr>
        <p:spPr>
          <a:xfrm>
            <a:off x="19342100" y="2996565"/>
            <a:ext cx="0" cy="37147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09" name="图片 308" descr="激光雷达"/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8773140" y="3418840"/>
            <a:ext cx="1085850" cy="1085850"/>
          </a:xfrm>
          <a:prstGeom prst="rect">
            <a:avLst/>
          </a:prstGeom>
        </p:spPr>
      </p:pic>
      <p:sp>
        <p:nvSpPr>
          <p:cNvPr id="310" name="文本框 309"/>
          <p:cNvSpPr txBox="1"/>
          <p:nvPr/>
        </p:nvSpPr>
        <p:spPr>
          <a:xfrm>
            <a:off x="18324830" y="4476115"/>
            <a:ext cx="1906905" cy="4438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 sz="1400" b="1">
                <a:sym typeface="+mn-ea"/>
              </a:rPr>
              <a:t>LiDAR-based </a:t>
            </a:r>
            <a:endParaRPr lang="en-US" altLang="zh-CN" sz="1400" b="1">
              <a:sym typeface="+mn-ea"/>
            </a:endParaRPr>
          </a:p>
          <a:p>
            <a:pPr algn="ctr"/>
            <a:r>
              <a:rPr lang="en-US" altLang="zh-CN" sz="1400" b="1">
                <a:sym typeface="+mn-ea"/>
              </a:rPr>
              <a:t>perception system</a:t>
            </a:r>
            <a:endParaRPr lang="en-US" altLang="zh-CN" sz="1400" b="1">
              <a:sym typeface="+mn-ea"/>
            </a:endParaRPr>
          </a:p>
        </p:txBody>
      </p:sp>
      <p:cxnSp>
        <p:nvCxnSpPr>
          <p:cNvPr id="311" name="直接箭头连接符 310"/>
          <p:cNvCxnSpPr/>
          <p:nvPr/>
        </p:nvCxnSpPr>
        <p:spPr>
          <a:xfrm>
            <a:off x="19367500" y="4996180"/>
            <a:ext cx="0" cy="37846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12" name="图片 311" descr="测试报告"/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8931255" y="5500370"/>
            <a:ext cx="828040" cy="828040"/>
          </a:xfrm>
          <a:prstGeom prst="rect">
            <a:avLst/>
          </a:prstGeom>
        </p:spPr>
      </p:pic>
      <p:sp>
        <p:nvSpPr>
          <p:cNvPr id="313" name="文本框 312"/>
          <p:cNvSpPr txBox="1"/>
          <p:nvPr/>
        </p:nvSpPr>
        <p:spPr>
          <a:xfrm>
            <a:off x="18451830" y="6388100"/>
            <a:ext cx="1716405" cy="4438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 sz="1400" b="1">
                <a:sym typeface="+mn-ea"/>
              </a:rPr>
              <a:t>Test </a:t>
            </a:r>
            <a:endParaRPr lang="en-US" altLang="zh-CN" sz="1400" b="1">
              <a:sym typeface="+mn-ea"/>
            </a:endParaRPr>
          </a:p>
          <a:p>
            <a:pPr algn="ctr"/>
            <a:r>
              <a:rPr lang="en-US" altLang="zh-CN" sz="1400" b="1">
                <a:sym typeface="+mn-ea"/>
              </a:rPr>
              <a:t>Report</a:t>
            </a:r>
            <a:endParaRPr lang="en-US" altLang="zh-CN" sz="1400" b="1">
              <a:sym typeface="+mn-ea"/>
            </a:endParaRPr>
          </a:p>
        </p:txBody>
      </p:sp>
      <p:sp>
        <p:nvSpPr>
          <p:cNvPr id="314" name="文本框 313"/>
          <p:cNvSpPr txBox="1"/>
          <p:nvPr/>
        </p:nvSpPr>
        <p:spPr>
          <a:xfrm>
            <a:off x="2338705" y="2283460"/>
            <a:ext cx="4396105" cy="4337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400" b="1">
                <a:sym typeface="+mn-ea"/>
              </a:rPr>
              <a:t>Pose Generation</a:t>
            </a:r>
            <a:endParaRPr lang="en-US" altLang="zh-CN" sz="2000" b="1">
              <a:sym typeface="+mn-ea"/>
            </a:endParaRPr>
          </a:p>
        </p:txBody>
      </p:sp>
      <p:grpSp>
        <p:nvGrpSpPr>
          <p:cNvPr id="315" name="组合 314"/>
          <p:cNvGrpSpPr/>
          <p:nvPr/>
        </p:nvGrpSpPr>
        <p:grpSpPr>
          <a:xfrm>
            <a:off x="422910" y="1436370"/>
            <a:ext cx="935990" cy="975360"/>
            <a:chOff x="873" y="721"/>
            <a:chExt cx="1360" cy="1360"/>
          </a:xfrm>
        </p:grpSpPr>
        <p:pic>
          <p:nvPicPr>
            <p:cNvPr id="316" name="图片 315" descr="点云数据"/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1208" y="1220"/>
              <a:ext cx="692" cy="488"/>
            </a:xfrm>
            <a:prstGeom prst="rect">
              <a:avLst/>
            </a:prstGeom>
          </p:spPr>
        </p:pic>
        <p:pic>
          <p:nvPicPr>
            <p:cNvPr id="317" name="图片 316" descr="数据集"/>
            <p:cNvPicPr>
              <a:picLocks noChangeAspect="1"/>
            </p:cNvPicPr>
            <p:nvPr/>
          </p:nvPicPr>
          <p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873" y="721"/>
              <a:ext cx="1360" cy="1360"/>
            </a:xfrm>
            <a:prstGeom prst="rect">
              <a:avLst/>
            </a:prstGeom>
          </p:spPr>
        </p:pic>
      </p:grpSp>
      <p:grpSp>
        <p:nvGrpSpPr>
          <p:cNvPr id="318" name="组合 317"/>
          <p:cNvGrpSpPr/>
          <p:nvPr/>
        </p:nvGrpSpPr>
        <p:grpSpPr>
          <a:xfrm>
            <a:off x="490855" y="3387090"/>
            <a:ext cx="838835" cy="862330"/>
            <a:chOff x="873" y="3352"/>
            <a:chExt cx="1260" cy="1234"/>
          </a:xfrm>
        </p:grpSpPr>
        <p:pic>
          <p:nvPicPr>
            <p:cNvPr id="319" name="图片 318" descr="24gl-fileEmpty"/>
            <p:cNvPicPr>
              <a:picLocks noChangeAspect="1"/>
            </p:cNvPicPr>
            <p:nvPr>
              <p:custDataLst>
                <p:tags r:id="rId30"/>
              </p:custDataLst>
            </p:nvPr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873" y="3352"/>
              <a:ext cx="1261" cy="1235"/>
            </a:xfrm>
            <a:prstGeom prst="rect">
              <a:avLst/>
            </a:prstGeom>
          </p:spPr>
        </p:pic>
        <p:pic>
          <p:nvPicPr>
            <p:cNvPr id="320" name="图片 319" descr="点云数据"/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1168" y="3783"/>
              <a:ext cx="692" cy="488"/>
            </a:xfrm>
            <a:prstGeom prst="rect">
              <a:avLst/>
            </a:prstGeom>
          </p:spPr>
        </p:pic>
      </p:grpSp>
      <p:sp>
        <p:nvSpPr>
          <p:cNvPr id="321" name="文本框 320"/>
          <p:cNvSpPr txBox="1"/>
          <p:nvPr/>
        </p:nvSpPr>
        <p:spPr>
          <a:xfrm>
            <a:off x="2292985" y="1610360"/>
            <a:ext cx="64325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400" b="1">
                <a:sym typeface="+mn-ea"/>
              </a:rPr>
              <a:t>Semantic Entity Insertion Operator</a:t>
            </a:r>
            <a:endParaRPr lang="en-US" altLang="zh-CN" sz="2400" b="1">
              <a:sym typeface="+mn-ea"/>
            </a:endParaRPr>
          </a:p>
        </p:txBody>
      </p:sp>
      <p:sp>
        <p:nvSpPr>
          <p:cNvPr id="322" name="矩形 321"/>
          <p:cNvSpPr/>
          <p:nvPr/>
        </p:nvSpPr>
        <p:spPr>
          <a:xfrm>
            <a:off x="1993900" y="1437005"/>
            <a:ext cx="7072630" cy="5555615"/>
          </a:xfrm>
          <a:prstGeom prst="rect">
            <a:avLst/>
          </a:prstGeom>
          <a:noFill/>
          <a:ln w="28575" cmpd="dbl">
            <a:solidFill>
              <a:schemeClr val="tx1"/>
            </a:solidFill>
            <a:prstDash val="lgDash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4" name="文本框 323"/>
          <p:cNvSpPr txBox="1"/>
          <p:nvPr/>
        </p:nvSpPr>
        <p:spPr>
          <a:xfrm>
            <a:off x="2283460" y="4476115"/>
            <a:ext cx="64325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400" b="1">
                <a:sym typeface="+mn-ea"/>
              </a:rPr>
              <a:t>Entity </a:t>
            </a:r>
            <a:r>
              <a:rPr lang="en-US" altLang="zh-CN" sz="2400" b="1">
                <a:sym typeface="+mn-ea"/>
              </a:rPr>
              <a:t>Operator</a:t>
            </a:r>
            <a:endParaRPr lang="en-US" altLang="zh-CN" sz="2400" b="1">
              <a:sym typeface="+mn-ea"/>
            </a:endParaRPr>
          </a:p>
        </p:txBody>
      </p:sp>
      <p:sp>
        <p:nvSpPr>
          <p:cNvPr id="325" name="文本框 324"/>
          <p:cNvSpPr txBox="1"/>
          <p:nvPr/>
        </p:nvSpPr>
        <p:spPr>
          <a:xfrm>
            <a:off x="2504440" y="3787140"/>
            <a:ext cx="3590290" cy="4311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600" b="1">
                <a:sym typeface="+mn-ea"/>
              </a:rPr>
              <a:t>Semantic Constraints</a:t>
            </a:r>
            <a:endParaRPr lang="en-US" altLang="zh-CN" sz="1600" b="1"/>
          </a:p>
        </p:txBody>
      </p:sp>
      <p:sp>
        <p:nvSpPr>
          <p:cNvPr id="326" name="文本框 325"/>
          <p:cNvSpPr txBox="1"/>
          <p:nvPr/>
        </p:nvSpPr>
        <p:spPr>
          <a:xfrm>
            <a:off x="2513330" y="2893695"/>
            <a:ext cx="3590290" cy="4311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600" b="1">
                <a:sym typeface="+mn-ea"/>
              </a:rPr>
              <a:t>Spatial Constraints</a:t>
            </a:r>
            <a:endParaRPr lang="en-US" altLang="zh-CN" sz="1600" b="1"/>
          </a:p>
        </p:txBody>
      </p:sp>
      <p:grpSp>
        <p:nvGrpSpPr>
          <p:cNvPr id="328" name="组合 327"/>
          <p:cNvGrpSpPr/>
          <p:nvPr/>
        </p:nvGrpSpPr>
        <p:grpSpPr>
          <a:xfrm>
            <a:off x="6704965" y="2693670"/>
            <a:ext cx="2155190" cy="1093470"/>
            <a:chOff x="10606" y="4579"/>
            <a:chExt cx="3394" cy="1722"/>
          </a:xfrm>
        </p:grpSpPr>
        <p:sp>
          <p:nvSpPr>
            <p:cNvPr id="256" name="文本框 255"/>
            <p:cNvSpPr txBox="1"/>
            <p:nvPr/>
          </p:nvSpPr>
          <p:spPr>
            <a:xfrm>
              <a:off x="10606" y="5623"/>
              <a:ext cx="3394" cy="67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n-US" altLang="zh-CN" sz="1600" b="1"/>
                <a:t>Physically and Semantic </a:t>
              </a:r>
              <a:r>
                <a:rPr lang="en-US" altLang="zh-CN" sz="1600" b="1"/>
                <a:t>Plausible </a:t>
              </a:r>
              <a:r>
                <a:rPr lang="en-US" altLang="zh-CN" sz="1600" b="1"/>
                <a:t>Pose</a:t>
              </a:r>
              <a:endParaRPr lang="en-US" altLang="zh-CN" sz="1600" b="1"/>
            </a:p>
          </p:txBody>
        </p:sp>
        <p:pic>
          <p:nvPicPr>
            <p:cNvPr id="458" name="图片 457" descr="平面直角坐标系"/>
            <p:cNvPicPr>
              <a:picLocks noChangeAspect="1"/>
            </p:cNvPicPr>
            <p:nvPr/>
          </p:nvPicPr>
          <p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p:blipFill>
          <p:spPr>
            <a:xfrm>
              <a:off x="11468" y="4579"/>
              <a:ext cx="968" cy="983"/>
            </a:xfrm>
            <a:prstGeom prst="rect">
              <a:avLst/>
            </a:prstGeom>
          </p:spPr>
        </p:pic>
        <p:grpSp>
          <p:nvGrpSpPr>
            <p:cNvPr id="459" name="组合 458"/>
            <p:cNvGrpSpPr/>
            <p:nvPr/>
          </p:nvGrpSpPr>
          <p:grpSpPr>
            <a:xfrm rot="18960000">
              <a:off x="11911" y="4720"/>
              <a:ext cx="117" cy="524"/>
              <a:chOff x="14084" y="7910"/>
              <a:chExt cx="660" cy="2210"/>
            </a:xfrm>
            <a:solidFill>
              <a:schemeClr val="accent1">
                <a:lumMod val="75000"/>
              </a:schemeClr>
            </a:solidFill>
          </p:grpSpPr>
          <p:grpSp>
            <p:nvGrpSpPr>
              <p:cNvPr id="460" name="组合 459"/>
              <p:cNvGrpSpPr/>
              <p:nvPr/>
            </p:nvGrpSpPr>
            <p:grpSpPr>
              <a:xfrm>
                <a:off x="14084" y="7910"/>
                <a:ext cx="660" cy="2211"/>
                <a:chOff x="14084" y="7910"/>
                <a:chExt cx="660" cy="2211"/>
              </a:xfrm>
              <a:grpFill/>
            </p:grpSpPr>
            <p:sp>
              <p:nvSpPr>
                <p:cNvPr id="461" name="矩形 460"/>
                <p:cNvSpPr/>
                <p:nvPr/>
              </p:nvSpPr>
              <p:spPr>
                <a:xfrm>
                  <a:off x="14084" y="8711"/>
                  <a:ext cx="660" cy="1411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cxnSp>
              <p:nvCxnSpPr>
                <p:cNvPr id="462" name="直接箭头连接符 461"/>
                <p:cNvCxnSpPr>
                  <a:stCxn id="461" idx="0"/>
                </p:cNvCxnSpPr>
                <p:nvPr/>
              </p:nvCxnSpPr>
              <p:spPr>
                <a:xfrm flipH="1" flipV="1">
                  <a:off x="14403" y="7910"/>
                  <a:ext cx="0" cy="801"/>
                </a:xfrm>
                <a:prstGeom prst="straightConnector1">
                  <a:avLst/>
                </a:prstGeom>
                <a:grpFill/>
                <a:ln w="6350">
                  <a:solidFill>
                    <a:schemeClr val="tx1"/>
                  </a:solidFill>
                  <a:tailEnd type="arrow" w="sm" len="med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63" name="椭圆 462"/>
              <p:cNvSpPr/>
              <p:nvPr/>
            </p:nvSpPr>
            <p:spPr>
              <a:xfrm>
                <a:off x="14355" y="9341"/>
                <a:ext cx="119" cy="119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464" name="组合 463"/>
            <p:cNvGrpSpPr/>
            <p:nvPr/>
          </p:nvGrpSpPr>
          <p:grpSpPr>
            <a:xfrm>
              <a:off x="11549" y="5315"/>
              <a:ext cx="193" cy="192"/>
              <a:chOff x="7747" y="9660"/>
              <a:chExt cx="176" cy="192"/>
            </a:xfrm>
          </p:grpSpPr>
          <p:sp>
            <p:nvSpPr>
              <p:cNvPr id="465" name="椭圆 464"/>
              <p:cNvSpPr/>
              <p:nvPr/>
            </p:nvSpPr>
            <p:spPr>
              <a:xfrm>
                <a:off x="7747" y="9660"/>
                <a:ext cx="176" cy="192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66" name="椭圆 465"/>
              <p:cNvSpPr/>
              <p:nvPr>
                <p:custDataLst>
                  <p:tags r:id="rId33"/>
                </p:custDataLst>
              </p:nvPr>
            </p:nvSpPr>
            <p:spPr>
              <a:xfrm>
                <a:off x="7812" y="9724"/>
                <a:ext cx="57" cy="57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68" name="文本框 467"/>
                <p:cNvSpPr txBox="1"/>
                <p:nvPr/>
              </p:nvSpPr>
              <p:spPr>
                <a:xfrm>
                  <a:off x="12002" y="4680"/>
                  <a:ext cx="1385" cy="483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altLang="zh-CN" sz="1400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x</m:t>
                        </m:r>
                        <m:r>
                          <a:rPr lang="en-US" altLang="zh-CN" sz="1400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CN" sz="1400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y</m:t>
                        </m:r>
                        <m:r>
                          <a:rPr lang="en-US" altLang="zh-CN" sz="1400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CN" sz="1400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z</m:t>
                        </m:r>
                        <m:r>
                          <a:rPr lang="en-US" altLang="zh-CN" sz="1400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1400" i="1">
                                <a:latin typeface="Cambria Math" panose="02040503050406030204" charset="0"/>
                                <a:cs typeface="Cambria Math" panose="02040503050406030204" charset="0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lang="en-US" altLang="zh-CN" sz="1400" i="1">
                                <a:latin typeface="Cambria Math" panose="02040503050406030204" charset="0"/>
                                <a:cs typeface="Cambria Math" panose="02040503050406030204" charset="0"/>
                                <a:sym typeface="+mn-ea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sz="1400" i="1">
                                <a:latin typeface="Cambria Math" panose="02040503050406030204" charset="0"/>
                                <a:cs typeface="Cambria Math" panose="02040503050406030204" charset="0"/>
                                <a:sym typeface="+mn-ea"/>
                              </a:rPr>
                              <m:t>𝑧</m:t>
                            </m:r>
                          </m:sub>
                        </m:sSub>
                        <m:r>
                          <a:rPr lang="en-US" altLang="zh-CN" sz="1400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)</m:t>
                        </m:r>
                      </m:oMath>
                    </m:oMathPara>
                  </a14:m>
                  <a:endParaRPr lang="en-US" altLang="zh-CN" sz="1400">
                    <a:latin typeface="Cambria Math" panose="02040503050406030204" charset="0"/>
                    <a:cs typeface="Cambria Math" panose="02040503050406030204" charset="0"/>
                    <a:sym typeface="+mn-ea"/>
                  </a:endParaRPr>
                </a:p>
              </p:txBody>
            </p:sp>
          </mc:Choice>
          <mc:Fallback>
            <p:sp>
              <p:nvSpPr>
                <p:cNvPr id="468" name="文本框 46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02" y="4680"/>
                  <a:ext cx="1385" cy="483"/>
                </a:xfrm>
                <a:prstGeom prst="rect">
                  <a:avLst/>
                </a:prstGeom>
                <a:blipFill rotWithShape="1">
                  <a:blip r:embed="rId3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矩形 227"/>
          <p:cNvSpPr/>
          <p:nvPr/>
        </p:nvSpPr>
        <p:spPr>
          <a:xfrm>
            <a:off x="2160905" y="4424680"/>
            <a:ext cx="6749415" cy="179197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1600">
              <a:sym typeface="+mn-ea"/>
            </a:endParaRPr>
          </a:p>
        </p:txBody>
      </p:sp>
      <p:sp>
        <p:nvSpPr>
          <p:cNvPr id="229" name="圆角矩形 228"/>
          <p:cNvSpPr/>
          <p:nvPr/>
        </p:nvSpPr>
        <p:spPr>
          <a:xfrm>
            <a:off x="2283460" y="6333490"/>
            <a:ext cx="6441440" cy="433705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 sz="1600">
              <a:solidFill>
                <a:schemeClr val="tx1">
                  <a:lumMod val="50000"/>
                  <a:lumOff val="50000"/>
                </a:schemeClr>
              </a:solidFill>
              <a:sym typeface="+mn-ea"/>
            </a:endParaRPr>
          </a:p>
        </p:txBody>
      </p:sp>
      <p:sp>
        <p:nvSpPr>
          <p:cNvPr id="230" name="文本框 229"/>
          <p:cNvSpPr txBox="1"/>
          <p:nvPr/>
        </p:nvSpPr>
        <p:spPr>
          <a:xfrm>
            <a:off x="32068" y="4222115"/>
            <a:ext cx="1764665" cy="3352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/>
              <a:t>Initial Seeds</a:t>
            </a:r>
            <a:endParaRPr lang="en-US" altLang="zh-CN" b="1"/>
          </a:p>
        </p:txBody>
      </p:sp>
      <p:sp>
        <p:nvSpPr>
          <p:cNvPr id="231" name="文本框 230"/>
          <p:cNvSpPr txBox="1"/>
          <p:nvPr/>
        </p:nvSpPr>
        <p:spPr>
          <a:xfrm>
            <a:off x="32703" y="2411730"/>
            <a:ext cx="17659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/>
              <a:t>Test data</a:t>
            </a:r>
            <a:endParaRPr lang="en-US" altLang="zh-CN" b="1"/>
          </a:p>
        </p:txBody>
      </p:sp>
      <p:sp>
        <p:nvSpPr>
          <p:cNvPr id="232" name="文本框 231"/>
          <p:cNvSpPr txBox="1"/>
          <p:nvPr/>
        </p:nvSpPr>
        <p:spPr>
          <a:xfrm>
            <a:off x="32385" y="6021705"/>
            <a:ext cx="17665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/>
              <a:t>Seed Queue</a:t>
            </a:r>
            <a:endParaRPr lang="en-US" altLang="zh-CN" b="1"/>
          </a:p>
        </p:txBody>
      </p:sp>
      <p:sp>
        <p:nvSpPr>
          <p:cNvPr id="233" name="右箭头 232"/>
          <p:cNvSpPr/>
          <p:nvPr/>
        </p:nvSpPr>
        <p:spPr>
          <a:xfrm>
            <a:off x="1560195" y="5424805"/>
            <a:ext cx="433070" cy="29718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34" name="肘形连接符 233"/>
          <p:cNvCxnSpPr>
            <a:stCxn id="295" idx="3"/>
            <a:endCxn id="232" idx="2"/>
          </p:cNvCxnSpPr>
          <p:nvPr/>
        </p:nvCxnSpPr>
        <p:spPr>
          <a:xfrm flipH="1">
            <a:off x="915670" y="5002530"/>
            <a:ext cx="17006570" cy="1387475"/>
          </a:xfrm>
          <a:prstGeom prst="bentConnector4">
            <a:avLst>
              <a:gd name="adj1" fmla="val -1400"/>
              <a:gd name="adj2" fmla="val 178169"/>
            </a:avLst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5" name="直接箭头连接符 234"/>
          <p:cNvCxnSpPr/>
          <p:nvPr/>
        </p:nvCxnSpPr>
        <p:spPr>
          <a:xfrm>
            <a:off x="901700" y="2835910"/>
            <a:ext cx="0" cy="4680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直接箭头连接符 235"/>
          <p:cNvCxnSpPr/>
          <p:nvPr/>
        </p:nvCxnSpPr>
        <p:spPr>
          <a:xfrm>
            <a:off x="901700" y="4630420"/>
            <a:ext cx="0" cy="4680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7" name="图片 236" descr="队列-copy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0855" y="5220335"/>
            <a:ext cx="801370" cy="801370"/>
          </a:xfrm>
          <a:prstGeom prst="rect">
            <a:avLst/>
          </a:prstGeom>
        </p:spPr>
      </p:pic>
      <p:sp>
        <p:nvSpPr>
          <p:cNvPr id="238" name="矩形 237"/>
          <p:cNvSpPr/>
          <p:nvPr/>
        </p:nvSpPr>
        <p:spPr>
          <a:xfrm>
            <a:off x="2165350" y="2288540"/>
            <a:ext cx="6750050" cy="1961515"/>
          </a:xfrm>
          <a:prstGeom prst="rect">
            <a:avLst/>
          </a:prstGeom>
          <a:noFill/>
          <a:ln w="28575" cmpd="dbl">
            <a:solidFill>
              <a:schemeClr val="tx1"/>
            </a:solidFill>
            <a:prstDash val="lgDash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0" name="圆角矩形 239"/>
          <p:cNvSpPr/>
          <p:nvPr/>
        </p:nvSpPr>
        <p:spPr>
          <a:xfrm>
            <a:off x="6725482" y="5061040"/>
            <a:ext cx="1764000" cy="432000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241" name="圆角矩形 240"/>
          <p:cNvSpPr/>
          <p:nvPr/>
        </p:nvSpPr>
        <p:spPr>
          <a:xfrm>
            <a:off x="2495112" y="5698664"/>
            <a:ext cx="1764000" cy="432000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242" name="圆角矩形 241"/>
          <p:cNvSpPr/>
          <p:nvPr/>
        </p:nvSpPr>
        <p:spPr>
          <a:xfrm>
            <a:off x="4628077" y="5061040"/>
            <a:ext cx="1764000" cy="432000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243" name="圆角矩形 242"/>
          <p:cNvSpPr/>
          <p:nvPr/>
        </p:nvSpPr>
        <p:spPr>
          <a:xfrm>
            <a:off x="4628077" y="5698664"/>
            <a:ext cx="1764000" cy="432000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244" name="圆角矩形 243"/>
          <p:cNvSpPr/>
          <p:nvPr/>
        </p:nvSpPr>
        <p:spPr>
          <a:xfrm>
            <a:off x="6726752" y="5698664"/>
            <a:ext cx="1764000" cy="432000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245" name="圆角矩形 244"/>
          <p:cNvSpPr/>
          <p:nvPr/>
        </p:nvSpPr>
        <p:spPr>
          <a:xfrm>
            <a:off x="2503805" y="5061875"/>
            <a:ext cx="1764030" cy="431165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Vehicle</a:t>
            </a: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sp>
        <p:nvSpPr>
          <p:cNvPr id="246" name="矩形 245"/>
          <p:cNvSpPr/>
          <p:nvPr/>
        </p:nvSpPr>
        <p:spPr>
          <a:xfrm>
            <a:off x="2503805" y="5035550"/>
            <a:ext cx="1764030" cy="431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2">
                    <a:lumMod val="95000"/>
                  </a:schemeClr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sp>
        <p:nvSpPr>
          <p:cNvPr id="247" name="文本框 246"/>
          <p:cNvSpPr txBox="1"/>
          <p:nvPr/>
        </p:nvSpPr>
        <p:spPr>
          <a:xfrm>
            <a:off x="2494915" y="5708650"/>
            <a:ext cx="1764030" cy="4318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>
                <a:sym typeface="+mn-ea"/>
              </a:rPr>
              <a:t>Vegetation</a:t>
            </a:r>
            <a:endParaRPr lang="en-US" altLang="zh-CN">
              <a:sym typeface="+mn-ea"/>
            </a:endParaRPr>
          </a:p>
        </p:txBody>
      </p:sp>
      <p:sp>
        <p:nvSpPr>
          <p:cNvPr id="248" name="文本框 247"/>
          <p:cNvSpPr txBox="1"/>
          <p:nvPr/>
        </p:nvSpPr>
        <p:spPr>
          <a:xfrm>
            <a:off x="4627880" y="5708650"/>
            <a:ext cx="1764030" cy="4318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>
                <a:sym typeface="+mn-ea"/>
              </a:rPr>
              <a:t>Animal</a:t>
            </a:r>
            <a:endParaRPr lang="en-US" altLang="zh-CN">
              <a:sym typeface="+mn-ea"/>
            </a:endParaRPr>
          </a:p>
        </p:txBody>
      </p:sp>
      <p:sp>
        <p:nvSpPr>
          <p:cNvPr id="249" name="文本框 248"/>
          <p:cNvSpPr txBox="1"/>
          <p:nvPr/>
        </p:nvSpPr>
        <p:spPr>
          <a:xfrm>
            <a:off x="6726555" y="5708650"/>
            <a:ext cx="1764030" cy="4318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>
                <a:sym typeface="+mn-ea"/>
              </a:rPr>
              <a:t>Others</a:t>
            </a:r>
            <a:endParaRPr lang="en-US" altLang="zh-CN">
              <a:sym typeface="+mn-ea"/>
            </a:endParaRPr>
          </a:p>
        </p:txBody>
      </p:sp>
      <p:sp>
        <p:nvSpPr>
          <p:cNvPr id="250" name="文本框 249"/>
          <p:cNvSpPr txBox="1"/>
          <p:nvPr/>
        </p:nvSpPr>
        <p:spPr>
          <a:xfrm>
            <a:off x="4627880" y="5076825"/>
            <a:ext cx="1764030" cy="4318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>
                <a:sym typeface="+mn-ea"/>
              </a:rPr>
              <a:t>Person</a:t>
            </a:r>
            <a:endParaRPr lang="en-US" altLang="zh-CN">
              <a:sym typeface="+mn-ea"/>
            </a:endParaRPr>
          </a:p>
        </p:txBody>
      </p:sp>
      <p:sp>
        <p:nvSpPr>
          <p:cNvPr id="251" name="文本框 250"/>
          <p:cNvSpPr txBox="1"/>
          <p:nvPr/>
        </p:nvSpPr>
        <p:spPr>
          <a:xfrm>
            <a:off x="6725285" y="5078095"/>
            <a:ext cx="1764030" cy="4318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zh-CN" altLang="en-US">
                <a:sym typeface="+mn-ea"/>
              </a:rPr>
              <a:t>Infrastructure</a:t>
            </a:r>
            <a:endParaRPr lang="zh-CN" altLang="en-US">
              <a:sym typeface="+mn-ea"/>
            </a:endParaRPr>
          </a:p>
        </p:txBody>
      </p:sp>
      <p:sp>
        <p:nvSpPr>
          <p:cNvPr id="252" name="文本框 251"/>
          <p:cNvSpPr txBox="1"/>
          <p:nvPr/>
        </p:nvSpPr>
        <p:spPr>
          <a:xfrm>
            <a:off x="2338705" y="6355080"/>
            <a:ext cx="6381750" cy="4337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>
                <a:sym typeface="+mn-ea"/>
              </a:rPr>
              <a:t>Entity </a:t>
            </a:r>
            <a:r>
              <a:rPr lang="en-US" altLang="zh-CN" b="1">
                <a:sym typeface="+mn-ea"/>
              </a:rPr>
              <a:t>Database</a:t>
            </a:r>
            <a:endParaRPr lang="en-US" altLang="zh-CN" b="1">
              <a:sym typeface="+mn-ea"/>
            </a:endParaRPr>
          </a:p>
        </p:txBody>
      </p:sp>
      <p:sp>
        <p:nvSpPr>
          <p:cNvPr id="253" name="矩形 252"/>
          <p:cNvSpPr/>
          <p:nvPr/>
        </p:nvSpPr>
        <p:spPr>
          <a:xfrm>
            <a:off x="2513965" y="2832100"/>
            <a:ext cx="3590925" cy="459740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1600">
              <a:sym typeface="+mn-ea"/>
            </a:endParaRPr>
          </a:p>
        </p:txBody>
      </p:sp>
      <p:sp>
        <p:nvSpPr>
          <p:cNvPr id="254" name="矩形 253"/>
          <p:cNvSpPr/>
          <p:nvPr/>
        </p:nvSpPr>
        <p:spPr>
          <a:xfrm>
            <a:off x="9201785" y="1367155"/>
            <a:ext cx="8847455" cy="2395855"/>
          </a:xfrm>
          <a:prstGeom prst="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5" name="文本框 254"/>
          <p:cNvSpPr txBox="1"/>
          <p:nvPr/>
        </p:nvSpPr>
        <p:spPr>
          <a:xfrm>
            <a:off x="9201150" y="1356360"/>
            <a:ext cx="8662035" cy="3956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buClrTx/>
              <a:buSzTx/>
              <a:buFontTx/>
            </a:pPr>
            <a:r>
              <a:rPr lang="en-US" altLang="zh-CN" sz="2400" b="1"/>
              <a:t>Semantic-Aware LiDAR Simulation</a:t>
            </a:r>
            <a:endParaRPr lang="en-US" altLang="zh-CN" sz="2400" b="1"/>
          </a:p>
        </p:txBody>
      </p:sp>
      <p:sp>
        <p:nvSpPr>
          <p:cNvPr id="258" name="矩形 257"/>
          <p:cNvSpPr/>
          <p:nvPr/>
        </p:nvSpPr>
        <p:spPr>
          <a:xfrm>
            <a:off x="2505075" y="3725545"/>
            <a:ext cx="3590925" cy="459740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1600">
              <a:sym typeface="+mn-ea"/>
            </a:endParaRPr>
          </a:p>
        </p:txBody>
      </p:sp>
      <p:sp>
        <p:nvSpPr>
          <p:cNvPr id="260" name="右大括号 259"/>
          <p:cNvSpPr/>
          <p:nvPr/>
        </p:nvSpPr>
        <p:spPr>
          <a:xfrm>
            <a:off x="6256020" y="3044190"/>
            <a:ext cx="75565" cy="863600"/>
          </a:xfrm>
          <a:prstGeom prst="rightBrac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1" name="矩形 260"/>
          <p:cNvSpPr/>
          <p:nvPr/>
        </p:nvSpPr>
        <p:spPr>
          <a:xfrm>
            <a:off x="9323070" y="3992245"/>
            <a:ext cx="8726805" cy="2631440"/>
          </a:xfrm>
          <a:prstGeom prst="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2" name="矩形 261"/>
          <p:cNvSpPr/>
          <p:nvPr/>
        </p:nvSpPr>
        <p:spPr>
          <a:xfrm>
            <a:off x="9322435" y="1816735"/>
            <a:ext cx="2728595" cy="168529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1600">
              <a:sym typeface="+mn-ea"/>
            </a:endParaRPr>
          </a:p>
        </p:txBody>
      </p:sp>
      <p:sp>
        <p:nvSpPr>
          <p:cNvPr id="263" name="圆角矩形 262"/>
          <p:cNvSpPr/>
          <p:nvPr/>
        </p:nvSpPr>
        <p:spPr>
          <a:xfrm>
            <a:off x="9400540" y="2275205"/>
            <a:ext cx="2520000" cy="540000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t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264" name="矩形 263"/>
          <p:cNvSpPr/>
          <p:nvPr/>
        </p:nvSpPr>
        <p:spPr>
          <a:xfrm>
            <a:off x="12278995" y="1816100"/>
            <a:ext cx="2728595" cy="168529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1600">
              <a:sym typeface="+mn-ea"/>
            </a:endParaRPr>
          </a:p>
        </p:txBody>
      </p:sp>
      <p:sp>
        <p:nvSpPr>
          <p:cNvPr id="265" name="圆角矩形 264"/>
          <p:cNvSpPr/>
          <p:nvPr/>
        </p:nvSpPr>
        <p:spPr>
          <a:xfrm>
            <a:off x="9400540" y="2872105"/>
            <a:ext cx="2520000" cy="540000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t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266" name="文本框 265"/>
          <p:cNvSpPr txBox="1"/>
          <p:nvPr/>
        </p:nvSpPr>
        <p:spPr>
          <a:xfrm>
            <a:off x="9400540" y="2924175"/>
            <a:ext cx="2519680" cy="443865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600">
                <a:sym typeface="+mn-ea"/>
              </a:rPr>
              <a:t>Sensor Specification</a:t>
            </a:r>
            <a:endParaRPr lang="en-US" altLang="zh-CN" sz="1600">
              <a:sym typeface="+mn-ea"/>
            </a:endParaRPr>
          </a:p>
        </p:txBody>
      </p:sp>
      <p:sp>
        <p:nvSpPr>
          <p:cNvPr id="267" name="文本框 266"/>
          <p:cNvSpPr txBox="1"/>
          <p:nvPr/>
        </p:nvSpPr>
        <p:spPr>
          <a:xfrm>
            <a:off x="9400540" y="2342515"/>
            <a:ext cx="2522855" cy="460375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p>
            <a:pPr algn="ctr"/>
            <a:r>
              <a:rPr lang="en-US" altLang="zh-CN" sz="1600">
                <a:sym typeface="+mn-ea"/>
              </a:rPr>
              <a:t>Beam Generation</a:t>
            </a:r>
            <a:endParaRPr lang="en-US" altLang="zh-CN" sz="1600">
              <a:sym typeface="+mn-ea"/>
            </a:endParaRPr>
          </a:p>
        </p:txBody>
      </p:sp>
      <p:sp>
        <p:nvSpPr>
          <p:cNvPr id="268" name="文本框 267"/>
          <p:cNvSpPr txBox="1"/>
          <p:nvPr/>
        </p:nvSpPr>
        <p:spPr>
          <a:xfrm>
            <a:off x="9321800" y="1840230"/>
            <a:ext cx="2729230" cy="2305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>
                <a:sym typeface="+mn-ea"/>
              </a:rPr>
              <a:t>Virtual LiDAR Setup</a:t>
            </a:r>
            <a:endParaRPr lang="en-US" altLang="zh-CN" b="1">
              <a:sym typeface="+mn-ea"/>
            </a:endParaRPr>
          </a:p>
        </p:txBody>
      </p:sp>
      <p:sp>
        <p:nvSpPr>
          <p:cNvPr id="269" name="文本框 268"/>
          <p:cNvSpPr txBox="1"/>
          <p:nvPr/>
        </p:nvSpPr>
        <p:spPr>
          <a:xfrm>
            <a:off x="12278995" y="1815465"/>
            <a:ext cx="2727325" cy="4438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>
                <a:sym typeface="+mn-ea"/>
              </a:rPr>
              <a:t>Beam Propagatio</a:t>
            </a:r>
            <a:r>
              <a:rPr lang="zh-CN" altLang="en-US" b="1">
                <a:sym typeface="+mn-ea"/>
              </a:rPr>
              <a:t>n</a:t>
            </a:r>
            <a:endParaRPr lang="en-US" altLang="zh-CN" b="1">
              <a:sym typeface="+mn-ea"/>
            </a:endParaRPr>
          </a:p>
        </p:txBody>
      </p:sp>
      <p:sp>
        <p:nvSpPr>
          <p:cNvPr id="270" name="圆角矩形 269"/>
          <p:cNvSpPr/>
          <p:nvPr/>
        </p:nvSpPr>
        <p:spPr>
          <a:xfrm>
            <a:off x="12409805" y="2275205"/>
            <a:ext cx="2520000" cy="540000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t" anchorCtr="0" forceAA="0" compatLnSpc="1">
            <a:noAutofit/>
          </a:bodyPr>
          <a:p>
            <a:pPr lvl="0" algn="ctr">
              <a:lnSpc>
                <a:spcPct val="120000"/>
              </a:lnSpc>
              <a:buClrTx/>
              <a:buSzTx/>
              <a:buFontTx/>
            </a:pPr>
            <a:r>
              <a:rPr lang="en-US" altLang="zh-CN" sz="1600">
                <a:solidFill>
                  <a:schemeClr val="tx1"/>
                </a:solidFill>
                <a:sym typeface="+mn-ea"/>
              </a:rPr>
              <a:t>Range Computation</a:t>
            </a:r>
            <a:endParaRPr lang="en-US" altLang="zh-CN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271" name="圆角矩形 270"/>
          <p:cNvSpPr/>
          <p:nvPr/>
        </p:nvSpPr>
        <p:spPr>
          <a:xfrm>
            <a:off x="12409805" y="2872105"/>
            <a:ext cx="2520000" cy="540000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t" anchorCtr="0" forceAA="0" compatLnSpc="1">
            <a:noAutofit/>
          </a:bodyPr>
          <a:p>
            <a:pPr lvl="0" algn="ctr">
              <a:lnSpc>
                <a:spcPct val="120000"/>
              </a:lnSpc>
              <a:buClrTx/>
              <a:buSzTx/>
              <a:buFontTx/>
            </a:pPr>
            <a:r>
              <a:rPr lang="zh-CN" altLang="en-US" sz="1600">
                <a:sym typeface="+mn-ea"/>
              </a:rPr>
              <a:t>Reflectivity Modeling</a:t>
            </a:r>
            <a:endParaRPr lang="en-US" altLang="zh-CN" sz="1600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272" name="直接箭头连接符 271"/>
          <p:cNvCxnSpPr/>
          <p:nvPr/>
        </p:nvCxnSpPr>
        <p:spPr>
          <a:xfrm>
            <a:off x="11999595" y="2750820"/>
            <a:ext cx="332105" cy="0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73" name="矩形 272"/>
          <p:cNvSpPr/>
          <p:nvPr/>
        </p:nvSpPr>
        <p:spPr>
          <a:xfrm>
            <a:off x="15134590" y="1816735"/>
            <a:ext cx="2728595" cy="168529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1600">
              <a:sym typeface="+mn-ea"/>
            </a:endParaRPr>
          </a:p>
        </p:txBody>
      </p:sp>
      <p:sp>
        <p:nvSpPr>
          <p:cNvPr id="274" name="文本框 273"/>
          <p:cNvSpPr txBox="1"/>
          <p:nvPr/>
        </p:nvSpPr>
        <p:spPr>
          <a:xfrm>
            <a:off x="15135860" y="1898650"/>
            <a:ext cx="2727325" cy="4438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b="1">
                <a:sym typeface="+mn-ea"/>
              </a:rPr>
              <a:t>Entity Integration</a:t>
            </a:r>
            <a:endParaRPr lang="en-US" altLang="zh-CN" b="1">
              <a:sym typeface="+mn-ea"/>
            </a:endParaRPr>
          </a:p>
        </p:txBody>
      </p:sp>
      <p:sp>
        <p:nvSpPr>
          <p:cNvPr id="275" name="文本框 274"/>
          <p:cNvSpPr txBox="1"/>
          <p:nvPr/>
        </p:nvSpPr>
        <p:spPr>
          <a:xfrm>
            <a:off x="15294610" y="2275205"/>
            <a:ext cx="2255520" cy="3943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endParaRPr lang="zh-CN" altLang="en-US"/>
          </a:p>
        </p:txBody>
      </p:sp>
      <p:sp>
        <p:nvSpPr>
          <p:cNvPr id="276" name="圆角矩形 275"/>
          <p:cNvSpPr/>
          <p:nvPr/>
        </p:nvSpPr>
        <p:spPr>
          <a:xfrm>
            <a:off x="15266670" y="2275205"/>
            <a:ext cx="2520000" cy="540000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t" anchorCtr="0" forceAA="0" compatLnSpc="1">
            <a:noAutofit/>
          </a:bodyPr>
          <a:p>
            <a:pPr lvl="0" algn="ctr">
              <a:lnSpc>
                <a:spcPct val="120000"/>
              </a:lnSpc>
              <a:buClrTx/>
              <a:buSzTx/>
              <a:buFontTx/>
            </a:pPr>
            <a:r>
              <a:rPr lang="zh-CN" altLang="en-US" sz="1600">
                <a:sym typeface="+mn-ea"/>
              </a:rPr>
              <a:t>Occlusion Handling</a:t>
            </a:r>
            <a:endParaRPr lang="en-US" altLang="zh-CN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277" name="圆角矩形 276"/>
          <p:cNvSpPr/>
          <p:nvPr/>
        </p:nvSpPr>
        <p:spPr>
          <a:xfrm>
            <a:off x="15294610" y="2872105"/>
            <a:ext cx="2520000" cy="540000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t" anchorCtr="0" forceAA="0" compatLnSpc="1">
            <a:noAutofit/>
          </a:bodyPr>
          <a:p>
            <a:pPr lvl="0" algn="ctr">
              <a:lnSpc>
                <a:spcPct val="120000"/>
              </a:lnSpc>
              <a:buClrTx/>
              <a:buSzTx/>
              <a:buFontTx/>
            </a:pPr>
            <a:r>
              <a:rPr lang="en-US" altLang="zh-CN" sz="1600">
                <a:sym typeface="+mn-ea"/>
              </a:rPr>
              <a:t>Point Clou</a:t>
            </a:r>
            <a:r>
              <a:rPr lang="en-US" altLang="zh-CN" sz="1600">
                <a:sym typeface="+mn-ea"/>
              </a:rPr>
              <a:t>d Generation</a:t>
            </a:r>
            <a:endParaRPr lang="en-US" altLang="zh-CN" sz="1600">
              <a:sym typeface="+mn-ea"/>
            </a:endParaRPr>
          </a:p>
        </p:txBody>
      </p:sp>
      <p:sp>
        <p:nvSpPr>
          <p:cNvPr id="278" name="文本框 277"/>
          <p:cNvSpPr txBox="1"/>
          <p:nvPr/>
        </p:nvSpPr>
        <p:spPr>
          <a:xfrm>
            <a:off x="9401175" y="4063365"/>
            <a:ext cx="8385810" cy="5403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 sz="2400" b="1">
                <a:sym typeface="+mn-ea"/>
              </a:rPr>
              <a:t>Semantic-Diversity Guided Testing</a:t>
            </a:r>
            <a:endParaRPr lang="en-US" altLang="zh-CN" sz="2400" b="1">
              <a:sym typeface="+mn-ea"/>
            </a:endParaRPr>
          </a:p>
        </p:txBody>
      </p:sp>
      <p:sp>
        <p:nvSpPr>
          <p:cNvPr id="279" name="圆角矩形 278"/>
          <p:cNvSpPr/>
          <p:nvPr>
            <p:custDataLst>
              <p:tags r:id="rId3"/>
            </p:custDataLst>
          </p:nvPr>
        </p:nvSpPr>
        <p:spPr>
          <a:xfrm>
            <a:off x="11025505" y="4542155"/>
            <a:ext cx="5048885" cy="1824990"/>
          </a:xfrm>
          <a:prstGeom prst="roundRect">
            <a:avLst>
              <a:gd name="adj" fmla="val 5234"/>
            </a:avLst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80" name="334E55B0-647D-440b-865C-3EC943EB4CBC-8" descr="/Users/gaoxinyu/Library/Containers/com.kingsoft.wpsoffice.mac/Data/tmp/wpsoffice.cEbuJowpsoffic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0615" y="5419090"/>
            <a:ext cx="2155190" cy="636905"/>
          </a:xfrm>
          <a:prstGeom prst="rect">
            <a:avLst/>
          </a:prstGeom>
        </p:spPr>
      </p:pic>
      <p:sp>
        <p:nvSpPr>
          <p:cNvPr id="281" name="文本框 280"/>
          <p:cNvSpPr txBox="1"/>
          <p:nvPr>
            <p:custDataLst>
              <p:tags r:id="rId5"/>
            </p:custDataLst>
          </p:nvPr>
        </p:nvSpPr>
        <p:spPr>
          <a:xfrm>
            <a:off x="11090275" y="4542155"/>
            <a:ext cx="4983480" cy="6623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600" b="1">
                <a:sym typeface="+mn-ea"/>
              </a:rPr>
              <a:t>Diversity</a:t>
            </a:r>
            <a:r>
              <a:rPr lang="en-US" altLang="zh-CN" sz="1600" b="1"/>
              <a:t> Guidance</a:t>
            </a:r>
            <a:r>
              <a:rPr lang="en-US" altLang="zh-CN" sz="1600"/>
              <a:t> : </a:t>
            </a:r>
            <a:r>
              <a:rPr lang="zh-CN" altLang="en-US" sz="1600">
                <a:sym typeface="+mn-ea"/>
              </a:rPr>
              <a:t>Measuring the </a:t>
            </a:r>
            <a:r>
              <a:rPr lang="en-US" altLang="zh-CN" sz="1600">
                <a:sym typeface="+mn-ea"/>
              </a:rPr>
              <a:t>diversity </a:t>
            </a:r>
            <a:r>
              <a:rPr lang="zh-CN" altLang="en-US" sz="1600">
                <a:sym typeface="+mn-ea"/>
              </a:rPr>
              <a:t>of </a:t>
            </a:r>
            <a:r>
              <a:rPr lang="en-US" altLang="zh-CN" sz="1600">
                <a:sym typeface="+mn-ea"/>
              </a:rPr>
              <a:t>generate point cloud S</a:t>
            </a:r>
            <a:endParaRPr lang="en-US" altLang="zh-CN" sz="1600">
              <a:sym typeface="+mn-ea"/>
            </a:endParaRPr>
          </a:p>
        </p:txBody>
      </p:sp>
      <p:grpSp>
        <p:nvGrpSpPr>
          <p:cNvPr id="282" name="组合 281"/>
          <p:cNvGrpSpPr/>
          <p:nvPr/>
        </p:nvGrpSpPr>
        <p:grpSpPr>
          <a:xfrm>
            <a:off x="13491210" y="5170596"/>
            <a:ext cx="2372103" cy="975298"/>
            <a:chOff x="2806" y="-6735"/>
            <a:chExt cx="6271" cy="2677"/>
          </a:xfrm>
        </p:grpSpPr>
        <p:sp>
          <p:nvSpPr>
            <p:cNvPr id="283" name="椭圆 282"/>
            <p:cNvSpPr/>
            <p:nvPr/>
          </p:nvSpPr>
          <p:spPr>
            <a:xfrm>
              <a:off x="2806" y="-6735"/>
              <a:ext cx="6271" cy="2677"/>
            </a:xfrm>
            <a:prstGeom prst="ellipse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pic>
          <p:nvPicPr>
            <p:cNvPr id="284" name="图片 283" descr="交通标志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400" y="-6233"/>
              <a:ext cx="1154" cy="1154"/>
            </a:xfrm>
            <a:prstGeom prst="rect">
              <a:avLst/>
            </a:prstGeom>
          </p:spPr>
        </p:pic>
        <p:pic>
          <p:nvPicPr>
            <p:cNvPr id="285" name="图片 284" descr="步行"/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965" y="-5830"/>
              <a:ext cx="853" cy="853"/>
            </a:xfrm>
            <a:prstGeom prst="rect">
              <a:avLst/>
            </a:prstGeom>
          </p:spPr>
        </p:pic>
        <p:pic>
          <p:nvPicPr>
            <p:cNvPr id="286" name="图片 285" descr="_汽车票"/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6415" y="-6449"/>
              <a:ext cx="918" cy="918"/>
            </a:xfrm>
            <a:prstGeom prst="rect">
              <a:avLst/>
            </a:prstGeom>
          </p:spPr>
        </p:pic>
        <p:pic>
          <p:nvPicPr>
            <p:cNvPr id="287" name="图片 286" descr="步行"/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578" y="-5364"/>
              <a:ext cx="725" cy="725"/>
            </a:xfrm>
            <a:prstGeom prst="rect">
              <a:avLst/>
            </a:prstGeom>
          </p:spPr>
        </p:pic>
        <p:pic>
          <p:nvPicPr>
            <p:cNvPr id="288" name="图片 287" descr="_汽车票"/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7333" y="-6158"/>
              <a:ext cx="918" cy="918"/>
            </a:xfrm>
            <a:prstGeom prst="rect">
              <a:avLst/>
            </a:prstGeom>
          </p:spPr>
        </p:pic>
        <p:pic>
          <p:nvPicPr>
            <p:cNvPr id="289" name="图片 288" descr="_汽车票"/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6415" y="-5531"/>
              <a:ext cx="918" cy="918"/>
            </a:xfrm>
            <a:prstGeom prst="rect">
              <a:avLst/>
            </a:prstGeom>
          </p:spPr>
        </p:pic>
        <p:pic>
          <p:nvPicPr>
            <p:cNvPr id="290" name="图片 289" descr="交通标志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063" y="-5577"/>
              <a:ext cx="1154" cy="1154"/>
            </a:xfrm>
            <a:prstGeom prst="rect">
              <a:avLst/>
            </a:prstGeom>
          </p:spPr>
        </p:pic>
        <p:pic>
          <p:nvPicPr>
            <p:cNvPr id="291" name="图片 290" descr="自行车-母婴"/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4978" y="-6688"/>
              <a:ext cx="1105" cy="1110"/>
            </a:xfrm>
            <a:prstGeom prst="rect">
              <a:avLst/>
            </a:prstGeom>
          </p:spPr>
        </p:pic>
      </p:grpSp>
      <p:pic>
        <p:nvPicPr>
          <p:cNvPr id="292" name="图片 291" descr="测试用例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834880" y="4725670"/>
            <a:ext cx="693420" cy="693420"/>
          </a:xfrm>
          <a:prstGeom prst="rect">
            <a:avLst/>
          </a:prstGeom>
        </p:spPr>
      </p:pic>
      <p:sp>
        <p:nvSpPr>
          <p:cNvPr id="293" name="文本框 292"/>
          <p:cNvSpPr txBox="1"/>
          <p:nvPr/>
        </p:nvSpPr>
        <p:spPr>
          <a:xfrm>
            <a:off x="9401175" y="5374640"/>
            <a:ext cx="158242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600" b="1"/>
              <a:t>Transformed</a:t>
            </a:r>
            <a:endParaRPr lang="en-US" altLang="zh-CN" sz="1600" b="1"/>
          </a:p>
          <a:p>
            <a:pPr algn="ctr"/>
            <a:r>
              <a:rPr lang="en-US" altLang="zh-CN" sz="1600" b="1"/>
              <a:t>point cloud</a:t>
            </a:r>
            <a:endParaRPr lang="en-US" altLang="zh-CN" sz="1600" b="1"/>
          </a:p>
        </p:txBody>
      </p:sp>
      <p:cxnSp>
        <p:nvCxnSpPr>
          <p:cNvPr id="294" name="直接箭头连接符 293"/>
          <p:cNvCxnSpPr>
            <a:stCxn id="292" idx="3"/>
          </p:cNvCxnSpPr>
          <p:nvPr/>
        </p:nvCxnSpPr>
        <p:spPr>
          <a:xfrm>
            <a:off x="10528300" y="5072380"/>
            <a:ext cx="45783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95" name="菱形 294"/>
          <p:cNvSpPr/>
          <p:nvPr/>
        </p:nvSpPr>
        <p:spPr>
          <a:xfrm>
            <a:off x="16353155" y="4711700"/>
            <a:ext cx="1569085" cy="581025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000">
              <a:solidFill>
                <a:schemeClr val="tx1"/>
              </a:solidFill>
            </a:endParaRPr>
          </a:p>
        </p:txBody>
      </p:sp>
      <p:sp>
        <p:nvSpPr>
          <p:cNvPr id="296" name="流程图: 过程 295"/>
          <p:cNvSpPr/>
          <p:nvPr>
            <p:custDataLst>
              <p:tags r:id="rId16"/>
            </p:custDataLst>
          </p:nvPr>
        </p:nvSpPr>
        <p:spPr>
          <a:xfrm>
            <a:off x="16589375" y="5958205"/>
            <a:ext cx="1069975" cy="401320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Discarded</a:t>
            </a:r>
            <a:endParaRPr lang="en-US" altLang="zh-CN" sz="1200">
              <a:solidFill>
                <a:schemeClr val="tx1"/>
              </a:solidFill>
            </a:endParaRPr>
          </a:p>
        </p:txBody>
      </p:sp>
      <p:cxnSp>
        <p:nvCxnSpPr>
          <p:cNvPr id="297" name="直接箭头连接符 296"/>
          <p:cNvCxnSpPr>
            <a:stCxn id="295" idx="2"/>
            <a:endCxn id="296" idx="0"/>
          </p:cNvCxnSpPr>
          <p:nvPr/>
        </p:nvCxnSpPr>
        <p:spPr>
          <a:xfrm flipH="1">
            <a:off x="17124680" y="5292725"/>
            <a:ext cx="13335" cy="66548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98" name="文本框 297"/>
          <p:cNvSpPr txBox="1"/>
          <p:nvPr/>
        </p:nvSpPr>
        <p:spPr>
          <a:xfrm>
            <a:off x="17296130" y="5424805"/>
            <a:ext cx="42037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000"/>
              <a:t>N</a:t>
            </a:r>
            <a:endParaRPr lang="en-US" altLang="zh-CN" sz="1000"/>
          </a:p>
        </p:txBody>
      </p:sp>
      <p:sp>
        <p:nvSpPr>
          <p:cNvPr id="299" name="文本框 298"/>
          <p:cNvSpPr txBox="1"/>
          <p:nvPr>
            <p:custDataLst>
              <p:tags r:id="rId17"/>
            </p:custDataLst>
          </p:nvPr>
        </p:nvSpPr>
        <p:spPr>
          <a:xfrm>
            <a:off x="18514060" y="7453630"/>
            <a:ext cx="42037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000"/>
              <a:t>Y</a:t>
            </a:r>
            <a:endParaRPr lang="en-US" altLang="zh-CN" sz="1000"/>
          </a:p>
        </p:txBody>
      </p:sp>
      <p:sp>
        <p:nvSpPr>
          <p:cNvPr id="300" name="文本框 299"/>
          <p:cNvSpPr txBox="1"/>
          <p:nvPr>
            <p:custDataLst>
              <p:tags r:id="rId18"/>
            </p:custDataLst>
          </p:nvPr>
        </p:nvSpPr>
        <p:spPr>
          <a:xfrm>
            <a:off x="16640175" y="4850765"/>
            <a:ext cx="1076325" cy="2762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Increased?</a:t>
            </a:r>
            <a:endParaRPr lang="zh-CN" altLang="en-US" sz="1200"/>
          </a:p>
        </p:txBody>
      </p:sp>
      <p:cxnSp>
        <p:nvCxnSpPr>
          <p:cNvPr id="301" name="直接箭头连接符 300"/>
          <p:cNvCxnSpPr>
            <a:endCxn id="295" idx="1"/>
          </p:cNvCxnSpPr>
          <p:nvPr/>
        </p:nvCxnSpPr>
        <p:spPr>
          <a:xfrm>
            <a:off x="16066135" y="5002530"/>
            <a:ext cx="28702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02" name="文本框 301"/>
          <p:cNvSpPr txBox="1"/>
          <p:nvPr/>
        </p:nvSpPr>
        <p:spPr>
          <a:xfrm>
            <a:off x="9706610" y="6717030"/>
            <a:ext cx="234442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Add seeds back to the queue</a:t>
            </a:r>
            <a:endParaRPr lang="en-US" altLang="zh-CN" sz="1200"/>
          </a:p>
        </p:txBody>
      </p:sp>
      <p:sp>
        <p:nvSpPr>
          <p:cNvPr id="303" name="文本框 302"/>
          <p:cNvSpPr txBox="1"/>
          <p:nvPr/>
        </p:nvSpPr>
        <p:spPr>
          <a:xfrm>
            <a:off x="18635980" y="2351405"/>
            <a:ext cx="14116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/>
              <a:t>Test dataset</a:t>
            </a:r>
            <a:endParaRPr lang="en-US" altLang="zh-CN" b="1"/>
          </a:p>
        </p:txBody>
      </p:sp>
      <p:grpSp>
        <p:nvGrpSpPr>
          <p:cNvPr id="304" name="组合 303"/>
          <p:cNvGrpSpPr/>
          <p:nvPr/>
        </p:nvGrpSpPr>
        <p:grpSpPr>
          <a:xfrm>
            <a:off x="18931255" y="1432560"/>
            <a:ext cx="902335" cy="862965"/>
            <a:chOff x="2244" y="177"/>
            <a:chExt cx="960" cy="960"/>
          </a:xfrm>
        </p:grpSpPr>
        <p:pic>
          <p:nvPicPr>
            <p:cNvPr id="305" name="图片 304" descr="24gl-fileEmpty"/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2244" y="177"/>
              <a:ext cx="960" cy="960"/>
            </a:xfrm>
            <a:prstGeom prst="rect">
              <a:avLst/>
            </a:prstGeom>
          </p:spPr>
        </p:pic>
        <p:pic>
          <p:nvPicPr>
            <p:cNvPr id="306" name="图片 305" descr="点云数据"/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2412" y="506"/>
              <a:ext cx="671" cy="483"/>
            </a:xfrm>
            <a:prstGeom prst="rect">
              <a:avLst/>
            </a:prstGeom>
          </p:spPr>
        </p:pic>
      </p:grpSp>
      <p:cxnSp>
        <p:nvCxnSpPr>
          <p:cNvPr id="307" name="直接箭头连接符 306"/>
          <p:cNvCxnSpPr/>
          <p:nvPr/>
        </p:nvCxnSpPr>
        <p:spPr>
          <a:xfrm>
            <a:off x="18092420" y="1864360"/>
            <a:ext cx="83883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8" name="直接箭头连接符 307"/>
          <p:cNvCxnSpPr>
            <a:stCxn id="303" idx="2"/>
          </p:cNvCxnSpPr>
          <p:nvPr/>
        </p:nvCxnSpPr>
        <p:spPr>
          <a:xfrm>
            <a:off x="19342100" y="2996565"/>
            <a:ext cx="0" cy="37147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09" name="图片 308" descr="激光雷达"/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8773140" y="3418840"/>
            <a:ext cx="1085850" cy="1085850"/>
          </a:xfrm>
          <a:prstGeom prst="rect">
            <a:avLst/>
          </a:prstGeom>
        </p:spPr>
      </p:pic>
      <p:sp>
        <p:nvSpPr>
          <p:cNvPr id="310" name="文本框 309"/>
          <p:cNvSpPr txBox="1"/>
          <p:nvPr/>
        </p:nvSpPr>
        <p:spPr>
          <a:xfrm>
            <a:off x="18324830" y="4476115"/>
            <a:ext cx="1906905" cy="4438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 sz="1400" b="1">
                <a:sym typeface="+mn-ea"/>
              </a:rPr>
              <a:t>LiDAR-based </a:t>
            </a:r>
            <a:endParaRPr lang="en-US" altLang="zh-CN" sz="1400" b="1">
              <a:sym typeface="+mn-ea"/>
            </a:endParaRPr>
          </a:p>
          <a:p>
            <a:pPr algn="ctr"/>
            <a:r>
              <a:rPr lang="en-US" altLang="zh-CN" sz="1400" b="1">
                <a:sym typeface="+mn-ea"/>
              </a:rPr>
              <a:t>perception system</a:t>
            </a:r>
            <a:endParaRPr lang="en-US" altLang="zh-CN" sz="1400" b="1">
              <a:sym typeface="+mn-ea"/>
            </a:endParaRPr>
          </a:p>
        </p:txBody>
      </p:sp>
      <p:cxnSp>
        <p:nvCxnSpPr>
          <p:cNvPr id="311" name="直接箭头连接符 310"/>
          <p:cNvCxnSpPr/>
          <p:nvPr/>
        </p:nvCxnSpPr>
        <p:spPr>
          <a:xfrm>
            <a:off x="19367500" y="4996180"/>
            <a:ext cx="0" cy="37846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12" name="图片 311" descr="测试报告"/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8931255" y="5500370"/>
            <a:ext cx="828040" cy="828040"/>
          </a:xfrm>
          <a:prstGeom prst="rect">
            <a:avLst/>
          </a:prstGeom>
        </p:spPr>
      </p:pic>
      <p:sp>
        <p:nvSpPr>
          <p:cNvPr id="313" name="文本框 312"/>
          <p:cNvSpPr txBox="1"/>
          <p:nvPr/>
        </p:nvSpPr>
        <p:spPr>
          <a:xfrm>
            <a:off x="18451830" y="6388100"/>
            <a:ext cx="1716405" cy="4438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 sz="1400" b="1">
                <a:sym typeface="+mn-ea"/>
              </a:rPr>
              <a:t>Test </a:t>
            </a:r>
            <a:endParaRPr lang="en-US" altLang="zh-CN" sz="1400" b="1">
              <a:sym typeface="+mn-ea"/>
            </a:endParaRPr>
          </a:p>
          <a:p>
            <a:pPr algn="ctr"/>
            <a:r>
              <a:rPr lang="en-US" altLang="zh-CN" sz="1400" b="1">
                <a:sym typeface="+mn-ea"/>
              </a:rPr>
              <a:t>Report</a:t>
            </a:r>
            <a:endParaRPr lang="en-US" altLang="zh-CN" sz="1400" b="1">
              <a:sym typeface="+mn-ea"/>
            </a:endParaRPr>
          </a:p>
        </p:txBody>
      </p:sp>
      <p:sp>
        <p:nvSpPr>
          <p:cNvPr id="314" name="文本框 313"/>
          <p:cNvSpPr txBox="1"/>
          <p:nvPr/>
        </p:nvSpPr>
        <p:spPr>
          <a:xfrm>
            <a:off x="2338705" y="2283460"/>
            <a:ext cx="4396105" cy="4337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400" b="1">
                <a:sym typeface="+mn-ea"/>
              </a:rPr>
              <a:t>Pose Generation</a:t>
            </a:r>
            <a:endParaRPr lang="en-US" altLang="zh-CN" sz="2000" b="1">
              <a:sym typeface="+mn-ea"/>
            </a:endParaRPr>
          </a:p>
        </p:txBody>
      </p:sp>
      <p:grpSp>
        <p:nvGrpSpPr>
          <p:cNvPr id="315" name="组合 314"/>
          <p:cNvGrpSpPr/>
          <p:nvPr/>
        </p:nvGrpSpPr>
        <p:grpSpPr>
          <a:xfrm>
            <a:off x="422910" y="1436370"/>
            <a:ext cx="935990" cy="975360"/>
            <a:chOff x="873" y="721"/>
            <a:chExt cx="1360" cy="1360"/>
          </a:xfrm>
        </p:grpSpPr>
        <p:pic>
          <p:nvPicPr>
            <p:cNvPr id="316" name="图片 315" descr="点云数据"/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1208" y="1220"/>
              <a:ext cx="692" cy="488"/>
            </a:xfrm>
            <a:prstGeom prst="rect">
              <a:avLst/>
            </a:prstGeom>
          </p:spPr>
        </p:pic>
        <p:pic>
          <p:nvPicPr>
            <p:cNvPr id="317" name="图片 316" descr="数据集"/>
            <p:cNvPicPr>
              <a:picLocks noChangeAspect="1"/>
            </p:cNvPicPr>
            <p:nvPr/>
          </p:nvPicPr>
          <p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873" y="721"/>
              <a:ext cx="1360" cy="1360"/>
            </a:xfrm>
            <a:prstGeom prst="rect">
              <a:avLst/>
            </a:prstGeom>
          </p:spPr>
        </p:pic>
      </p:grpSp>
      <p:grpSp>
        <p:nvGrpSpPr>
          <p:cNvPr id="318" name="组合 317"/>
          <p:cNvGrpSpPr/>
          <p:nvPr/>
        </p:nvGrpSpPr>
        <p:grpSpPr>
          <a:xfrm>
            <a:off x="490855" y="3387090"/>
            <a:ext cx="838835" cy="862330"/>
            <a:chOff x="873" y="3352"/>
            <a:chExt cx="1260" cy="1234"/>
          </a:xfrm>
        </p:grpSpPr>
        <p:pic>
          <p:nvPicPr>
            <p:cNvPr id="319" name="图片 318" descr="24gl-fileEmpty"/>
            <p:cNvPicPr>
              <a:picLocks noChangeAspect="1"/>
            </p:cNvPicPr>
            <p:nvPr>
              <p:custDataLst>
                <p:tags r:id="rId30"/>
              </p:custDataLst>
            </p:nvPr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873" y="3352"/>
              <a:ext cx="1261" cy="1235"/>
            </a:xfrm>
            <a:prstGeom prst="rect">
              <a:avLst/>
            </a:prstGeom>
          </p:spPr>
        </p:pic>
        <p:pic>
          <p:nvPicPr>
            <p:cNvPr id="320" name="图片 319" descr="点云数据"/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1168" y="3783"/>
              <a:ext cx="692" cy="488"/>
            </a:xfrm>
            <a:prstGeom prst="rect">
              <a:avLst/>
            </a:prstGeom>
          </p:spPr>
        </p:pic>
      </p:grpSp>
      <p:sp>
        <p:nvSpPr>
          <p:cNvPr id="321" name="文本框 320"/>
          <p:cNvSpPr txBox="1"/>
          <p:nvPr/>
        </p:nvSpPr>
        <p:spPr>
          <a:xfrm>
            <a:off x="2292985" y="1610360"/>
            <a:ext cx="64325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400" b="1">
                <a:sym typeface="+mn-ea"/>
              </a:rPr>
              <a:t>Semantic Entity Insertion Operator</a:t>
            </a:r>
            <a:endParaRPr lang="en-US" altLang="zh-CN" sz="2400" b="1">
              <a:sym typeface="+mn-ea"/>
            </a:endParaRPr>
          </a:p>
        </p:txBody>
      </p:sp>
      <p:sp>
        <p:nvSpPr>
          <p:cNvPr id="322" name="矩形 321"/>
          <p:cNvSpPr/>
          <p:nvPr/>
        </p:nvSpPr>
        <p:spPr>
          <a:xfrm>
            <a:off x="1993900" y="1437005"/>
            <a:ext cx="7072630" cy="5555615"/>
          </a:xfrm>
          <a:prstGeom prst="rect">
            <a:avLst/>
          </a:prstGeom>
          <a:noFill/>
          <a:ln w="28575" cmpd="dbl">
            <a:solidFill>
              <a:schemeClr val="tx1"/>
            </a:solidFill>
            <a:prstDash val="lgDash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4" name="文本框 323"/>
          <p:cNvSpPr txBox="1"/>
          <p:nvPr/>
        </p:nvSpPr>
        <p:spPr>
          <a:xfrm>
            <a:off x="2283460" y="4476115"/>
            <a:ext cx="64325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400" b="1">
                <a:sym typeface="+mn-ea"/>
              </a:rPr>
              <a:t>Entity </a:t>
            </a:r>
            <a:r>
              <a:rPr lang="en-US" altLang="zh-CN" sz="2400" b="1">
                <a:sym typeface="+mn-ea"/>
              </a:rPr>
              <a:t>Operator</a:t>
            </a:r>
            <a:endParaRPr lang="en-US" altLang="zh-CN" sz="2400" b="1">
              <a:sym typeface="+mn-ea"/>
            </a:endParaRPr>
          </a:p>
        </p:txBody>
      </p:sp>
      <p:sp>
        <p:nvSpPr>
          <p:cNvPr id="325" name="文本框 324"/>
          <p:cNvSpPr txBox="1"/>
          <p:nvPr/>
        </p:nvSpPr>
        <p:spPr>
          <a:xfrm>
            <a:off x="2504440" y="3787140"/>
            <a:ext cx="3590290" cy="4311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600" b="1">
                <a:sym typeface="+mn-ea"/>
              </a:rPr>
              <a:t>Semantic Constraints</a:t>
            </a:r>
            <a:endParaRPr lang="en-US" altLang="zh-CN" sz="1600" b="1"/>
          </a:p>
        </p:txBody>
      </p:sp>
      <p:sp>
        <p:nvSpPr>
          <p:cNvPr id="326" name="文本框 325"/>
          <p:cNvSpPr txBox="1"/>
          <p:nvPr/>
        </p:nvSpPr>
        <p:spPr>
          <a:xfrm>
            <a:off x="2513330" y="2893695"/>
            <a:ext cx="3590290" cy="4311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600" b="1">
                <a:sym typeface="+mn-ea"/>
              </a:rPr>
              <a:t>Spatial Constraints</a:t>
            </a:r>
            <a:endParaRPr lang="en-US" altLang="zh-CN" sz="1600" b="1"/>
          </a:p>
        </p:txBody>
      </p:sp>
      <p:grpSp>
        <p:nvGrpSpPr>
          <p:cNvPr id="328" name="组合 327"/>
          <p:cNvGrpSpPr/>
          <p:nvPr/>
        </p:nvGrpSpPr>
        <p:grpSpPr>
          <a:xfrm>
            <a:off x="6704965" y="2693670"/>
            <a:ext cx="2155190" cy="1093470"/>
            <a:chOff x="10606" y="4579"/>
            <a:chExt cx="3394" cy="1722"/>
          </a:xfrm>
        </p:grpSpPr>
        <p:sp>
          <p:nvSpPr>
            <p:cNvPr id="256" name="文本框 255"/>
            <p:cNvSpPr txBox="1"/>
            <p:nvPr/>
          </p:nvSpPr>
          <p:spPr>
            <a:xfrm>
              <a:off x="10606" y="5623"/>
              <a:ext cx="3394" cy="67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n-US" altLang="zh-CN" sz="1600" b="1"/>
                <a:t>Physically and Semantic </a:t>
              </a:r>
              <a:r>
                <a:rPr lang="en-US" altLang="zh-CN" sz="1600" b="1"/>
                <a:t>Plausible </a:t>
              </a:r>
              <a:r>
                <a:rPr lang="en-US" altLang="zh-CN" sz="1600" b="1"/>
                <a:t>Pose</a:t>
              </a:r>
              <a:endParaRPr lang="en-US" altLang="zh-CN" sz="1600" b="1"/>
            </a:p>
          </p:txBody>
        </p:sp>
        <p:pic>
          <p:nvPicPr>
            <p:cNvPr id="458" name="图片 457" descr="平面直角坐标系"/>
            <p:cNvPicPr>
              <a:picLocks noChangeAspect="1"/>
            </p:cNvPicPr>
            <p:nvPr/>
          </p:nvPicPr>
          <p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p:blipFill>
          <p:spPr>
            <a:xfrm>
              <a:off x="11468" y="4579"/>
              <a:ext cx="968" cy="983"/>
            </a:xfrm>
            <a:prstGeom prst="rect">
              <a:avLst/>
            </a:prstGeom>
          </p:spPr>
        </p:pic>
        <p:grpSp>
          <p:nvGrpSpPr>
            <p:cNvPr id="459" name="组合 458"/>
            <p:cNvGrpSpPr/>
            <p:nvPr/>
          </p:nvGrpSpPr>
          <p:grpSpPr>
            <a:xfrm rot="18960000">
              <a:off x="11911" y="4720"/>
              <a:ext cx="117" cy="524"/>
              <a:chOff x="14084" y="7910"/>
              <a:chExt cx="660" cy="2210"/>
            </a:xfrm>
            <a:solidFill>
              <a:schemeClr val="accent1">
                <a:lumMod val="75000"/>
              </a:schemeClr>
            </a:solidFill>
          </p:grpSpPr>
          <p:grpSp>
            <p:nvGrpSpPr>
              <p:cNvPr id="460" name="组合 459"/>
              <p:cNvGrpSpPr/>
              <p:nvPr/>
            </p:nvGrpSpPr>
            <p:grpSpPr>
              <a:xfrm>
                <a:off x="14084" y="7910"/>
                <a:ext cx="660" cy="2211"/>
                <a:chOff x="14084" y="7910"/>
                <a:chExt cx="660" cy="2211"/>
              </a:xfrm>
              <a:grpFill/>
            </p:grpSpPr>
            <p:sp>
              <p:nvSpPr>
                <p:cNvPr id="461" name="矩形 460"/>
                <p:cNvSpPr/>
                <p:nvPr/>
              </p:nvSpPr>
              <p:spPr>
                <a:xfrm>
                  <a:off x="14084" y="8711"/>
                  <a:ext cx="660" cy="1411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cxnSp>
              <p:nvCxnSpPr>
                <p:cNvPr id="462" name="直接箭头连接符 461"/>
                <p:cNvCxnSpPr>
                  <a:stCxn id="461" idx="0"/>
                </p:cNvCxnSpPr>
                <p:nvPr/>
              </p:nvCxnSpPr>
              <p:spPr>
                <a:xfrm flipH="1" flipV="1">
                  <a:off x="14403" y="7910"/>
                  <a:ext cx="0" cy="801"/>
                </a:xfrm>
                <a:prstGeom prst="straightConnector1">
                  <a:avLst/>
                </a:prstGeom>
                <a:grpFill/>
                <a:ln w="6350">
                  <a:solidFill>
                    <a:schemeClr val="tx1"/>
                  </a:solidFill>
                  <a:tailEnd type="arrow" w="sm" len="med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63" name="椭圆 462"/>
              <p:cNvSpPr/>
              <p:nvPr/>
            </p:nvSpPr>
            <p:spPr>
              <a:xfrm>
                <a:off x="14355" y="9341"/>
                <a:ext cx="119" cy="119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464" name="组合 463"/>
            <p:cNvGrpSpPr/>
            <p:nvPr/>
          </p:nvGrpSpPr>
          <p:grpSpPr>
            <a:xfrm>
              <a:off x="11549" y="5315"/>
              <a:ext cx="193" cy="192"/>
              <a:chOff x="7747" y="9660"/>
              <a:chExt cx="176" cy="192"/>
            </a:xfrm>
          </p:grpSpPr>
          <p:sp>
            <p:nvSpPr>
              <p:cNvPr id="465" name="椭圆 464"/>
              <p:cNvSpPr/>
              <p:nvPr/>
            </p:nvSpPr>
            <p:spPr>
              <a:xfrm>
                <a:off x="7747" y="9660"/>
                <a:ext cx="176" cy="192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66" name="椭圆 465"/>
              <p:cNvSpPr/>
              <p:nvPr>
                <p:custDataLst>
                  <p:tags r:id="rId33"/>
                </p:custDataLst>
              </p:nvPr>
            </p:nvSpPr>
            <p:spPr>
              <a:xfrm>
                <a:off x="7812" y="9724"/>
                <a:ext cx="57" cy="57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68" name="文本框 467"/>
                <p:cNvSpPr txBox="1"/>
                <p:nvPr/>
              </p:nvSpPr>
              <p:spPr>
                <a:xfrm>
                  <a:off x="12002" y="4680"/>
                  <a:ext cx="1385" cy="483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altLang="zh-CN" sz="1400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x</m:t>
                        </m:r>
                        <m:r>
                          <a:rPr lang="en-US" altLang="zh-CN" sz="1400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CN" sz="1400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y</m:t>
                        </m:r>
                        <m:r>
                          <a:rPr lang="en-US" altLang="zh-CN" sz="1400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CN" sz="1400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z</m:t>
                        </m:r>
                        <m:r>
                          <a:rPr lang="en-US" altLang="zh-CN" sz="1400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1400" i="1">
                                <a:latin typeface="Cambria Math" panose="02040503050406030204" charset="0"/>
                                <a:cs typeface="Cambria Math" panose="02040503050406030204" charset="0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lang="en-US" altLang="zh-CN" sz="1400" i="1">
                                <a:latin typeface="Cambria Math" panose="02040503050406030204" charset="0"/>
                                <a:cs typeface="Cambria Math" panose="02040503050406030204" charset="0"/>
                                <a:sym typeface="+mn-ea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sz="1400" i="1">
                                <a:latin typeface="Cambria Math" panose="02040503050406030204" charset="0"/>
                                <a:cs typeface="Cambria Math" panose="02040503050406030204" charset="0"/>
                                <a:sym typeface="+mn-ea"/>
                              </a:rPr>
                              <m:t>𝑧</m:t>
                            </m:r>
                          </m:sub>
                        </m:sSub>
                        <m:r>
                          <a:rPr lang="en-US" altLang="zh-CN" sz="1400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)</m:t>
                        </m:r>
                      </m:oMath>
                    </m:oMathPara>
                  </a14:m>
                  <a:endParaRPr lang="en-US" altLang="zh-CN" sz="1400">
                    <a:latin typeface="Cambria Math" panose="02040503050406030204" charset="0"/>
                    <a:cs typeface="Cambria Math" panose="02040503050406030204" charset="0"/>
                    <a:sym typeface="+mn-ea"/>
                  </a:endParaRPr>
                </a:p>
              </p:txBody>
            </p:sp>
          </mc:Choice>
          <mc:Fallback>
            <p:sp>
              <p:nvSpPr>
                <p:cNvPr id="468" name="文本框 46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02" y="4680"/>
                  <a:ext cx="1385" cy="483"/>
                </a:xfrm>
                <a:prstGeom prst="rect">
                  <a:avLst/>
                </a:prstGeom>
                <a:blipFill rotWithShape="1">
                  <a:blip r:embed="rId3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矩形 227"/>
          <p:cNvSpPr/>
          <p:nvPr/>
        </p:nvSpPr>
        <p:spPr>
          <a:xfrm>
            <a:off x="2170430" y="4122420"/>
            <a:ext cx="6749415" cy="274129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1600">
              <a:sym typeface="+mn-ea"/>
            </a:endParaRPr>
          </a:p>
        </p:txBody>
      </p:sp>
      <p:sp>
        <p:nvSpPr>
          <p:cNvPr id="229" name="圆角矩形 228"/>
          <p:cNvSpPr/>
          <p:nvPr/>
        </p:nvSpPr>
        <p:spPr>
          <a:xfrm>
            <a:off x="2505710" y="6146165"/>
            <a:ext cx="5995035" cy="460375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 sz="1600">
              <a:solidFill>
                <a:schemeClr val="tx1">
                  <a:lumMod val="50000"/>
                  <a:lumOff val="50000"/>
                </a:schemeClr>
              </a:solidFill>
              <a:sym typeface="+mn-ea"/>
            </a:endParaRPr>
          </a:p>
        </p:txBody>
      </p:sp>
      <p:sp>
        <p:nvSpPr>
          <p:cNvPr id="230" name="文本框 229"/>
          <p:cNvSpPr txBox="1"/>
          <p:nvPr/>
        </p:nvSpPr>
        <p:spPr>
          <a:xfrm>
            <a:off x="32068" y="4222115"/>
            <a:ext cx="1764665" cy="3352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/>
              <a:t>Initial Seeds</a:t>
            </a:r>
            <a:endParaRPr lang="en-US" altLang="zh-CN" b="1"/>
          </a:p>
        </p:txBody>
      </p:sp>
      <p:sp>
        <p:nvSpPr>
          <p:cNvPr id="231" name="文本框 230"/>
          <p:cNvSpPr txBox="1"/>
          <p:nvPr/>
        </p:nvSpPr>
        <p:spPr>
          <a:xfrm>
            <a:off x="32703" y="2411730"/>
            <a:ext cx="17659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/>
              <a:t>Test data</a:t>
            </a:r>
            <a:endParaRPr lang="en-US" altLang="zh-CN" b="1"/>
          </a:p>
        </p:txBody>
      </p:sp>
      <p:sp>
        <p:nvSpPr>
          <p:cNvPr id="232" name="文本框 231"/>
          <p:cNvSpPr txBox="1"/>
          <p:nvPr/>
        </p:nvSpPr>
        <p:spPr>
          <a:xfrm>
            <a:off x="32385" y="6021705"/>
            <a:ext cx="17665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/>
              <a:t>Seed Queue</a:t>
            </a:r>
            <a:endParaRPr lang="en-US" altLang="zh-CN" b="1"/>
          </a:p>
        </p:txBody>
      </p:sp>
      <p:sp>
        <p:nvSpPr>
          <p:cNvPr id="233" name="右箭头 232"/>
          <p:cNvSpPr/>
          <p:nvPr/>
        </p:nvSpPr>
        <p:spPr>
          <a:xfrm>
            <a:off x="1560195" y="5424805"/>
            <a:ext cx="433070" cy="29718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34" name="肘形连接符 233"/>
          <p:cNvCxnSpPr>
            <a:stCxn id="295" idx="3"/>
            <a:endCxn id="232" idx="2"/>
          </p:cNvCxnSpPr>
          <p:nvPr/>
        </p:nvCxnSpPr>
        <p:spPr>
          <a:xfrm flipH="1">
            <a:off x="915670" y="5002530"/>
            <a:ext cx="17006570" cy="1387475"/>
          </a:xfrm>
          <a:prstGeom prst="bentConnector4">
            <a:avLst>
              <a:gd name="adj1" fmla="val -1400"/>
              <a:gd name="adj2" fmla="val 178169"/>
            </a:avLst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5" name="直接箭头连接符 234"/>
          <p:cNvCxnSpPr/>
          <p:nvPr/>
        </p:nvCxnSpPr>
        <p:spPr>
          <a:xfrm>
            <a:off x="901700" y="2835910"/>
            <a:ext cx="0" cy="4680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直接箭头连接符 235"/>
          <p:cNvCxnSpPr/>
          <p:nvPr/>
        </p:nvCxnSpPr>
        <p:spPr>
          <a:xfrm>
            <a:off x="901700" y="4630420"/>
            <a:ext cx="0" cy="4680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7" name="图片 236" descr="队列-copy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0855" y="5220335"/>
            <a:ext cx="801370" cy="801370"/>
          </a:xfrm>
          <a:prstGeom prst="rect">
            <a:avLst/>
          </a:prstGeom>
        </p:spPr>
      </p:pic>
      <p:sp>
        <p:nvSpPr>
          <p:cNvPr id="238" name="矩形 237"/>
          <p:cNvSpPr/>
          <p:nvPr/>
        </p:nvSpPr>
        <p:spPr>
          <a:xfrm>
            <a:off x="2165350" y="1596390"/>
            <a:ext cx="6748780" cy="2395855"/>
          </a:xfrm>
          <a:prstGeom prst="rect">
            <a:avLst/>
          </a:prstGeom>
          <a:noFill/>
          <a:ln w="28575" cmpd="dbl">
            <a:solidFill>
              <a:schemeClr val="tx1"/>
            </a:solidFill>
            <a:prstDash val="lgDash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9" name="文本框 238"/>
          <p:cNvSpPr txBox="1"/>
          <p:nvPr/>
        </p:nvSpPr>
        <p:spPr>
          <a:xfrm>
            <a:off x="2292985" y="4177665"/>
            <a:ext cx="64325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400" b="1">
                <a:sym typeface="+mn-ea"/>
              </a:rPr>
              <a:t>Entity Operator</a:t>
            </a:r>
            <a:endParaRPr lang="en-US" altLang="zh-CN" sz="2400" b="1">
              <a:sym typeface="+mn-ea"/>
            </a:endParaRPr>
          </a:p>
        </p:txBody>
      </p:sp>
      <p:sp>
        <p:nvSpPr>
          <p:cNvPr id="240" name="圆角矩形 239"/>
          <p:cNvSpPr/>
          <p:nvPr/>
        </p:nvSpPr>
        <p:spPr>
          <a:xfrm>
            <a:off x="6736277" y="4746715"/>
            <a:ext cx="1764000" cy="432000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241" name="圆角矩形 240"/>
          <p:cNvSpPr/>
          <p:nvPr/>
        </p:nvSpPr>
        <p:spPr>
          <a:xfrm>
            <a:off x="2505907" y="5384339"/>
            <a:ext cx="1764000" cy="432000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242" name="圆角矩形 241"/>
          <p:cNvSpPr/>
          <p:nvPr/>
        </p:nvSpPr>
        <p:spPr>
          <a:xfrm>
            <a:off x="4638872" y="4746715"/>
            <a:ext cx="1764000" cy="432000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243" name="圆角矩形 242"/>
          <p:cNvSpPr/>
          <p:nvPr/>
        </p:nvSpPr>
        <p:spPr>
          <a:xfrm>
            <a:off x="4638872" y="5384339"/>
            <a:ext cx="1764000" cy="432000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244" name="圆角矩形 243"/>
          <p:cNvSpPr/>
          <p:nvPr/>
        </p:nvSpPr>
        <p:spPr>
          <a:xfrm>
            <a:off x="6737547" y="5384339"/>
            <a:ext cx="1764000" cy="432000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245" name="圆角矩形 244"/>
          <p:cNvSpPr/>
          <p:nvPr/>
        </p:nvSpPr>
        <p:spPr>
          <a:xfrm>
            <a:off x="2514600" y="4747550"/>
            <a:ext cx="1764030" cy="431165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Vehicle</a:t>
            </a: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sp>
        <p:nvSpPr>
          <p:cNvPr id="246" name="矩形 245"/>
          <p:cNvSpPr/>
          <p:nvPr/>
        </p:nvSpPr>
        <p:spPr>
          <a:xfrm>
            <a:off x="2514600" y="4721225"/>
            <a:ext cx="1764030" cy="431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2">
                    <a:lumMod val="95000"/>
                  </a:schemeClr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sp>
        <p:nvSpPr>
          <p:cNvPr id="247" name="文本框 246"/>
          <p:cNvSpPr txBox="1"/>
          <p:nvPr/>
        </p:nvSpPr>
        <p:spPr>
          <a:xfrm>
            <a:off x="2505710" y="5394325"/>
            <a:ext cx="1764030" cy="4318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>
                <a:sym typeface="+mn-ea"/>
              </a:rPr>
              <a:t>Vegetation</a:t>
            </a:r>
            <a:endParaRPr lang="en-US" altLang="zh-CN">
              <a:sym typeface="+mn-ea"/>
            </a:endParaRPr>
          </a:p>
        </p:txBody>
      </p:sp>
      <p:sp>
        <p:nvSpPr>
          <p:cNvPr id="248" name="文本框 247"/>
          <p:cNvSpPr txBox="1"/>
          <p:nvPr/>
        </p:nvSpPr>
        <p:spPr>
          <a:xfrm>
            <a:off x="4638675" y="5394325"/>
            <a:ext cx="1764030" cy="4318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>
                <a:sym typeface="+mn-ea"/>
              </a:rPr>
              <a:t>Animal</a:t>
            </a:r>
            <a:endParaRPr lang="en-US" altLang="zh-CN">
              <a:sym typeface="+mn-ea"/>
            </a:endParaRPr>
          </a:p>
        </p:txBody>
      </p:sp>
      <p:sp>
        <p:nvSpPr>
          <p:cNvPr id="249" name="文本框 248"/>
          <p:cNvSpPr txBox="1"/>
          <p:nvPr/>
        </p:nvSpPr>
        <p:spPr>
          <a:xfrm>
            <a:off x="6737350" y="5394325"/>
            <a:ext cx="1764030" cy="4318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>
                <a:sym typeface="+mn-ea"/>
              </a:rPr>
              <a:t>Others</a:t>
            </a:r>
            <a:endParaRPr lang="en-US" altLang="zh-CN">
              <a:sym typeface="+mn-ea"/>
            </a:endParaRPr>
          </a:p>
        </p:txBody>
      </p:sp>
      <p:sp>
        <p:nvSpPr>
          <p:cNvPr id="250" name="文本框 249"/>
          <p:cNvSpPr txBox="1"/>
          <p:nvPr/>
        </p:nvSpPr>
        <p:spPr>
          <a:xfrm>
            <a:off x="4638675" y="4762500"/>
            <a:ext cx="1764030" cy="4318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>
                <a:sym typeface="+mn-ea"/>
              </a:rPr>
              <a:t>Person</a:t>
            </a:r>
            <a:endParaRPr lang="en-US" altLang="zh-CN">
              <a:sym typeface="+mn-ea"/>
            </a:endParaRPr>
          </a:p>
        </p:txBody>
      </p:sp>
      <p:sp>
        <p:nvSpPr>
          <p:cNvPr id="251" name="文本框 250"/>
          <p:cNvSpPr txBox="1"/>
          <p:nvPr/>
        </p:nvSpPr>
        <p:spPr>
          <a:xfrm>
            <a:off x="6736080" y="4763770"/>
            <a:ext cx="1764030" cy="4318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zh-CN" altLang="en-US">
                <a:sym typeface="+mn-ea"/>
              </a:rPr>
              <a:t>Infrastructure</a:t>
            </a:r>
            <a:endParaRPr lang="zh-CN" altLang="en-US">
              <a:sym typeface="+mn-ea"/>
            </a:endParaRPr>
          </a:p>
        </p:txBody>
      </p:sp>
      <p:sp>
        <p:nvSpPr>
          <p:cNvPr id="252" name="文本框 251"/>
          <p:cNvSpPr txBox="1"/>
          <p:nvPr/>
        </p:nvSpPr>
        <p:spPr>
          <a:xfrm>
            <a:off x="2560955" y="6167755"/>
            <a:ext cx="5939155" cy="4603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>
                <a:sym typeface="+mn-ea"/>
              </a:rPr>
              <a:t>Entity </a:t>
            </a:r>
            <a:r>
              <a:rPr lang="en-US" altLang="zh-CN" b="1">
                <a:sym typeface="+mn-ea"/>
              </a:rPr>
              <a:t>Database</a:t>
            </a:r>
            <a:endParaRPr lang="en-US" altLang="zh-CN" b="1">
              <a:sym typeface="+mn-ea"/>
            </a:endParaRPr>
          </a:p>
        </p:txBody>
      </p:sp>
      <p:sp>
        <p:nvSpPr>
          <p:cNvPr id="253" name="矩形 252"/>
          <p:cNvSpPr/>
          <p:nvPr/>
        </p:nvSpPr>
        <p:spPr>
          <a:xfrm>
            <a:off x="2515235" y="2254250"/>
            <a:ext cx="3590925" cy="45974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1600">
              <a:sym typeface="+mn-ea"/>
            </a:endParaRPr>
          </a:p>
        </p:txBody>
      </p:sp>
      <p:sp>
        <p:nvSpPr>
          <p:cNvPr id="254" name="矩形 253"/>
          <p:cNvSpPr/>
          <p:nvPr/>
        </p:nvSpPr>
        <p:spPr>
          <a:xfrm>
            <a:off x="9201785" y="1367155"/>
            <a:ext cx="8847455" cy="2395855"/>
          </a:xfrm>
          <a:prstGeom prst="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5" name="文本框 254"/>
          <p:cNvSpPr txBox="1"/>
          <p:nvPr/>
        </p:nvSpPr>
        <p:spPr>
          <a:xfrm>
            <a:off x="9201150" y="1356360"/>
            <a:ext cx="8662035" cy="3956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buClrTx/>
              <a:buSzTx/>
              <a:buFontTx/>
            </a:pPr>
            <a:r>
              <a:rPr lang="en-US" altLang="zh-CN" sz="2400" b="1"/>
              <a:t>Semantic-Aware LiDAR Simulation</a:t>
            </a:r>
            <a:endParaRPr lang="en-US" altLang="zh-CN" sz="2400" b="1"/>
          </a:p>
        </p:txBody>
      </p:sp>
      <p:sp>
        <p:nvSpPr>
          <p:cNvPr id="256" name="文本框 255"/>
          <p:cNvSpPr txBox="1"/>
          <p:nvPr/>
        </p:nvSpPr>
        <p:spPr>
          <a:xfrm>
            <a:off x="7009130" y="3147695"/>
            <a:ext cx="1716405" cy="4311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600" b="1"/>
              <a:t>Physically </a:t>
            </a:r>
            <a:r>
              <a:rPr lang="en-US" altLang="zh-CN" sz="1600" b="1"/>
              <a:t>Plausible </a:t>
            </a:r>
            <a:r>
              <a:rPr lang="en-US" altLang="zh-CN" sz="1600" b="1"/>
              <a:t>Pose</a:t>
            </a:r>
            <a:endParaRPr lang="en-US" altLang="zh-CN" sz="1600" b="1"/>
          </a:p>
        </p:txBody>
      </p:sp>
      <p:sp>
        <p:nvSpPr>
          <p:cNvPr id="257" name="文本框 256"/>
          <p:cNvSpPr txBox="1"/>
          <p:nvPr/>
        </p:nvSpPr>
        <p:spPr>
          <a:xfrm>
            <a:off x="2514600" y="2315845"/>
            <a:ext cx="3590290" cy="4311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600" b="1">
                <a:sym typeface="+mn-ea"/>
              </a:rPr>
              <a:t>Spatial Constraints</a:t>
            </a:r>
            <a:endParaRPr lang="en-US" altLang="zh-CN" sz="1600" b="1"/>
          </a:p>
        </p:txBody>
      </p:sp>
      <p:sp>
        <p:nvSpPr>
          <p:cNvPr id="258" name="矩形 257"/>
          <p:cNvSpPr/>
          <p:nvPr/>
        </p:nvSpPr>
        <p:spPr>
          <a:xfrm>
            <a:off x="2506345" y="3147695"/>
            <a:ext cx="3590925" cy="45974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1600">
              <a:sym typeface="+mn-ea"/>
            </a:endParaRPr>
          </a:p>
        </p:txBody>
      </p:sp>
      <p:sp>
        <p:nvSpPr>
          <p:cNvPr id="259" name="文本框 258"/>
          <p:cNvSpPr txBox="1"/>
          <p:nvPr/>
        </p:nvSpPr>
        <p:spPr>
          <a:xfrm>
            <a:off x="2505710" y="3209290"/>
            <a:ext cx="3590290" cy="4311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600" b="1">
                <a:sym typeface="+mn-ea"/>
              </a:rPr>
              <a:t>Semantic Constraints</a:t>
            </a:r>
            <a:endParaRPr lang="en-US" altLang="zh-CN" sz="1600" b="1"/>
          </a:p>
        </p:txBody>
      </p:sp>
      <p:sp>
        <p:nvSpPr>
          <p:cNvPr id="260" name="右大括号 259"/>
          <p:cNvSpPr/>
          <p:nvPr/>
        </p:nvSpPr>
        <p:spPr>
          <a:xfrm>
            <a:off x="6257290" y="2466340"/>
            <a:ext cx="75565" cy="863600"/>
          </a:xfrm>
          <a:prstGeom prst="rightBrac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1" name="矩形 260"/>
          <p:cNvSpPr/>
          <p:nvPr/>
        </p:nvSpPr>
        <p:spPr>
          <a:xfrm>
            <a:off x="9323070" y="3992245"/>
            <a:ext cx="8726805" cy="2631440"/>
          </a:xfrm>
          <a:prstGeom prst="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2" name="矩形 261"/>
          <p:cNvSpPr/>
          <p:nvPr/>
        </p:nvSpPr>
        <p:spPr>
          <a:xfrm>
            <a:off x="9322435" y="1816735"/>
            <a:ext cx="2728595" cy="168529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1600">
              <a:sym typeface="+mn-ea"/>
            </a:endParaRPr>
          </a:p>
        </p:txBody>
      </p:sp>
      <p:sp>
        <p:nvSpPr>
          <p:cNvPr id="263" name="圆角矩形 262"/>
          <p:cNvSpPr/>
          <p:nvPr/>
        </p:nvSpPr>
        <p:spPr>
          <a:xfrm>
            <a:off x="9400540" y="2275205"/>
            <a:ext cx="2520000" cy="540000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t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264" name="矩形 263"/>
          <p:cNvSpPr/>
          <p:nvPr/>
        </p:nvSpPr>
        <p:spPr>
          <a:xfrm>
            <a:off x="12278995" y="1816100"/>
            <a:ext cx="2728595" cy="168529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1600">
              <a:sym typeface="+mn-ea"/>
            </a:endParaRPr>
          </a:p>
        </p:txBody>
      </p:sp>
      <p:sp>
        <p:nvSpPr>
          <p:cNvPr id="265" name="圆角矩形 264"/>
          <p:cNvSpPr/>
          <p:nvPr/>
        </p:nvSpPr>
        <p:spPr>
          <a:xfrm>
            <a:off x="9400540" y="2872105"/>
            <a:ext cx="2520000" cy="540000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t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266" name="文本框 265"/>
          <p:cNvSpPr txBox="1"/>
          <p:nvPr/>
        </p:nvSpPr>
        <p:spPr>
          <a:xfrm>
            <a:off x="9400540" y="2924175"/>
            <a:ext cx="2519680" cy="443865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600">
                <a:sym typeface="+mn-ea"/>
              </a:rPr>
              <a:t>Sensor Specification</a:t>
            </a:r>
            <a:endParaRPr lang="en-US" altLang="zh-CN" sz="1600">
              <a:sym typeface="+mn-ea"/>
            </a:endParaRPr>
          </a:p>
        </p:txBody>
      </p:sp>
      <p:sp>
        <p:nvSpPr>
          <p:cNvPr id="267" name="文本框 266"/>
          <p:cNvSpPr txBox="1"/>
          <p:nvPr/>
        </p:nvSpPr>
        <p:spPr>
          <a:xfrm>
            <a:off x="9400540" y="2342515"/>
            <a:ext cx="2522855" cy="460375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p>
            <a:pPr algn="ctr"/>
            <a:r>
              <a:rPr lang="en-US" altLang="zh-CN" sz="1600">
                <a:sym typeface="+mn-ea"/>
              </a:rPr>
              <a:t>Beam Generation</a:t>
            </a:r>
            <a:endParaRPr lang="en-US" altLang="zh-CN" sz="1600">
              <a:sym typeface="+mn-ea"/>
            </a:endParaRPr>
          </a:p>
        </p:txBody>
      </p:sp>
      <p:sp>
        <p:nvSpPr>
          <p:cNvPr id="268" name="文本框 267"/>
          <p:cNvSpPr txBox="1"/>
          <p:nvPr/>
        </p:nvSpPr>
        <p:spPr>
          <a:xfrm>
            <a:off x="9321800" y="1840230"/>
            <a:ext cx="2729230" cy="2305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>
                <a:sym typeface="+mn-ea"/>
              </a:rPr>
              <a:t>Virtual LiDAR Setup</a:t>
            </a:r>
            <a:endParaRPr lang="en-US" altLang="zh-CN" b="1">
              <a:sym typeface="+mn-ea"/>
            </a:endParaRPr>
          </a:p>
        </p:txBody>
      </p:sp>
      <p:sp>
        <p:nvSpPr>
          <p:cNvPr id="269" name="文本框 268"/>
          <p:cNvSpPr txBox="1"/>
          <p:nvPr/>
        </p:nvSpPr>
        <p:spPr>
          <a:xfrm>
            <a:off x="12278995" y="1815465"/>
            <a:ext cx="2727325" cy="4438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>
                <a:sym typeface="+mn-ea"/>
              </a:rPr>
              <a:t>Beam Propagatio</a:t>
            </a:r>
            <a:r>
              <a:rPr lang="zh-CN" altLang="en-US" b="1">
                <a:sym typeface="+mn-ea"/>
              </a:rPr>
              <a:t>n</a:t>
            </a:r>
            <a:endParaRPr lang="en-US" altLang="zh-CN" b="1">
              <a:sym typeface="+mn-ea"/>
            </a:endParaRPr>
          </a:p>
        </p:txBody>
      </p:sp>
      <p:sp>
        <p:nvSpPr>
          <p:cNvPr id="270" name="圆角矩形 269"/>
          <p:cNvSpPr/>
          <p:nvPr/>
        </p:nvSpPr>
        <p:spPr>
          <a:xfrm>
            <a:off x="12409805" y="2275205"/>
            <a:ext cx="2520000" cy="540000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t" anchorCtr="0" forceAA="0" compatLnSpc="1">
            <a:noAutofit/>
          </a:bodyPr>
          <a:p>
            <a:pPr lvl="0" algn="ctr">
              <a:lnSpc>
                <a:spcPct val="120000"/>
              </a:lnSpc>
              <a:buClrTx/>
              <a:buSzTx/>
              <a:buFontTx/>
            </a:pPr>
            <a:r>
              <a:rPr lang="en-US" altLang="zh-CN" sz="1600">
                <a:solidFill>
                  <a:schemeClr val="tx1"/>
                </a:solidFill>
                <a:sym typeface="+mn-ea"/>
              </a:rPr>
              <a:t>Range Computation</a:t>
            </a:r>
            <a:endParaRPr lang="en-US" altLang="zh-CN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271" name="圆角矩形 270"/>
          <p:cNvSpPr/>
          <p:nvPr/>
        </p:nvSpPr>
        <p:spPr>
          <a:xfrm>
            <a:off x="12409805" y="2872105"/>
            <a:ext cx="2520000" cy="540000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t" anchorCtr="0" forceAA="0" compatLnSpc="1">
            <a:noAutofit/>
          </a:bodyPr>
          <a:p>
            <a:pPr lvl="0" algn="ctr">
              <a:lnSpc>
                <a:spcPct val="120000"/>
              </a:lnSpc>
              <a:buClrTx/>
              <a:buSzTx/>
              <a:buFontTx/>
            </a:pPr>
            <a:r>
              <a:rPr lang="zh-CN" altLang="en-US" sz="1600">
                <a:sym typeface="+mn-ea"/>
              </a:rPr>
              <a:t>Reflectivity Modeling</a:t>
            </a:r>
            <a:endParaRPr lang="en-US" altLang="zh-CN" sz="1600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272" name="直接箭头连接符 271"/>
          <p:cNvCxnSpPr/>
          <p:nvPr/>
        </p:nvCxnSpPr>
        <p:spPr>
          <a:xfrm>
            <a:off x="11999595" y="2750820"/>
            <a:ext cx="332105" cy="0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73" name="矩形 272"/>
          <p:cNvSpPr/>
          <p:nvPr/>
        </p:nvSpPr>
        <p:spPr>
          <a:xfrm>
            <a:off x="15134590" y="1816735"/>
            <a:ext cx="2728595" cy="168529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1600">
              <a:sym typeface="+mn-ea"/>
            </a:endParaRPr>
          </a:p>
        </p:txBody>
      </p:sp>
      <p:sp>
        <p:nvSpPr>
          <p:cNvPr id="274" name="文本框 273"/>
          <p:cNvSpPr txBox="1"/>
          <p:nvPr/>
        </p:nvSpPr>
        <p:spPr>
          <a:xfrm>
            <a:off x="15135860" y="1898650"/>
            <a:ext cx="2727325" cy="4438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b="1">
                <a:sym typeface="+mn-ea"/>
              </a:rPr>
              <a:t>Entity Integration</a:t>
            </a:r>
            <a:endParaRPr lang="en-US" altLang="zh-CN" b="1">
              <a:sym typeface="+mn-ea"/>
            </a:endParaRPr>
          </a:p>
        </p:txBody>
      </p:sp>
      <p:sp>
        <p:nvSpPr>
          <p:cNvPr id="275" name="文本框 274"/>
          <p:cNvSpPr txBox="1"/>
          <p:nvPr/>
        </p:nvSpPr>
        <p:spPr>
          <a:xfrm>
            <a:off x="15294610" y="2275205"/>
            <a:ext cx="2255520" cy="3943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endParaRPr lang="zh-CN" altLang="en-US"/>
          </a:p>
        </p:txBody>
      </p:sp>
      <p:sp>
        <p:nvSpPr>
          <p:cNvPr id="276" name="圆角矩形 275"/>
          <p:cNvSpPr/>
          <p:nvPr/>
        </p:nvSpPr>
        <p:spPr>
          <a:xfrm>
            <a:off x="15266670" y="2275205"/>
            <a:ext cx="2520000" cy="540000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t" anchorCtr="0" forceAA="0" compatLnSpc="1">
            <a:noAutofit/>
          </a:bodyPr>
          <a:p>
            <a:pPr lvl="0" algn="ctr">
              <a:lnSpc>
                <a:spcPct val="120000"/>
              </a:lnSpc>
              <a:buClrTx/>
              <a:buSzTx/>
              <a:buFontTx/>
            </a:pPr>
            <a:r>
              <a:rPr lang="zh-CN" altLang="en-US" sz="1600">
                <a:sym typeface="+mn-ea"/>
              </a:rPr>
              <a:t>Occlusion Handling</a:t>
            </a:r>
            <a:endParaRPr lang="en-US" altLang="zh-CN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277" name="圆角矩形 276"/>
          <p:cNvSpPr/>
          <p:nvPr/>
        </p:nvSpPr>
        <p:spPr>
          <a:xfrm>
            <a:off x="15294610" y="2872105"/>
            <a:ext cx="2520000" cy="540000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t" anchorCtr="0" forceAA="0" compatLnSpc="1">
            <a:noAutofit/>
          </a:bodyPr>
          <a:p>
            <a:pPr lvl="0" algn="ctr">
              <a:lnSpc>
                <a:spcPct val="120000"/>
              </a:lnSpc>
              <a:buClrTx/>
              <a:buSzTx/>
              <a:buFontTx/>
            </a:pPr>
            <a:r>
              <a:rPr lang="en-US" altLang="zh-CN" sz="1600">
                <a:sym typeface="+mn-ea"/>
              </a:rPr>
              <a:t>Point Clou</a:t>
            </a:r>
            <a:r>
              <a:rPr lang="en-US" altLang="zh-CN" sz="1600">
                <a:sym typeface="+mn-ea"/>
              </a:rPr>
              <a:t>d Generation</a:t>
            </a:r>
            <a:endParaRPr lang="en-US" altLang="zh-CN" sz="1600">
              <a:sym typeface="+mn-ea"/>
            </a:endParaRPr>
          </a:p>
        </p:txBody>
      </p:sp>
      <p:sp>
        <p:nvSpPr>
          <p:cNvPr id="278" name="文本框 277"/>
          <p:cNvSpPr txBox="1"/>
          <p:nvPr/>
        </p:nvSpPr>
        <p:spPr>
          <a:xfrm>
            <a:off x="9401175" y="4063365"/>
            <a:ext cx="8385810" cy="5403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 sz="2400" b="1">
                <a:sym typeface="+mn-ea"/>
              </a:rPr>
              <a:t>Semantic-Diversity Guided Testing</a:t>
            </a:r>
            <a:endParaRPr lang="en-US" altLang="zh-CN" sz="2400" b="1">
              <a:sym typeface="+mn-ea"/>
            </a:endParaRPr>
          </a:p>
        </p:txBody>
      </p:sp>
      <p:sp>
        <p:nvSpPr>
          <p:cNvPr id="279" name="圆角矩形 278"/>
          <p:cNvSpPr/>
          <p:nvPr>
            <p:custDataLst>
              <p:tags r:id="rId3"/>
            </p:custDataLst>
          </p:nvPr>
        </p:nvSpPr>
        <p:spPr>
          <a:xfrm>
            <a:off x="11025505" y="4542155"/>
            <a:ext cx="5048885" cy="1824990"/>
          </a:xfrm>
          <a:prstGeom prst="roundRect">
            <a:avLst>
              <a:gd name="adj" fmla="val 5234"/>
            </a:avLst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80" name="334E55B0-647D-440b-865C-3EC943EB4CBC-2" descr="/Users/gaoxinyu/Library/Containers/com.kingsoft.wpsoffice.mac/Data/tmp/wpsoffice.cEbuJowpsoffic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0615" y="5419090"/>
            <a:ext cx="2155190" cy="636905"/>
          </a:xfrm>
          <a:prstGeom prst="rect">
            <a:avLst/>
          </a:prstGeom>
        </p:spPr>
      </p:pic>
      <p:sp>
        <p:nvSpPr>
          <p:cNvPr id="281" name="文本框 280"/>
          <p:cNvSpPr txBox="1"/>
          <p:nvPr>
            <p:custDataLst>
              <p:tags r:id="rId5"/>
            </p:custDataLst>
          </p:nvPr>
        </p:nvSpPr>
        <p:spPr>
          <a:xfrm>
            <a:off x="11090275" y="4542155"/>
            <a:ext cx="4983480" cy="6623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600" b="1">
                <a:sym typeface="+mn-ea"/>
              </a:rPr>
              <a:t>Diversity</a:t>
            </a:r>
            <a:r>
              <a:rPr lang="en-US" altLang="zh-CN" sz="1600" b="1"/>
              <a:t> Guidance</a:t>
            </a:r>
            <a:r>
              <a:rPr lang="en-US" altLang="zh-CN" sz="1600"/>
              <a:t> : </a:t>
            </a:r>
            <a:r>
              <a:rPr lang="zh-CN" altLang="en-US" sz="1600">
                <a:sym typeface="+mn-ea"/>
              </a:rPr>
              <a:t>Measuring the </a:t>
            </a:r>
            <a:r>
              <a:rPr lang="en-US" altLang="zh-CN" sz="1600">
                <a:sym typeface="+mn-ea"/>
              </a:rPr>
              <a:t>diversity </a:t>
            </a:r>
            <a:r>
              <a:rPr lang="zh-CN" altLang="en-US" sz="1600">
                <a:sym typeface="+mn-ea"/>
              </a:rPr>
              <a:t>of </a:t>
            </a:r>
            <a:r>
              <a:rPr lang="en-US" altLang="zh-CN" sz="1600">
                <a:sym typeface="+mn-ea"/>
              </a:rPr>
              <a:t>generate point cloud S</a:t>
            </a:r>
            <a:endParaRPr lang="en-US" altLang="zh-CN" sz="1600">
              <a:sym typeface="+mn-ea"/>
            </a:endParaRPr>
          </a:p>
        </p:txBody>
      </p:sp>
      <p:grpSp>
        <p:nvGrpSpPr>
          <p:cNvPr id="282" name="组合 281"/>
          <p:cNvGrpSpPr/>
          <p:nvPr/>
        </p:nvGrpSpPr>
        <p:grpSpPr>
          <a:xfrm>
            <a:off x="13491210" y="5170596"/>
            <a:ext cx="2372103" cy="975298"/>
            <a:chOff x="2806" y="-6735"/>
            <a:chExt cx="6271" cy="2677"/>
          </a:xfrm>
        </p:grpSpPr>
        <p:sp>
          <p:nvSpPr>
            <p:cNvPr id="283" name="椭圆 282"/>
            <p:cNvSpPr/>
            <p:nvPr/>
          </p:nvSpPr>
          <p:spPr>
            <a:xfrm>
              <a:off x="2806" y="-6735"/>
              <a:ext cx="6271" cy="2677"/>
            </a:xfrm>
            <a:prstGeom prst="ellipse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pic>
          <p:nvPicPr>
            <p:cNvPr id="284" name="图片 283" descr="交通标志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400" y="-6233"/>
              <a:ext cx="1154" cy="1154"/>
            </a:xfrm>
            <a:prstGeom prst="rect">
              <a:avLst/>
            </a:prstGeom>
          </p:spPr>
        </p:pic>
        <p:pic>
          <p:nvPicPr>
            <p:cNvPr id="285" name="图片 284" descr="步行"/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965" y="-5830"/>
              <a:ext cx="853" cy="853"/>
            </a:xfrm>
            <a:prstGeom prst="rect">
              <a:avLst/>
            </a:prstGeom>
          </p:spPr>
        </p:pic>
        <p:pic>
          <p:nvPicPr>
            <p:cNvPr id="286" name="图片 285" descr="_汽车票"/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6415" y="-6449"/>
              <a:ext cx="918" cy="918"/>
            </a:xfrm>
            <a:prstGeom prst="rect">
              <a:avLst/>
            </a:prstGeom>
          </p:spPr>
        </p:pic>
        <p:pic>
          <p:nvPicPr>
            <p:cNvPr id="287" name="图片 286" descr="步行"/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578" y="-5364"/>
              <a:ext cx="725" cy="725"/>
            </a:xfrm>
            <a:prstGeom prst="rect">
              <a:avLst/>
            </a:prstGeom>
          </p:spPr>
        </p:pic>
        <p:pic>
          <p:nvPicPr>
            <p:cNvPr id="288" name="图片 287" descr="_汽车票"/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7333" y="-6158"/>
              <a:ext cx="918" cy="918"/>
            </a:xfrm>
            <a:prstGeom prst="rect">
              <a:avLst/>
            </a:prstGeom>
          </p:spPr>
        </p:pic>
        <p:pic>
          <p:nvPicPr>
            <p:cNvPr id="289" name="图片 288" descr="_汽车票"/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6415" y="-5531"/>
              <a:ext cx="918" cy="918"/>
            </a:xfrm>
            <a:prstGeom prst="rect">
              <a:avLst/>
            </a:prstGeom>
          </p:spPr>
        </p:pic>
        <p:pic>
          <p:nvPicPr>
            <p:cNvPr id="290" name="图片 289" descr="交通标志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063" y="-5577"/>
              <a:ext cx="1154" cy="1154"/>
            </a:xfrm>
            <a:prstGeom prst="rect">
              <a:avLst/>
            </a:prstGeom>
          </p:spPr>
        </p:pic>
        <p:pic>
          <p:nvPicPr>
            <p:cNvPr id="291" name="图片 290" descr="自行车-母婴"/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4978" y="-6688"/>
              <a:ext cx="1105" cy="1110"/>
            </a:xfrm>
            <a:prstGeom prst="rect">
              <a:avLst/>
            </a:prstGeom>
          </p:spPr>
        </p:pic>
      </p:grpSp>
      <p:pic>
        <p:nvPicPr>
          <p:cNvPr id="292" name="图片 291" descr="测试用例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834880" y="4725670"/>
            <a:ext cx="693420" cy="693420"/>
          </a:xfrm>
          <a:prstGeom prst="rect">
            <a:avLst/>
          </a:prstGeom>
        </p:spPr>
      </p:pic>
      <p:sp>
        <p:nvSpPr>
          <p:cNvPr id="293" name="文本框 292"/>
          <p:cNvSpPr txBox="1"/>
          <p:nvPr/>
        </p:nvSpPr>
        <p:spPr>
          <a:xfrm>
            <a:off x="9401175" y="5374640"/>
            <a:ext cx="158242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600" b="1"/>
              <a:t>Transformed</a:t>
            </a:r>
            <a:endParaRPr lang="en-US" altLang="zh-CN" sz="1600" b="1"/>
          </a:p>
          <a:p>
            <a:pPr algn="ctr"/>
            <a:r>
              <a:rPr lang="en-US" altLang="zh-CN" sz="1600" b="1"/>
              <a:t>point cloud</a:t>
            </a:r>
            <a:endParaRPr lang="en-US" altLang="zh-CN" sz="1600" b="1"/>
          </a:p>
        </p:txBody>
      </p:sp>
      <p:cxnSp>
        <p:nvCxnSpPr>
          <p:cNvPr id="294" name="直接箭头连接符 293"/>
          <p:cNvCxnSpPr>
            <a:stCxn id="292" idx="3"/>
          </p:cNvCxnSpPr>
          <p:nvPr/>
        </p:nvCxnSpPr>
        <p:spPr>
          <a:xfrm>
            <a:off x="10528300" y="5072380"/>
            <a:ext cx="45783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95" name="菱形 294"/>
          <p:cNvSpPr/>
          <p:nvPr/>
        </p:nvSpPr>
        <p:spPr>
          <a:xfrm>
            <a:off x="16353155" y="4711700"/>
            <a:ext cx="1569085" cy="581025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000">
              <a:solidFill>
                <a:schemeClr val="tx1"/>
              </a:solidFill>
            </a:endParaRPr>
          </a:p>
        </p:txBody>
      </p:sp>
      <p:sp>
        <p:nvSpPr>
          <p:cNvPr id="296" name="流程图: 过程 295"/>
          <p:cNvSpPr/>
          <p:nvPr>
            <p:custDataLst>
              <p:tags r:id="rId16"/>
            </p:custDataLst>
          </p:nvPr>
        </p:nvSpPr>
        <p:spPr>
          <a:xfrm>
            <a:off x="16589375" y="5958205"/>
            <a:ext cx="1069975" cy="401320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Discarded</a:t>
            </a:r>
            <a:endParaRPr lang="en-US" altLang="zh-CN" sz="1200">
              <a:solidFill>
                <a:schemeClr val="tx1"/>
              </a:solidFill>
            </a:endParaRPr>
          </a:p>
        </p:txBody>
      </p:sp>
      <p:cxnSp>
        <p:nvCxnSpPr>
          <p:cNvPr id="297" name="直接箭头连接符 296"/>
          <p:cNvCxnSpPr>
            <a:stCxn id="295" idx="2"/>
            <a:endCxn id="296" idx="0"/>
          </p:cNvCxnSpPr>
          <p:nvPr/>
        </p:nvCxnSpPr>
        <p:spPr>
          <a:xfrm flipH="1">
            <a:off x="17124680" y="5292725"/>
            <a:ext cx="13335" cy="66548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98" name="文本框 297"/>
          <p:cNvSpPr txBox="1"/>
          <p:nvPr/>
        </p:nvSpPr>
        <p:spPr>
          <a:xfrm>
            <a:off x="17296130" y="5424805"/>
            <a:ext cx="42037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000"/>
              <a:t>N</a:t>
            </a:r>
            <a:endParaRPr lang="en-US" altLang="zh-CN" sz="1000"/>
          </a:p>
        </p:txBody>
      </p:sp>
      <p:sp>
        <p:nvSpPr>
          <p:cNvPr id="299" name="文本框 298"/>
          <p:cNvSpPr txBox="1"/>
          <p:nvPr>
            <p:custDataLst>
              <p:tags r:id="rId17"/>
            </p:custDataLst>
          </p:nvPr>
        </p:nvSpPr>
        <p:spPr>
          <a:xfrm>
            <a:off x="18514060" y="7453630"/>
            <a:ext cx="42037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000"/>
              <a:t>Y</a:t>
            </a:r>
            <a:endParaRPr lang="en-US" altLang="zh-CN" sz="1000"/>
          </a:p>
        </p:txBody>
      </p:sp>
      <p:sp>
        <p:nvSpPr>
          <p:cNvPr id="300" name="文本框 299"/>
          <p:cNvSpPr txBox="1"/>
          <p:nvPr>
            <p:custDataLst>
              <p:tags r:id="rId18"/>
            </p:custDataLst>
          </p:nvPr>
        </p:nvSpPr>
        <p:spPr>
          <a:xfrm>
            <a:off x="16640175" y="4850765"/>
            <a:ext cx="1076325" cy="2762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ym typeface="+mn-ea"/>
              </a:rPr>
              <a:t>Increased?</a:t>
            </a:r>
            <a:endParaRPr lang="zh-CN" altLang="en-US" sz="1200"/>
          </a:p>
        </p:txBody>
      </p:sp>
      <p:cxnSp>
        <p:nvCxnSpPr>
          <p:cNvPr id="301" name="直接箭头连接符 300"/>
          <p:cNvCxnSpPr>
            <a:endCxn id="295" idx="1"/>
          </p:cNvCxnSpPr>
          <p:nvPr/>
        </p:nvCxnSpPr>
        <p:spPr>
          <a:xfrm>
            <a:off x="16066135" y="5002530"/>
            <a:ext cx="28702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02" name="文本框 301"/>
          <p:cNvSpPr txBox="1"/>
          <p:nvPr/>
        </p:nvSpPr>
        <p:spPr>
          <a:xfrm>
            <a:off x="9706610" y="6717030"/>
            <a:ext cx="234442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Add seeds back to the queue</a:t>
            </a:r>
            <a:endParaRPr lang="en-US" altLang="zh-CN" sz="1200"/>
          </a:p>
        </p:txBody>
      </p:sp>
      <p:sp>
        <p:nvSpPr>
          <p:cNvPr id="303" name="文本框 302"/>
          <p:cNvSpPr txBox="1"/>
          <p:nvPr/>
        </p:nvSpPr>
        <p:spPr>
          <a:xfrm>
            <a:off x="18635980" y="2351405"/>
            <a:ext cx="14116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/>
              <a:t>Test dataset</a:t>
            </a:r>
            <a:endParaRPr lang="en-US" altLang="zh-CN" b="1"/>
          </a:p>
        </p:txBody>
      </p:sp>
      <p:grpSp>
        <p:nvGrpSpPr>
          <p:cNvPr id="304" name="组合 303"/>
          <p:cNvGrpSpPr/>
          <p:nvPr/>
        </p:nvGrpSpPr>
        <p:grpSpPr>
          <a:xfrm>
            <a:off x="18931255" y="1432560"/>
            <a:ext cx="902335" cy="862965"/>
            <a:chOff x="2244" y="177"/>
            <a:chExt cx="960" cy="960"/>
          </a:xfrm>
        </p:grpSpPr>
        <p:pic>
          <p:nvPicPr>
            <p:cNvPr id="305" name="图片 304" descr="24gl-fileEmpty"/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2244" y="177"/>
              <a:ext cx="960" cy="960"/>
            </a:xfrm>
            <a:prstGeom prst="rect">
              <a:avLst/>
            </a:prstGeom>
          </p:spPr>
        </p:pic>
        <p:pic>
          <p:nvPicPr>
            <p:cNvPr id="306" name="图片 305" descr="点云数据"/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2412" y="506"/>
              <a:ext cx="671" cy="483"/>
            </a:xfrm>
            <a:prstGeom prst="rect">
              <a:avLst/>
            </a:prstGeom>
          </p:spPr>
        </p:pic>
      </p:grpSp>
      <p:cxnSp>
        <p:nvCxnSpPr>
          <p:cNvPr id="307" name="直接箭头连接符 306"/>
          <p:cNvCxnSpPr/>
          <p:nvPr/>
        </p:nvCxnSpPr>
        <p:spPr>
          <a:xfrm>
            <a:off x="18092420" y="1864360"/>
            <a:ext cx="83883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8" name="直接箭头连接符 307"/>
          <p:cNvCxnSpPr>
            <a:stCxn id="303" idx="2"/>
          </p:cNvCxnSpPr>
          <p:nvPr/>
        </p:nvCxnSpPr>
        <p:spPr>
          <a:xfrm>
            <a:off x="19342100" y="2996565"/>
            <a:ext cx="0" cy="37147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09" name="图片 308" descr="激光雷达"/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8773140" y="3418840"/>
            <a:ext cx="1085850" cy="1085850"/>
          </a:xfrm>
          <a:prstGeom prst="rect">
            <a:avLst/>
          </a:prstGeom>
        </p:spPr>
      </p:pic>
      <p:sp>
        <p:nvSpPr>
          <p:cNvPr id="310" name="文本框 309"/>
          <p:cNvSpPr txBox="1"/>
          <p:nvPr/>
        </p:nvSpPr>
        <p:spPr>
          <a:xfrm>
            <a:off x="18324830" y="4476115"/>
            <a:ext cx="1906905" cy="4438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 sz="1400" b="1">
                <a:sym typeface="+mn-ea"/>
              </a:rPr>
              <a:t>LiDAR-based </a:t>
            </a:r>
            <a:endParaRPr lang="en-US" altLang="zh-CN" sz="1400" b="1">
              <a:sym typeface="+mn-ea"/>
            </a:endParaRPr>
          </a:p>
          <a:p>
            <a:pPr algn="ctr"/>
            <a:r>
              <a:rPr lang="en-US" altLang="zh-CN" sz="1400" b="1">
                <a:sym typeface="+mn-ea"/>
              </a:rPr>
              <a:t>perception system</a:t>
            </a:r>
            <a:endParaRPr lang="en-US" altLang="zh-CN" sz="1400" b="1">
              <a:sym typeface="+mn-ea"/>
            </a:endParaRPr>
          </a:p>
        </p:txBody>
      </p:sp>
      <p:cxnSp>
        <p:nvCxnSpPr>
          <p:cNvPr id="311" name="直接箭头连接符 310"/>
          <p:cNvCxnSpPr/>
          <p:nvPr/>
        </p:nvCxnSpPr>
        <p:spPr>
          <a:xfrm>
            <a:off x="19367500" y="4996180"/>
            <a:ext cx="0" cy="37846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12" name="图片 311" descr="测试报告"/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8931255" y="5500370"/>
            <a:ext cx="828040" cy="828040"/>
          </a:xfrm>
          <a:prstGeom prst="rect">
            <a:avLst/>
          </a:prstGeom>
        </p:spPr>
      </p:pic>
      <p:sp>
        <p:nvSpPr>
          <p:cNvPr id="313" name="文本框 312"/>
          <p:cNvSpPr txBox="1"/>
          <p:nvPr/>
        </p:nvSpPr>
        <p:spPr>
          <a:xfrm>
            <a:off x="18451830" y="6388100"/>
            <a:ext cx="1716405" cy="4438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 sz="1400" b="1">
                <a:sym typeface="+mn-ea"/>
              </a:rPr>
              <a:t>Test </a:t>
            </a:r>
            <a:endParaRPr lang="en-US" altLang="zh-CN" sz="1400" b="1">
              <a:sym typeface="+mn-ea"/>
            </a:endParaRPr>
          </a:p>
          <a:p>
            <a:pPr algn="ctr"/>
            <a:r>
              <a:rPr lang="en-US" altLang="zh-CN" sz="1400" b="1">
                <a:sym typeface="+mn-ea"/>
              </a:rPr>
              <a:t>Report</a:t>
            </a:r>
            <a:endParaRPr lang="en-US" altLang="zh-CN" sz="1400" b="1">
              <a:sym typeface="+mn-ea"/>
            </a:endParaRPr>
          </a:p>
        </p:txBody>
      </p:sp>
      <p:sp>
        <p:nvSpPr>
          <p:cNvPr id="314" name="文本框 313"/>
          <p:cNvSpPr txBox="1"/>
          <p:nvPr/>
        </p:nvSpPr>
        <p:spPr>
          <a:xfrm>
            <a:off x="2338704" y="1596390"/>
            <a:ext cx="64325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400" b="1">
                <a:sym typeface="+mn-ea"/>
              </a:rPr>
              <a:t>Pose Generation</a:t>
            </a:r>
            <a:endParaRPr lang="en-US" altLang="zh-CN" sz="2000" b="1">
              <a:sym typeface="+mn-ea"/>
            </a:endParaRPr>
          </a:p>
        </p:txBody>
      </p:sp>
      <p:grpSp>
        <p:nvGrpSpPr>
          <p:cNvPr id="315" name="组合 314"/>
          <p:cNvGrpSpPr/>
          <p:nvPr/>
        </p:nvGrpSpPr>
        <p:grpSpPr>
          <a:xfrm>
            <a:off x="422910" y="1436370"/>
            <a:ext cx="935990" cy="975360"/>
            <a:chOff x="873" y="721"/>
            <a:chExt cx="1360" cy="1360"/>
          </a:xfrm>
        </p:grpSpPr>
        <p:pic>
          <p:nvPicPr>
            <p:cNvPr id="316" name="图片 315" descr="点云数据"/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1208" y="1220"/>
              <a:ext cx="692" cy="488"/>
            </a:xfrm>
            <a:prstGeom prst="rect">
              <a:avLst/>
            </a:prstGeom>
          </p:spPr>
        </p:pic>
        <p:pic>
          <p:nvPicPr>
            <p:cNvPr id="317" name="图片 316" descr="数据集"/>
            <p:cNvPicPr>
              <a:picLocks noChangeAspect="1"/>
            </p:cNvPicPr>
            <p:nvPr/>
          </p:nvPicPr>
          <p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873" y="721"/>
              <a:ext cx="1360" cy="1360"/>
            </a:xfrm>
            <a:prstGeom prst="rect">
              <a:avLst/>
            </a:prstGeom>
          </p:spPr>
        </p:pic>
      </p:grpSp>
      <p:grpSp>
        <p:nvGrpSpPr>
          <p:cNvPr id="318" name="组合 317"/>
          <p:cNvGrpSpPr/>
          <p:nvPr/>
        </p:nvGrpSpPr>
        <p:grpSpPr>
          <a:xfrm>
            <a:off x="490855" y="3387090"/>
            <a:ext cx="838835" cy="862330"/>
            <a:chOff x="873" y="3352"/>
            <a:chExt cx="1260" cy="1234"/>
          </a:xfrm>
        </p:grpSpPr>
        <p:pic>
          <p:nvPicPr>
            <p:cNvPr id="319" name="图片 318" descr="24gl-fileEmpty"/>
            <p:cNvPicPr>
              <a:picLocks noChangeAspect="1"/>
            </p:cNvPicPr>
            <p:nvPr>
              <p:custDataLst>
                <p:tags r:id="rId30"/>
              </p:custDataLst>
            </p:nvPr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873" y="3352"/>
              <a:ext cx="1261" cy="1235"/>
            </a:xfrm>
            <a:prstGeom prst="rect">
              <a:avLst/>
            </a:prstGeom>
          </p:spPr>
        </p:pic>
        <p:pic>
          <p:nvPicPr>
            <p:cNvPr id="320" name="图片 319" descr="点云数据"/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1168" y="3783"/>
              <a:ext cx="692" cy="488"/>
            </a:xfrm>
            <a:prstGeom prst="rect">
              <a:avLst/>
            </a:prstGeom>
          </p:spPr>
        </p:pic>
      </p:grpSp>
      <p:sp>
        <p:nvSpPr>
          <p:cNvPr id="321" name="文本框 320"/>
          <p:cNvSpPr txBox="1"/>
          <p:nvPr/>
        </p:nvSpPr>
        <p:spPr>
          <a:xfrm>
            <a:off x="2768600" y="380365"/>
            <a:ext cx="64325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400" b="1">
                <a:sym typeface="+mn-ea"/>
              </a:rPr>
              <a:t>Entity Operator</a:t>
            </a:r>
            <a:endParaRPr lang="en-US" altLang="zh-CN" sz="2400" b="1">
              <a:sym typeface="+mn-ea"/>
            </a:endParaRPr>
          </a:p>
        </p:txBody>
      </p:sp>
      <p:sp>
        <p:nvSpPr>
          <p:cNvPr id="322" name="矩形 321"/>
          <p:cNvSpPr/>
          <p:nvPr/>
        </p:nvSpPr>
        <p:spPr>
          <a:xfrm>
            <a:off x="1993900" y="1011555"/>
            <a:ext cx="7072630" cy="5981065"/>
          </a:xfrm>
          <a:prstGeom prst="rect">
            <a:avLst/>
          </a:prstGeom>
          <a:noFill/>
          <a:ln w="28575" cmpd="dbl">
            <a:solidFill>
              <a:schemeClr val="tx1"/>
            </a:solidFill>
            <a:prstDash val="lgDash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矩形 170"/>
          <p:cNvSpPr/>
          <p:nvPr/>
        </p:nvSpPr>
        <p:spPr>
          <a:xfrm>
            <a:off x="3924623" y="1702764"/>
            <a:ext cx="6633355" cy="190313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837967" y="4101846"/>
            <a:ext cx="1764704" cy="335287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/>
              <a:t>Initial Seeds</a:t>
            </a:r>
            <a:endParaRPr lang="en-US" altLang="zh-CN" b="1"/>
          </a:p>
        </p:txBody>
      </p:sp>
      <p:sp>
        <p:nvSpPr>
          <p:cNvPr id="7" name="文本框 6"/>
          <p:cNvSpPr txBox="1"/>
          <p:nvPr/>
        </p:nvSpPr>
        <p:spPr>
          <a:xfrm>
            <a:off x="1924329" y="2494626"/>
            <a:ext cx="1411636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/>
              <a:t>Test data</a:t>
            </a:r>
            <a:endParaRPr lang="en-US" altLang="zh-CN" b="1"/>
          </a:p>
        </p:txBody>
      </p:sp>
      <p:sp>
        <p:nvSpPr>
          <p:cNvPr id="8" name="文本框 7"/>
          <p:cNvSpPr txBox="1"/>
          <p:nvPr/>
        </p:nvSpPr>
        <p:spPr>
          <a:xfrm>
            <a:off x="1620157" y="5881790"/>
            <a:ext cx="1983148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/>
              <a:t>Seed Queue</a:t>
            </a:r>
            <a:endParaRPr lang="en-US" altLang="zh-CN" b="1"/>
          </a:p>
        </p:txBody>
      </p:sp>
      <p:sp>
        <p:nvSpPr>
          <p:cNvPr id="9" name="右箭头 8"/>
          <p:cNvSpPr/>
          <p:nvPr/>
        </p:nvSpPr>
        <p:spPr>
          <a:xfrm>
            <a:off x="3288974" y="5207406"/>
            <a:ext cx="433079" cy="297186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0" name="肘形连接符 9"/>
          <p:cNvCxnSpPr>
            <a:endCxn id="8" idx="2"/>
          </p:cNvCxnSpPr>
          <p:nvPr/>
        </p:nvCxnSpPr>
        <p:spPr>
          <a:xfrm flipH="1">
            <a:off x="2612049" y="6537125"/>
            <a:ext cx="14586904" cy="784242"/>
          </a:xfrm>
          <a:prstGeom prst="bentConnector4">
            <a:avLst>
              <a:gd name="adj1" fmla="val -1632"/>
              <a:gd name="adj2" fmla="val 218704"/>
            </a:avLst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/>
        </p:nvCxnSpPr>
        <p:spPr>
          <a:xfrm>
            <a:off x="2630465" y="2839439"/>
            <a:ext cx="0" cy="44260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>
          <a:xfrm>
            <a:off x="2630465" y="4502540"/>
            <a:ext cx="0" cy="44260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图片 17" descr="队列-copy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19611" y="5080403"/>
            <a:ext cx="801388" cy="801388"/>
          </a:xfrm>
          <a:prstGeom prst="rect">
            <a:avLst/>
          </a:prstGeom>
        </p:spPr>
      </p:pic>
      <p:grpSp>
        <p:nvGrpSpPr>
          <p:cNvPr id="27" name="组合 26"/>
          <p:cNvGrpSpPr/>
          <p:nvPr/>
        </p:nvGrpSpPr>
        <p:grpSpPr>
          <a:xfrm>
            <a:off x="2219611" y="1575761"/>
            <a:ext cx="800753" cy="784242"/>
            <a:chOff x="2244" y="177"/>
            <a:chExt cx="960" cy="960"/>
          </a:xfrm>
        </p:grpSpPr>
        <p:pic>
          <p:nvPicPr>
            <p:cNvPr id="26" name="图片 25" descr="24gl-fileEmpty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244" y="177"/>
              <a:ext cx="960" cy="960"/>
            </a:xfrm>
            <a:prstGeom prst="rect">
              <a:avLst/>
            </a:prstGeom>
          </p:spPr>
        </p:pic>
        <p:pic>
          <p:nvPicPr>
            <p:cNvPr id="434" name="图片 433" descr="点云数据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412" y="506"/>
              <a:ext cx="671" cy="483"/>
            </a:xfrm>
            <a:prstGeom prst="rect">
              <a:avLst/>
            </a:prstGeom>
          </p:spPr>
        </p:pic>
      </p:grpSp>
      <p:grpSp>
        <p:nvGrpSpPr>
          <p:cNvPr id="37" name="组合 36"/>
          <p:cNvGrpSpPr/>
          <p:nvPr/>
        </p:nvGrpSpPr>
        <p:grpSpPr>
          <a:xfrm>
            <a:off x="2206275" y="3318874"/>
            <a:ext cx="800753" cy="784242"/>
            <a:chOff x="2244" y="177"/>
            <a:chExt cx="960" cy="960"/>
          </a:xfrm>
        </p:grpSpPr>
        <p:pic>
          <p:nvPicPr>
            <p:cNvPr id="38" name="图片 37" descr="24gl-fileEmpty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244" y="177"/>
              <a:ext cx="960" cy="960"/>
            </a:xfrm>
            <a:prstGeom prst="rect">
              <a:avLst/>
            </a:prstGeom>
          </p:spPr>
        </p:pic>
        <p:pic>
          <p:nvPicPr>
            <p:cNvPr id="39" name="图片 38" descr="点云数据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412" y="506"/>
              <a:ext cx="671" cy="483"/>
            </a:xfrm>
            <a:prstGeom prst="rect">
              <a:avLst/>
            </a:prstGeom>
          </p:spPr>
        </p:pic>
      </p:grpSp>
      <p:sp>
        <p:nvSpPr>
          <p:cNvPr id="1141" name="文本框 1140"/>
          <p:cNvSpPr txBox="1"/>
          <p:nvPr/>
        </p:nvSpPr>
        <p:spPr>
          <a:xfrm>
            <a:off x="3970979" y="1798016"/>
            <a:ext cx="643269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ym typeface="+mn-ea"/>
              </a:rPr>
              <a:t>Entity Database</a:t>
            </a:r>
            <a:endParaRPr lang="en-US" altLang="zh-CN" sz="2000" b="1">
              <a:sym typeface="+mn-ea"/>
            </a:endParaRPr>
          </a:p>
        </p:txBody>
      </p:sp>
      <p:sp>
        <p:nvSpPr>
          <p:cNvPr id="67" name="圆角矩形 66"/>
          <p:cNvSpPr/>
          <p:nvPr/>
        </p:nvSpPr>
        <p:spPr>
          <a:xfrm>
            <a:off x="8491840" y="2312467"/>
            <a:ext cx="1764039" cy="432009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68" name="圆角矩形 67"/>
          <p:cNvSpPr/>
          <p:nvPr/>
        </p:nvSpPr>
        <p:spPr>
          <a:xfrm>
            <a:off x="4261377" y="2950105"/>
            <a:ext cx="1764039" cy="432009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69" name="圆角矩形 68"/>
          <p:cNvSpPr/>
          <p:nvPr/>
        </p:nvSpPr>
        <p:spPr>
          <a:xfrm>
            <a:off x="6394389" y="2312467"/>
            <a:ext cx="1764039" cy="432009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72" name="圆角矩形 71"/>
          <p:cNvSpPr/>
          <p:nvPr/>
        </p:nvSpPr>
        <p:spPr>
          <a:xfrm>
            <a:off x="6394389" y="2950105"/>
            <a:ext cx="1764039" cy="432009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97" name="圆角矩形 96"/>
          <p:cNvSpPr/>
          <p:nvPr/>
        </p:nvSpPr>
        <p:spPr>
          <a:xfrm>
            <a:off x="8493110" y="2950105"/>
            <a:ext cx="1764039" cy="432009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83" name="圆角矩形 82"/>
          <p:cNvSpPr/>
          <p:nvPr/>
        </p:nvSpPr>
        <p:spPr>
          <a:xfrm>
            <a:off x="4270070" y="2313302"/>
            <a:ext cx="1764069" cy="431174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Vehicle</a:t>
            </a: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sp>
        <p:nvSpPr>
          <p:cNvPr id="80" name="矩形 79"/>
          <p:cNvSpPr/>
          <p:nvPr/>
        </p:nvSpPr>
        <p:spPr>
          <a:xfrm>
            <a:off x="4270070" y="2286977"/>
            <a:ext cx="1764069" cy="4311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2">
                    <a:lumMod val="95000"/>
                  </a:schemeClr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4261180" y="2960091"/>
            <a:ext cx="1764069" cy="431809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>
                <a:sym typeface="+mn-ea"/>
              </a:rPr>
              <a:t>Vegetation</a:t>
            </a:r>
            <a:endParaRPr lang="en-US" altLang="zh-CN">
              <a:sym typeface="+mn-ea"/>
            </a:endParaRPr>
          </a:p>
        </p:txBody>
      </p:sp>
      <p:sp>
        <p:nvSpPr>
          <p:cNvPr id="82" name="文本框 81"/>
          <p:cNvSpPr txBox="1"/>
          <p:nvPr/>
        </p:nvSpPr>
        <p:spPr>
          <a:xfrm>
            <a:off x="6394192" y="2960091"/>
            <a:ext cx="1764069" cy="431809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>
                <a:sym typeface="+mn-ea"/>
              </a:rPr>
              <a:t>Animal</a:t>
            </a:r>
            <a:endParaRPr lang="en-US" altLang="zh-CN">
              <a:sym typeface="+mn-ea"/>
            </a:endParaRPr>
          </a:p>
        </p:txBody>
      </p:sp>
      <p:sp>
        <p:nvSpPr>
          <p:cNvPr id="84" name="文本框 83"/>
          <p:cNvSpPr txBox="1"/>
          <p:nvPr/>
        </p:nvSpPr>
        <p:spPr>
          <a:xfrm>
            <a:off x="8492913" y="2960091"/>
            <a:ext cx="1764069" cy="431809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>
                <a:sym typeface="+mn-ea"/>
              </a:rPr>
              <a:t>Others</a:t>
            </a:r>
            <a:endParaRPr lang="en-US" altLang="zh-CN">
              <a:sym typeface="+mn-ea"/>
            </a:endParaRPr>
          </a:p>
        </p:txBody>
      </p:sp>
      <p:sp>
        <p:nvSpPr>
          <p:cNvPr id="85" name="文本框 84"/>
          <p:cNvSpPr txBox="1"/>
          <p:nvPr/>
        </p:nvSpPr>
        <p:spPr>
          <a:xfrm>
            <a:off x="6394192" y="2328253"/>
            <a:ext cx="1764069" cy="431809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>
                <a:sym typeface="+mn-ea"/>
              </a:rPr>
              <a:t>Person</a:t>
            </a:r>
            <a:endParaRPr lang="en-US" altLang="zh-CN">
              <a:sym typeface="+mn-ea"/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8491643" y="2329523"/>
            <a:ext cx="1764069" cy="431809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zh-CN" altLang="en-US">
                <a:sym typeface="+mn-ea"/>
              </a:rPr>
              <a:t>Infrastructure</a:t>
            </a:r>
            <a:endParaRPr lang="zh-CN" altLang="en-US">
              <a:sym typeface="+mn-ea"/>
            </a:endParaRPr>
          </a:p>
        </p:txBody>
      </p:sp>
      <p:sp>
        <p:nvSpPr>
          <p:cNvPr id="87" name="矩形 86"/>
          <p:cNvSpPr/>
          <p:nvPr/>
        </p:nvSpPr>
        <p:spPr>
          <a:xfrm>
            <a:off x="11318089" y="3332210"/>
            <a:ext cx="6070098" cy="105031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1600">
              <a:sym typeface="+mn-ea"/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11064084" y="1626562"/>
            <a:ext cx="6614305" cy="2954720"/>
          </a:xfrm>
          <a:prstGeom prst="rect">
            <a:avLst/>
          </a:prstGeom>
          <a:noFill/>
          <a:ln w="28575" cmpd="dbl">
            <a:solidFill>
              <a:schemeClr val="tx1"/>
            </a:solidFill>
            <a:prstDash val="lgDash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9" name="矩形 88"/>
          <p:cNvSpPr/>
          <p:nvPr/>
        </p:nvSpPr>
        <p:spPr>
          <a:xfrm>
            <a:off x="11317454" y="2126953"/>
            <a:ext cx="6070098" cy="105031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1600">
              <a:sym typeface="+mn-ea"/>
            </a:endParaRPr>
          </a:p>
        </p:txBody>
      </p:sp>
      <p:sp>
        <p:nvSpPr>
          <p:cNvPr id="92" name="文本框 91"/>
          <p:cNvSpPr txBox="1"/>
          <p:nvPr/>
        </p:nvSpPr>
        <p:spPr>
          <a:xfrm>
            <a:off x="11316184" y="2159974"/>
            <a:ext cx="6072003" cy="294011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600" b="1"/>
              <a:t>Spatial Constraints</a:t>
            </a:r>
            <a:endParaRPr lang="en-US" altLang="zh-CN" sz="1600" b="1"/>
          </a:p>
        </p:txBody>
      </p:sp>
      <p:sp>
        <p:nvSpPr>
          <p:cNvPr id="95" name="文本框 94"/>
          <p:cNvSpPr txBox="1"/>
          <p:nvPr/>
        </p:nvSpPr>
        <p:spPr>
          <a:xfrm>
            <a:off x="11102820" y="1702764"/>
            <a:ext cx="643269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ym typeface="+mn-ea"/>
              </a:rPr>
              <a:t>Pose Generation</a:t>
            </a:r>
            <a:endParaRPr lang="en-US" altLang="zh-CN" sz="2000" b="1">
              <a:sym typeface="+mn-ea"/>
            </a:endParaRPr>
          </a:p>
        </p:txBody>
      </p:sp>
      <p:sp>
        <p:nvSpPr>
          <p:cNvPr id="126" name="文本框 125"/>
          <p:cNvSpPr txBox="1"/>
          <p:nvPr/>
        </p:nvSpPr>
        <p:spPr>
          <a:xfrm>
            <a:off x="11317454" y="3368405"/>
            <a:ext cx="6071368" cy="282581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600" b="1"/>
              <a:t>Semantic Constraints</a:t>
            </a:r>
            <a:endParaRPr lang="en-US" altLang="zh-CN" sz="1600" b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矩形 170"/>
          <p:cNvSpPr/>
          <p:nvPr/>
        </p:nvSpPr>
        <p:spPr>
          <a:xfrm>
            <a:off x="3924623" y="1702764"/>
            <a:ext cx="6633355" cy="190313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837967" y="4101846"/>
            <a:ext cx="1764704" cy="335287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/>
              <a:t>Initial Seeds</a:t>
            </a:r>
            <a:endParaRPr lang="en-US" altLang="zh-CN" b="1"/>
          </a:p>
        </p:txBody>
      </p:sp>
      <p:sp>
        <p:nvSpPr>
          <p:cNvPr id="7" name="文本框 6"/>
          <p:cNvSpPr txBox="1"/>
          <p:nvPr/>
        </p:nvSpPr>
        <p:spPr>
          <a:xfrm>
            <a:off x="1924329" y="2494626"/>
            <a:ext cx="1411636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/>
              <a:t>Test data</a:t>
            </a:r>
            <a:endParaRPr lang="en-US" altLang="zh-CN" b="1"/>
          </a:p>
        </p:txBody>
      </p:sp>
      <p:sp>
        <p:nvSpPr>
          <p:cNvPr id="8" name="文本框 7"/>
          <p:cNvSpPr txBox="1"/>
          <p:nvPr/>
        </p:nvSpPr>
        <p:spPr>
          <a:xfrm>
            <a:off x="1620157" y="5881790"/>
            <a:ext cx="1983148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/>
              <a:t>Seed Queue</a:t>
            </a:r>
            <a:endParaRPr lang="en-US" altLang="zh-CN" b="1"/>
          </a:p>
        </p:txBody>
      </p:sp>
      <p:sp>
        <p:nvSpPr>
          <p:cNvPr id="9" name="右箭头 8"/>
          <p:cNvSpPr/>
          <p:nvPr/>
        </p:nvSpPr>
        <p:spPr>
          <a:xfrm>
            <a:off x="3288974" y="5207406"/>
            <a:ext cx="433079" cy="297187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0" name="肘形连接符 9"/>
          <p:cNvCxnSpPr>
            <a:endCxn id="8" idx="2"/>
          </p:cNvCxnSpPr>
          <p:nvPr/>
        </p:nvCxnSpPr>
        <p:spPr>
          <a:xfrm flipH="1">
            <a:off x="2612049" y="6537125"/>
            <a:ext cx="14586905" cy="784242"/>
          </a:xfrm>
          <a:prstGeom prst="bentConnector4">
            <a:avLst>
              <a:gd name="adj1" fmla="val -1632"/>
              <a:gd name="adj2" fmla="val 218704"/>
            </a:avLst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/>
        </p:nvCxnSpPr>
        <p:spPr>
          <a:xfrm>
            <a:off x="2630465" y="2839439"/>
            <a:ext cx="0" cy="44260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>
          <a:xfrm>
            <a:off x="2630465" y="4502540"/>
            <a:ext cx="0" cy="44260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图片 17" descr="队列-copy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19611" y="5080403"/>
            <a:ext cx="801388" cy="801388"/>
          </a:xfrm>
          <a:prstGeom prst="rect">
            <a:avLst/>
          </a:prstGeom>
        </p:spPr>
      </p:pic>
      <p:grpSp>
        <p:nvGrpSpPr>
          <p:cNvPr id="27" name="组合 26"/>
          <p:cNvGrpSpPr/>
          <p:nvPr/>
        </p:nvGrpSpPr>
        <p:grpSpPr>
          <a:xfrm>
            <a:off x="2219611" y="1575761"/>
            <a:ext cx="800753" cy="784242"/>
            <a:chOff x="2244" y="177"/>
            <a:chExt cx="960" cy="960"/>
          </a:xfrm>
        </p:grpSpPr>
        <p:pic>
          <p:nvPicPr>
            <p:cNvPr id="26" name="图片 25" descr="24gl-fileEmpty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244" y="177"/>
              <a:ext cx="960" cy="960"/>
            </a:xfrm>
            <a:prstGeom prst="rect">
              <a:avLst/>
            </a:prstGeom>
          </p:spPr>
        </p:pic>
        <p:pic>
          <p:nvPicPr>
            <p:cNvPr id="434" name="图片 433" descr="点云数据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412" y="506"/>
              <a:ext cx="671" cy="483"/>
            </a:xfrm>
            <a:prstGeom prst="rect">
              <a:avLst/>
            </a:prstGeom>
          </p:spPr>
        </p:pic>
      </p:grpSp>
      <p:grpSp>
        <p:nvGrpSpPr>
          <p:cNvPr id="37" name="组合 36"/>
          <p:cNvGrpSpPr/>
          <p:nvPr/>
        </p:nvGrpSpPr>
        <p:grpSpPr>
          <a:xfrm>
            <a:off x="2206275" y="3318874"/>
            <a:ext cx="800753" cy="784242"/>
            <a:chOff x="2244" y="177"/>
            <a:chExt cx="960" cy="960"/>
          </a:xfrm>
        </p:grpSpPr>
        <p:pic>
          <p:nvPicPr>
            <p:cNvPr id="38" name="图片 37" descr="24gl-fileEmpty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244" y="177"/>
              <a:ext cx="960" cy="960"/>
            </a:xfrm>
            <a:prstGeom prst="rect">
              <a:avLst/>
            </a:prstGeom>
          </p:spPr>
        </p:pic>
        <p:pic>
          <p:nvPicPr>
            <p:cNvPr id="39" name="图片 38" descr="点云数据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412" y="506"/>
              <a:ext cx="671" cy="483"/>
            </a:xfrm>
            <a:prstGeom prst="rect">
              <a:avLst/>
            </a:prstGeom>
          </p:spPr>
        </p:pic>
      </p:grpSp>
      <p:sp>
        <p:nvSpPr>
          <p:cNvPr id="1141" name="文本框 1140"/>
          <p:cNvSpPr txBox="1"/>
          <p:nvPr/>
        </p:nvSpPr>
        <p:spPr>
          <a:xfrm>
            <a:off x="3970979" y="1798016"/>
            <a:ext cx="643269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ym typeface="+mn-ea"/>
              </a:rPr>
              <a:t>Entity Database</a:t>
            </a:r>
            <a:endParaRPr lang="en-US" altLang="zh-CN" sz="2000" b="1">
              <a:sym typeface="+mn-ea"/>
            </a:endParaRPr>
          </a:p>
        </p:txBody>
      </p:sp>
      <p:sp>
        <p:nvSpPr>
          <p:cNvPr id="67" name="圆角矩形 66"/>
          <p:cNvSpPr/>
          <p:nvPr/>
        </p:nvSpPr>
        <p:spPr>
          <a:xfrm>
            <a:off x="8491840" y="2312467"/>
            <a:ext cx="1764039" cy="432009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68" name="圆角矩形 67"/>
          <p:cNvSpPr/>
          <p:nvPr/>
        </p:nvSpPr>
        <p:spPr>
          <a:xfrm>
            <a:off x="4261377" y="2950105"/>
            <a:ext cx="1764039" cy="432009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69" name="圆角矩形 68"/>
          <p:cNvSpPr/>
          <p:nvPr/>
        </p:nvSpPr>
        <p:spPr>
          <a:xfrm>
            <a:off x="6394389" y="2312467"/>
            <a:ext cx="1764039" cy="432009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72" name="圆角矩形 71"/>
          <p:cNvSpPr/>
          <p:nvPr/>
        </p:nvSpPr>
        <p:spPr>
          <a:xfrm>
            <a:off x="6394389" y="2950105"/>
            <a:ext cx="1764039" cy="432009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97" name="圆角矩形 96"/>
          <p:cNvSpPr/>
          <p:nvPr/>
        </p:nvSpPr>
        <p:spPr>
          <a:xfrm>
            <a:off x="8493110" y="2950105"/>
            <a:ext cx="1764039" cy="432009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83" name="圆角矩形 82"/>
          <p:cNvSpPr/>
          <p:nvPr/>
        </p:nvSpPr>
        <p:spPr>
          <a:xfrm>
            <a:off x="4270071" y="2313302"/>
            <a:ext cx="1764069" cy="431174"/>
          </a:xfrm>
          <a:prstGeom prst="roundRect">
            <a:avLst/>
          </a:prstGeom>
          <a:solidFill>
            <a:schemeClr val="bg2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Vehicle</a:t>
            </a: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sp>
        <p:nvSpPr>
          <p:cNvPr id="80" name="矩形 79"/>
          <p:cNvSpPr/>
          <p:nvPr/>
        </p:nvSpPr>
        <p:spPr>
          <a:xfrm>
            <a:off x="4270071" y="2286977"/>
            <a:ext cx="1764069" cy="4311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2">
                    <a:lumMod val="95000"/>
                  </a:schemeClr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4261180" y="2960091"/>
            <a:ext cx="1764069" cy="431809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>
                <a:sym typeface="+mn-ea"/>
              </a:rPr>
              <a:t>Vegetation</a:t>
            </a:r>
            <a:endParaRPr lang="en-US" altLang="zh-CN">
              <a:sym typeface="+mn-ea"/>
            </a:endParaRPr>
          </a:p>
        </p:txBody>
      </p:sp>
      <p:sp>
        <p:nvSpPr>
          <p:cNvPr id="82" name="文本框 81"/>
          <p:cNvSpPr txBox="1"/>
          <p:nvPr/>
        </p:nvSpPr>
        <p:spPr>
          <a:xfrm>
            <a:off x="6394192" y="2960091"/>
            <a:ext cx="1764069" cy="431809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>
                <a:sym typeface="+mn-ea"/>
              </a:rPr>
              <a:t>Animal</a:t>
            </a:r>
            <a:endParaRPr lang="en-US" altLang="zh-CN">
              <a:sym typeface="+mn-ea"/>
            </a:endParaRPr>
          </a:p>
        </p:txBody>
      </p:sp>
      <p:sp>
        <p:nvSpPr>
          <p:cNvPr id="84" name="文本框 83"/>
          <p:cNvSpPr txBox="1"/>
          <p:nvPr/>
        </p:nvSpPr>
        <p:spPr>
          <a:xfrm>
            <a:off x="8492913" y="2960091"/>
            <a:ext cx="1764069" cy="431809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>
                <a:sym typeface="+mn-ea"/>
              </a:rPr>
              <a:t>Others</a:t>
            </a:r>
            <a:endParaRPr lang="en-US" altLang="zh-CN">
              <a:sym typeface="+mn-ea"/>
            </a:endParaRPr>
          </a:p>
        </p:txBody>
      </p:sp>
      <p:sp>
        <p:nvSpPr>
          <p:cNvPr id="85" name="文本框 84"/>
          <p:cNvSpPr txBox="1"/>
          <p:nvPr/>
        </p:nvSpPr>
        <p:spPr>
          <a:xfrm>
            <a:off x="6394192" y="2328252"/>
            <a:ext cx="1764069" cy="431809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>
                <a:sym typeface="+mn-ea"/>
              </a:rPr>
              <a:t>Person</a:t>
            </a:r>
            <a:endParaRPr lang="en-US" altLang="zh-CN">
              <a:sym typeface="+mn-ea"/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8491643" y="2329522"/>
            <a:ext cx="1764069" cy="431809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zh-CN" altLang="en-US">
                <a:sym typeface="+mn-ea"/>
              </a:rPr>
              <a:t>Infrastructure</a:t>
            </a:r>
            <a:endParaRPr lang="zh-CN" altLang="en-US">
              <a:sym typeface="+mn-ea"/>
            </a:endParaRPr>
          </a:p>
        </p:txBody>
      </p:sp>
      <p:sp>
        <p:nvSpPr>
          <p:cNvPr id="87" name="矩形 86"/>
          <p:cNvSpPr/>
          <p:nvPr/>
        </p:nvSpPr>
        <p:spPr>
          <a:xfrm>
            <a:off x="11318090" y="3332209"/>
            <a:ext cx="6070098" cy="105031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1600">
              <a:sym typeface="+mn-ea"/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11064085" y="1626562"/>
            <a:ext cx="6614305" cy="2954720"/>
          </a:xfrm>
          <a:prstGeom prst="rect">
            <a:avLst/>
          </a:prstGeom>
          <a:noFill/>
          <a:ln w="28575" cmpd="dbl">
            <a:solidFill>
              <a:schemeClr val="tx1"/>
            </a:solidFill>
            <a:prstDash val="lgDash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9" name="矩形 88"/>
          <p:cNvSpPr/>
          <p:nvPr/>
        </p:nvSpPr>
        <p:spPr>
          <a:xfrm>
            <a:off x="11317455" y="2126953"/>
            <a:ext cx="6070098" cy="105031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1600">
              <a:sym typeface="+mn-ea"/>
            </a:endParaRPr>
          </a:p>
        </p:txBody>
      </p:sp>
      <p:sp>
        <p:nvSpPr>
          <p:cNvPr id="92" name="文本框 91"/>
          <p:cNvSpPr txBox="1"/>
          <p:nvPr/>
        </p:nvSpPr>
        <p:spPr>
          <a:xfrm>
            <a:off x="11316185" y="2159974"/>
            <a:ext cx="6072003" cy="294011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600" b="1"/>
              <a:t>Spatial Constraints</a:t>
            </a:r>
            <a:endParaRPr lang="en-US" altLang="zh-CN" sz="1600" b="1"/>
          </a:p>
        </p:txBody>
      </p:sp>
      <p:sp>
        <p:nvSpPr>
          <p:cNvPr id="95" name="文本框 94"/>
          <p:cNvSpPr txBox="1"/>
          <p:nvPr/>
        </p:nvSpPr>
        <p:spPr>
          <a:xfrm>
            <a:off x="11102820" y="1702764"/>
            <a:ext cx="643269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ym typeface="+mn-ea"/>
              </a:rPr>
              <a:t>Pose Generation</a:t>
            </a:r>
            <a:endParaRPr lang="en-US" altLang="zh-CN" sz="2000" b="1">
              <a:sym typeface="+mn-ea"/>
            </a:endParaRPr>
          </a:p>
        </p:txBody>
      </p:sp>
      <p:sp>
        <p:nvSpPr>
          <p:cNvPr id="126" name="文本框 125"/>
          <p:cNvSpPr txBox="1"/>
          <p:nvPr/>
        </p:nvSpPr>
        <p:spPr>
          <a:xfrm>
            <a:off x="11317455" y="3368405"/>
            <a:ext cx="6071368" cy="282581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600" b="1"/>
              <a:t>Semantic Constraints</a:t>
            </a:r>
            <a:endParaRPr lang="en-US" altLang="zh-CN" sz="1600" b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652936" y="2259671"/>
            <a:ext cx="1388140" cy="646444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5652936" y="2415249"/>
            <a:ext cx="1388775" cy="336557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Point Cloud</a:t>
            </a:r>
            <a:endParaRPr lang="en-US" altLang="zh-CN"/>
          </a:p>
        </p:txBody>
      </p:sp>
      <p:sp>
        <p:nvSpPr>
          <p:cNvPr id="11" name="矩形 10"/>
          <p:cNvSpPr/>
          <p:nvPr/>
        </p:nvSpPr>
        <p:spPr>
          <a:xfrm>
            <a:off x="5653571" y="3317604"/>
            <a:ext cx="1388140" cy="646444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5653571" y="3473183"/>
            <a:ext cx="1388775" cy="336557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Init Seeds</a:t>
            </a:r>
            <a:endParaRPr lang="en-US" altLang="zh-CN"/>
          </a:p>
        </p:txBody>
      </p:sp>
      <p:sp>
        <p:nvSpPr>
          <p:cNvPr id="13" name="矩形 12"/>
          <p:cNvSpPr/>
          <p:nvPr/>
        </p:nvSpPr>
        <p:spPr>
          <a:xfrm>
            <a:off x="7784043" y="2259671"/>
            <a:ext cx="3769443" cy="2917889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7953592" y="2383499"/>
            <a:ext cx="3383354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/>
              <a:t>Object Insertion Operator</a:t>
            </a:r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8045034" y="3034388"/>
            <a:ext cx="3249366" cy="368308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9042005" y="3034388"/>
            <a:ext cx="1388775" cy="336557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Object level</a:t>
            </a:r>
            <a:endParaRPr lang="en-US" altLang="zh-CN"/>
          </a:p>
        </p:txBody>
      </p:sp>
      <p:sp>
        <p:nvSpPr>
          <p:cNvPr id="20" name="矩形 19"/>
          <p:cNvSpPr/>
          <p:nvPr/>
        </p:nvSpPr>
        <p:spPr>
          <a:xfrm>
            <a:off x="8045034" y="3713853"/>
            <a:ext cx="3249366" cy="368308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8396196" y="3713853"/>
            <a:ext cx="2634038" cy="336557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/>
              <a:t>Interaction-Level</a:t>
            </a:r>
            <a:endParaRPr lang="en-US" altLang="zh-CN"/>
          </a:p>
        </p:txBody>
      </p:sp>
      <p:sp>
        <p:nvSpPr>
          <p:cNvPr id="22" name="矩形 21"/>
          <p:cNvSpPr/>
          <p:nvPr/>
        </p:nvSpPr>
        <p:spPr>
          <a:xfrm>
            <a:off x="8045034" y="4425068"/>
            <a:ext cx="3249366" cy="368308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8396196" y="4425068"/>
            <a:ext cx="2634038" cy="336557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/>
              <a:t>Behavior-Level</a:t>
            </a:r>
            <a:endParaRPr lang="en-US" altLang="zh-CN"/>
          </a:p>
        </p:txBody>
      </p:sp>
      <p:sp>
        <p:nvSpPr>
          <p:cNvPr id="24" name="矩形 23"/>
          <p:cNvSpPr/>
          <p:nvPr/>
        </p:nvSpPr>
        <p:spPr>
          <a:xfrm>
            <a:off x="11713509" y="2259671"/>
            <a:ext cx="3769443" cy="775352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11810031" y="2383499"/>
            <a:ext cx="3575763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/>
              <a:t>Physic-Aware LiDAR Simulation</a:t>
            </a:r>
            <a:endParaRPr lang="en-US" altLang="zh-CN"/>
          </a:p>
        </p:txBody>
      </p:sp>
      <p:sp>
        <p:nvSpPr>
          <p:cNvPr id="28" name="矩形 27"/>
          <p:cNvSpPr/>
          <p:nvPr/>
        </p:nvSpPr>
        <p:spPr>
          <a:xfrm>
            <a:off x="11714144" y="3247118"/>
            <a:ext cx="3769443" cy="1930442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11810031" y="3370945"/>
            <a:ext cx="3575763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/>
              <a:t>Fitness-Guided Testing</a:t>
            </a:r>
            <a:endParaRPr lang="en-US" altLang="zh-CN"/>
          </a:p>
        </p:txBody>
      </p:sp>
      <p:cxnSp>
        <p:nvCxnSpPr>
          <p:cNvPr id="30" name="直接箭头连接符 29"/>
          <p:cNvCxnSpPr>
            <a:stCxn id="4" idx="2"/>
            <a:endCxn id="11" idx="0"/>
          </p:cNvCxnSpPr>
          <p:nvPr/>
        </p:nvCxnSpPr>
        <p:spPr>
          <a:xfrm>
            <a:off x="6347006" y="2906115"/>
            <a:ext cx="635" cy="41148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肘形连接符 30"/>
          <p:cNvCxnSpPr>
            <a:stCxn id="11" idx="2"/>
          </p:cNvCxnSpPr>
          <p:nvPr/>
        </p:nvCxnSpPr>
        <p:spPr>
          <a:xfrm rot="5400000" flipV="1">
            <a:off x="6705789" y="3605265"/>
            <a:ext cx="732806" cy="1449737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>
            <a:endCxn id="24" idx="1"/>
          </p:cNvCxnSpPr>
          <p:nvPr/>
        </p:nvCxnSpPr>
        <p:spPr>
          <a:xfrm>
            <a:off x="11519830" y="2647664"/>
            <a:ext cx="193679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>
            <a:stCxn id="24" idx="2"/>
            <a:endCxn id="28" idx="0"/>
          </p:cNvCxnSpPr>
          <p:nvPr/>
        </p:nvCxnSpPr>
        <p:spPr>
          <a:xfrm>
            <a:off x="13598230" y="3035023"/>
            <a:ext cx="635" cy="21209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464631" y="2443190"/>
            <a:ext cx="3319853" cy="612153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7463996" y="2546697"/>
            <a:ext cx="3320488" cy="368308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/>
              <a:t>Laser Emission Unit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5948853" y="6572051"/>
            <a:ext cx="6096134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这里我是模拟一个虚拟雷达 他也能旋转，然后也能按照设定好的分辨率发射激光。同时激光也有能量 你觉得怎么拆分Laser Emission Unit 好一些，最好一对一和这三个功能对应上</a:t>
            </a:r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12334553" y="1905333"/>
            <a:ext cx="1433226" cy="3076642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12334553" y="1905333"/>
            <a:ext cx="1433226" cy="384183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/>
              <a:t>Target Object</a:t>
            </a:r>
            <a:endParaRPr lang="en-US" altLang="zh-CN"/>
          </a:p>
        </p:txBody>
      </p:sp>
      <p:sp>
        <p:nvSpPr>
          <p:cNvPr id="18" name="矩形 17"/>
          <p:cNvSpPr/>
          <p:nvPr/>
        </p:nvSpPr>
        <p:spPr>
          <a:xfrm>
            <a:off x="7480506" y="3400791"/>
            <a:ext cx="3320488" cy="612153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7497017" y="3538589"/>
            <a:ext cx="3314138" cy="368308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zh-CN" altLang="en-US"/>
              <a:t>Laser Receiving Unit</a:t>
            </a:r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10865130" y="1799921"/>
            <a:ext cx="1304319" cy="9309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/>
              <a:t>Transmit </a:t>
            </a:r>
            <a:endParaRPr lang="zh-CN" altLang="en-US"/>
          </a:p>
          <a:p>
            <a:r>
              <a:rPr lang="zh-CN" altLang="en-US"/>
              <a:t>Pulse </a:t>
            </a:r>
            <a:endParaRPr lang="zh-CN" altLang="en-US"/>
          </a:p>
          <a:p>
            <a:r>
              <a:rPr lang="zh-CN" altLang="en-US"/>
              <a:t>Signal</a:t>
            </a:r>
            <a:endParaRPr lang="zh-CN" altLang="en-US"/>
          </a:p>
        </p:txBody>
      </p:sp>
      <p:cxnSp>
        <p:nvCxnSpPr>
          <p:cNvPr id="35" name="直接箭头连接符 34"/>
          <p:cNvCxnSpPr/>
          <p:nvPr/>
        </p:nvCxnSpPr>
        <p:spPr>
          <a:xfrm>
            <a:off x="10807979" y="2730851"/>
            <a:ext cx="1465612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6" name="直接箭头连接符 35"/>
          <p:cNvCxnSpPr/>
          <p:nvPr/>
        </p:nvCxnSpPr>
        <p:spPr>
          <a:xfrm flipH="1">
            <a:off x="10827030" y="3722743"/>
            <a:ext cx="1481487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8" name="矩形 37"/>
          <p:cNvSpPr/>
          <p:nvPr/>
        </p:nvSpPr>
        <p:spPr>
          <a:xfrm>
            <a:off x="7497017" y="4284095"/>
            <a:ext cx="3320488" cy="612153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/>
        </p:nvSpPr>
        <p:spPr>
          <a:xfrm>
            <a:off x="7513527" y="4358392"/>
            <a:ext cx="3314138" cy="368308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/>
              <a:t>Signal Processing Unit</a:t>
            </a:r>
            <a:endParaRPr lang="en-US" altLang="zh-CN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12598" y="1637992"/>
            <a:ext cx="5018515" cy="2106976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rcRect t="8846" r="328"/>
          <a:stretch>
            <a:fillRect/>
          </a:stretch>
        </p:blipFill>
        <p:spPr>
          <a:xfrm>
            <a:off x="10697487" y="1487494"/>
            <a:ext cx="4443192" cy="2407973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item1.xml><?xml version="1.0" encoding="utf-8"?>
<s:customData xmlns="http://www.wps.cn/officeDocument/2013/wpsCustomData" xmlns:s="http://www.wps.cn/officeDocument/2013/wpsCustomData">
  <extobjs>
    <extobj name="334E55B0-647D-440b-865C-3EC943EB4CBC-1">
      <extobjdata type="334E55B0-647D-440b-865C-3EC943EB4CBC" data="ewoJIkltZ1NldHRpbmdKc29uIiA6ICJ7XCJkcGlcIjpcIjYwMFwiLFwiZm9ybWF0XCI6XCJQTkdcIixcInRyYW5zcGFyZW50XCI6dHJ1ZSxcImF1dG9cIjp0cnVlfSIsCgkiTGF0ZXgiIDogIlhGc2dSMTk3WkdsMmZTQTlJREVnTFNCY2MzVnRYM3R6SUZ4cGJpQmNiV0YwYUdOaGJIdFRmWDBnY0Y5elhqSWdJRnhkIiwKCSJMYXRleEltZ0Jhc2U2NCIgOiAiaVZCT1J3MEtHZ29BQUFBTlNVaEVVZ0FBQW1zQUFBQzNCQU1BQUFDL0FRU3FBQUFBTUZCTVZFWC8vLzhBQUFBQUFBQUFBQUFBQUFBQUFBQUFBQUFBQUFBQUFBQUFBQUFBQUFBQUFBQUFBQUFBQUFBQUFBQUFBQUF2M2FCN0FBQUFEM1JTVGxNQU1sU0p1OTN2elhhclpwbEVFQ0pKUS9TUEFBQUFDWEJJV1hNQUFBN0VBQUFPeEFHVkt3NGJBQUFUa0VsRVFWUjRBZTFkZTR4clIzay8zdmZMM2dYS1E2S1NMUVNWRUtKN0F4Y0pGSXFOcWx5b1F1VkZrSVNnRXQ4cXlRMHRCVzhFM0RTOHpxSzJndis4VkZIelI2cmFyUkNpVktwWEtpMmlvYlVMQ0tpSXVsc3Bsd1Foc1c0RnREekVYa2pXbDV2WDhQdm1jVjV6anM4Yzc5bGRyMzFHMmozeitPYWJtZC81WnVhYmIrYU1MV3ZNWEtIT2tycTFNWU5nbU9hc0pBV05zZTFoeWhtelBGUEpZWHQyekNBWXBqbTU1TEQ5YXBoeXhpMVBXZUFXMWZQeTMvLzVWejkvNDAxZWNQdmpCc0V3N1prWGlEdzFPRy8rK2VmZHVhTTBtSFlpVXZNU2psNWNhL092cWttWjI0d2psZW5mdnN4dWU2TWg3WmtqV3hkZ2JNUlhQUDhYZ3ZRWDhhUkU4VGxPZmVlZUdmVlpvMW9XV0R4dFV1OFhjTkc4YmtKcS9aQzk2NzkrOWpyR1lycS9FYTlSSktvSjNFb21kVnZndUprSVVJNjluUmcyeGxiUE94Q3dQV2NDbXpWTnhPY01TSC8wSkFjWENvNlpjQnF3SEMyU0pRSGJOYk5hZlEvVUZ3MUk3VTFCdE10WXk0RDhESkkwQlc0bU1vVFdmWU94WDhZM2NvcHhZYk9zUmNiR2RGa3hLMkI3Smg0TW9zamJ6RUF3WjlRVVUyQnNUSmNWY29IVmwvSVJoeDdrWnkyT3h0cG5kMG9hbXgzR1VwOU5Ba3gzNUNxR3RTOGJHRUdLakcwSmRtV20rcXNoK3pORE5rT2dtWGVtUllQUkNqUEJwbWgvbTdIZW1VRWlVVVhWQWl1Kzd3bTIxU2RpMlI4NHdydk9XRGVXL0d3U1FEYkl2ZCt3OXJQeFJoQk1NeVhCRGRKbStqb01peDhaTXE3RW1pdW1oWGhWckZCOXQyeGRZMnc3cVdYWlhOcmkwWkJRbERmTTMzaVY2Ykw1L1BPM3NudmVLb1Z3ZXRPYzJZaFJIZ2pZekJaWWxqVm5hQVNoVmpLbVZEalY1cW0vRXFVZHRuaE1KOEU3VUN4RzVDbTNGRXcxckFYemRlWUNZNEdYOFZJQzdaNkhIcWl4ZmduTm4yWTdJd0xDRU5Yb0NBRXdiY0VqeGtYTXNRQXMzMFJKNzNzMTh1ZGZ6dVd3cmVZT1k1WnBFT1l1OWRKZ0l4ZFlCcXZOaEtXMUEwUGJid0MxdjVZOFhnaTlHWEsrbDVCbEd1Uzc2YndzTEIyNTY2VlJKdzhQOFAyQUoyaVJVZlJ2bklqbWRXdjNWTlplc09PVW5Gb2N4UVAxaXR6bVVYaUU1TVVPejVvbmVxWE8yTDF1ZUpsOVVwOHgzT1JqOHoyT2FwUlM0WTRGT3JsNC9UOVphUjNtTTZ5VUEwczR1MjlraGtwV1poeDE0YlBVMGxJY21WRzZXbUIxamFoTmlSWlkzeXRzanpGMjZBMWJwUGljckRsdTZ1R2JDTFMwWUxPS25KbnhBc3NNdURaN2o0ZVF6dWw4M0JPMitGQzM0WXM1N2dBTnJ2MDMyYW5CQmdXTDNKTnAxbnZKeis1RkdudWFpWGJTTERHVzEvTGR0LzNyR3EyS1NyR2taZ1JnUlc3TGpOcUlxdTNicmFIVFRaVkFQanU5K2djNER3eW1XT3gzMENxNEJPdW1nVFZENHBKL1BpZ3kzWnplT0IyMXpVN3ZiY21qYnFZTHJEak1rTjQrN0htb2FHVFRURlBGVTFIYjB1eWtWZ2V5QnJmdGFlcVJ2QXZzOTNuK2YranhCMGx6bC9zOC8xYTFoYjRuOGZpOGRuclNacGtkUGpKdlMwTXUrR3M5bmdkVjFiWENPWlBkUS9NaVRTblRoQzNsQmRhQ21nOFlid3laUW5WZFkvYUUxVGFKYTVxd1dXMjBERTV2bk9sTDlORTFuaExCbk5oVzNRWG5OUjhCQldiU0trM2pQRERDVHJHVDBnNDZ1YUJaY1dBRkloTVgxRUEyTGZvcUpnVFphYjFaWms1WWJaTmwyMm5DWnRVSXRaUTROcVRsSTcvTGQrVkpPMy9PQzVqd3o2U21kdXE4QjhUWUtUVlNGRkZFMitBME5XRkFCYUtTc0JxOVJBN3MrR0wrQUo0ZG5YaitWS3h0cVNvZ2xpVVhXQVpuUEhRQUFqRmx3Q1FkRjdJcUFuc0JHZ1JuVTFRVGRlNlJNWGFxMG1aUjQrRE9SWllYbXBDN2NQZ1puckIwb2YvQkh2ZkpMVVRPN1NwaTZKeEp5TkJtemVrNkNjOS96UC9zZEdHVEN5eWZqU3krQmVWK25XdTJqOWY3TlhhZHkxU1JBeWIrYllERERMeGh5N1pjS1o3OU1WRFk2Y0ltRjFpbWg0OUVneGI2M1NsMnVHZmw2ay8wck44UzZLeDdZTnNHR1ExdEJOK0l1SlJoczhxaXVaVWt6U3RpOEtwaVRkWjRHb0lHblhrdEpEUHhiWVhFbjFLVW5hNjBxUVZXb3BOODFTMExjRDgzTFhTSmN1aEVYQWRzQUhWVVhOcXdxUVZXbU1SRXRMbEFpNmMyZTZJc3hxNzlzS0dmT244YTgzTm9GZksvK1VpVTY0Vm00SWMzU2hGSncwWExRV25EUFBjeXJTb2F3RVZBamNHL3AyV21pZlhZNWt3NWo2RUl6VVgxR2p2bFRzcXQreWc5VEZuUXdCQVJxeVJsWmFuVjh1MkJIWTJTZHEvREpsS05jSmlJWFRDUGNGRW1manR0Mk5RQ3EyWGNnTjJMSUcwNnloNVVab3J3dTMwMDY2by9LaUtVKy93YjNuS0xrTnNJQ2kxNmtRYk9jUGNIR3JHSXNGT0g3VUJVZ0t2MkVZWDZvenNrWEhYbnpBSStjOUR6a2tCcytMTkZoSGp4eVdDTDREUW9PbjNZNU5jZDVvdWVXZ25IWU54dFkrVFhUNUkwQU52Mm9IWTRhWS9lQ2xJVmVySDRsRVlGMDN1bUR4djFOM0lrUXlZdVQ0b0ZEc0FvRWNQb3J3L0VIVERjTXVFR21uMW5seERUdWhuV2hweGRNanYxVG1vbFhHQk4wYkFMczlCRldTa1k3ZlE1c3dyWXVwSWc3ckh2d0E2dWxUanE0ZEtQQVRaYWRjT1pMckJ5YjBQTk1WTXF1WUFDb3RzNWJUQ0VVRHB1NmJXdi8vUVgvdTVsTC92Q3AvL3NCaWRTZXRhZGJVS3dhZ1ZUMHdtalBxVlFUajhMMXdEL3cxdjUwSXhDQjBNek55T1N3NkwzM1FZQ1FWM2FhbmdOM254RjhKZE8weEhLenB5N0V2SUN2RnlHOTlzUnNKR2lGT29NakJ0a3JZQXpvSFRxdmU3cXVQdGhYOTdXY0diR0lZYm5SVlNBY0hMSHdVMjEzUmYydnowM09sV2ZIUUhicXFwVjhLa1AxMXA5NU9FamZUN1VLSjJJaml0TXUyR0FZMndMckszeS8vUDNWTFViZE9sM05FQ0hlL29lT3dLMjZScFZTbmY5VHhqVUFTMkgyemFnVkNRd3N5bHZPV3c5ME5RT3pZQWNaZWlqb0lYbGExZnhPcmFuSFFIYmtRcWtGV1JRT2dZeWhOcm05RFVJMWxXTnVCTUNHekl4cGJWNE1xQndUK2lZdlBaeHdHYUJxKzlnV2x6bG9iWTVLMDVrcldqMGpjRFlSZ1JrRmJtb1VjSjBGZWpPT3NuUlk5REEwdEc1QkRrY1lPTHJCU01IaEQxcUc2a3ZMWTBVM2Q0M2t4SUJ5ZlNPUm1tdGhrekVPdFVSWTQ0SE5zeWxTZVpSVXRzcXNpRUVSazlyMUNwaWc1RjA1S1FVakxSd2REeFIwY1JnQk94dHZCM2xNSW5SVytqRTdMdExKeURvVXpVRURlazBQWWRjZUFoS2ZSNkZDZXJaQUdGY2NCVHNiVlJIREZXNnhqcW84dXZLUmtrcnlwQ1ZQTitBYlFVNEZJTUFGODdYYnU5aVhOMFFoRisvOUtjcXg5U0ZlN2E0ZjZFdW5pcUJQekVDUkRsTmw1WVo3VkJCOTNGTkhpZ20wejRzT2htblNtbUVXb2pJMWw1UkpQSUpTcC8ra2F1eSsrM3JVRXZFZ1Bjb3U0L2RJVWp6MVd1Mk9HSFlDT3ZCSTJGdncrWlRQZWxrVm5PTUZsWXR2SDgzZGJXa0dwRExNdnQzcTFCOW01U0RmRzNic3VXY2V1VTZSczlOZ3JEdUZpVEJIKzVoSDRPMFhVbDZDc1JqYmNORUdqSzA4WDFTUjdNVExTVzF6VHVLUGNZNzkveWhIUEJtTUV4MDVKUlJQWWZEVUh6UjRscERoNE5MNVRvTzJNQ3pwL2diUFQxcUcxUVJSNFB6NWtWOFFBT2hLVmVPWWtTWXIvSEZBWHF6Z0wyTnRLbzRWYkVFb1pzUm95MDZ0cGZyMFA1amdBMEdzNFFxQUhKY2xTMDRpRmhSMGpyM25LK1ZOUC90dURHemNoWnF5Z0d2MXFNdXlRbG1ueVBMRkI4SHA0UGd1d3dTK1k0Qk5yelJWcUk2V0hQdUtzbU9HaGFMd1pkUkJXd2x0NXltRkwyMjZJMUxtQU1oZWJ3aTdRcDFjdEhIN2RBaHdHVmo2QU5zbkxVaHVRRlpZdTNETzNBaHMrODdTTGM4MnFKWWM0UGlhcTQ5SndMSklyVWhCcnhaREdYb3hqMGlxSFg1cmo5NXJmVW9sWUtuR3YrcnVZcW1jWjdCaEVWZFZSaWNnYmJrbFl4OUozcFIxbUhzRHoyTU9rKzJ2WlBIdnVJZ3BXNy9JcjdJRjlObW5nYkZtalRDclNaVEtEMEYrcng0aDd6Lyt5S1BFa2l1ZmZCTlVpRVhHTmQ5RThJckwvZnY3OHJhMEpIRExhZG0vOGNxODNJVTQzRmwwVGRwUE51bWlCOXUwVEtMejU2RmQvSGpjUzJLdGxaNUZQY2U0Ujk5UXYyVUsrcEg0S1N5SnRZK2tCRjZYbm1UR0Z6eGZ3ZFpadTk4b05ZdlVRcmNMbVN5eEgyVzlXUFk1M0tlbVFmYXlGV2VwTVl6Q2pTZGlZYjZxMmpsS3FhSEk3bjhheDkrNEFKUXc0ejlldy85VSt0SXZEeVpNVkt2ZVlJbVhqVDFpVm1hNkZacThyc1hrZXNLK3plTTZ4MDFMUmZBdXY5SlNzcDlpdlc3VU1zRVVoU0RvYTFDVC9MMHVJZnZ2VzVMcitxdndINURSUTM1SkhYUmRaVWh1UVN6UWI5U3pRd21SWWJSMUdjSzlYdXRYRk5PZDRJeVgrTWRhdHFaKzNMQWpWMjcrY3MzNFUyM1FETlRFWVRrVlRQYm9xdGhnRzFYRVJRVjU4YU9paHJ5bVdlWGJybFB1QS9mV3E4TXlTV1lyYUhxSDB3WUVPWnEydzhZOVB2MzdubklGc1ZROWdOSGZLemNQOHYzL0w0MUR4MTVWNVdRemFIM1NqZnZJbWgxMUlLaTJWWEpvL1NFQXNIVnlrUjFndHEyYVZrdnI5LzlsNzVzdTF6TW9PZDZNUHJKRnkrenUyLytSeDhkQllwSysxZjZHZUlPUEdhWXVqSUVCSllhR3FQVGlVRDFLNGxMUHZCT2tXN3VKcGNidkFnM0t0SzNxL1NQTm5QRy9MTHJ4VXEzeGZOT0pYK3BrV1dtbHdEUmNFWWljNjd0OEZta3p1MFhPU1B4eFdGTVVWNkhYVlFGT3hMbW1Tam1mZnFOb2p6dEoweXpRM3dCMHd3VktFeFpXOVNlYjdmb2Y0eHJxeUcvUm1yYjY0Z2FPelFseTNwRmovekxhcGdyWWpRWVBWY05sNXVZaWtZWXdUQnJjblVqSmpkUFhwZmFMckJ1UVEra09ER24xbnJrbjFGOWVDUm5CR2dmUXlqaFVOdCtSVzBMT3BzQnVLOEVZOFBEUmFuMlFPbFlzOFNYbFB2VXUzTml6SmlSMWtuNWpXVTRqMU9MYllTUDdUSDFJYlV0akdRZHNESG5IdGt3Q2pkdVZiNHZUTXI0OG91L2hYVmFweTBLdThlaVZFdG1SM0ZvdzJneXpFVGxzYmE1T01CSGRraTRPM3lSRVlGbEtiRDhhc0g1WjRtcVRKUERQdjdnRm1RbkxlL3c0R2o5S3c2amZaQ2hndFMyRVBjNURwdlJPYm1DNklWNEEraVZSY3dLZEZ3TVhLc3R6aGZqd0I0OFUzSnZnY2VOeWovU1BxaHlTZDFCMEc3ck1QamFCUUx1bkJNZTRHbXdMdGF2OXNkb3lxekNTeHB3eFZwUU9IVTRsL1VocG5saWRhd08ya2VFaVZFck52OTZUMVRiWjZYMUpNRDdreXFqdmhidkZtR015K01xaHliclRndEw1QXd5ZHQ0amM4NVRKLzZ1NzVxcGVKNG5RNEVXcmhtV0pEOS9GOVJOWmRRSnk1eXJ1ZGFmc0hRbnJzRnV0L3RkYUdoUDJoL25rZm5hdGVvMVIvbzc3SzRIZmVZVkorTXBlNUpvSC92UHVKV2xnME5PNjl6b0Y4c203eHZDbHY5VS9mWVNzdjluL1IyU3ljS0Z1eWhDdU1LZlh6NzhpZ3FNMGhOOWJjdTBQdVVOUmZuNGwyM0FkdGZEcjFFUjhvbEJmSWQ3RjcyN2VnR2lNUWhDYVBqUzI2UXBCUmZnRGtEakxwQVBjK0kyajFwTTJXZ2ZLT2UwZ3dkUmFrUkl4V2JkWHRudTMzM2JmYmRjMGlESC9OTGlPZWVNQjh5UWdrWStLcEgyMFluZmRaUGJ3VkMvakdWNDVERUtxU0RPNkpscUg5RFo0MWV1eS9JT3l0d3dKcFdRK28xb1ZOTmMrOEMyNk5YWVZ1U2tscnMra3JwV2JQVU5DYkIrakpjZ3lRc2JubUtTSE1pN2ZhMkw5Syt6VHd5a091T0owRDdPbVRiQlREQlhhdXhERDlqc2owMjVua1c2Sk5ySEM5VlJxcGlHNXM1ZjduL29oaGlpczUyY1FQc2djeEMzaDUzdEZxZFJleHpkTUxWOVROVUFHN2VIcFZIdzJlWmhybjF3MUdEUnlSd1F3Q0RmTlFLQ2JuNkhLeGtSanpzUmhpdGhzbzlwYVA2ekhEUzErUlpEUGZiSlp0cEg0VlUxZ2RwUUd3N2pCNktKOXZIZjMvcVN4QXlQVWR3K092blg4aU9jRG4xZWxIc0V0d0RjK0tBWTBoUndHeWRmeDlFckVkcEhRcmMxZW8wNCtScEIrMGpvOWs2K2txTlhZak1oYUpwRmN2U2FkQUkxb3NWU011Zlpmam1CK28xb0VldkpNQVAxeFJGdHlVbFd5Mzl3MmdoQ1l3dlRTYmJqaE11aW44eEk2SG9uWE1Xc3VBeUJESUVNZ1F5QkRJRU1nUXlCRElFTWdReUJESUVNZ1F5QkRJRU1nUXlCRElFTWdReUJESUVNZ1F5QkRJRU1nUXlCRElIVUVIakpnL1grTzhmN0FIaHFXRG1NY0drV2QzZG14MmNjVE9JOTRzUXpBZWU5THpFKzMyUlQ1R3gyejBQOHU5dGhya0thV096YS9UZFIyNzlsUTl5NkU0dEMwb1l2cWwvc3dPVmk3dmZMU2JsTUhIMkg5V1NiY2JaOGErS2FiOUxncVJ2ZmNndTVqN3JFQys3Sit2MnNrN3E0ZUh6eXd3M2ZHTGJQbkhPVWMrcGlNRStXekd1SjI0a0FHbk12TUxHY2F6WHBCczZkRENVTkFYd3kra2QvMnd0R3UvZXRXL09mQ1NabVlib3krR002RExnUXhmaTdjRDMzQk1SMDJOdERXb2x2ak5UOVZpR3BXZFN5TzJONndhRGYvZHJ5Um1SK0h3SnRlVitNTHhJQndKWjk3ZTBEeFh0Qi8wb1VPR1hnOW1aZnRna1ArQzdvbjQyNjJnTFhGakdXVGFHT3JQZ3Y2RzlIM2ZNc1BnVjhSOC9KTjltZXdBWDlkV2N0RUlRRkYrUEJYV3NGNHljejdMK2dmMm5BdlFzLzVyajF0eVlUcDBDci9SZjB6d3k2ZCtIL2F3UmN2eFRnTUpIQkpyOWhUVjNRdnpyd0Z3bHkvMEs0amZXVmJLWXk0TCtnZnpjR2sxY1FicHVtdk1lWExuQkJmenRPcFNYcnlOUGpDNGR4eXpBNWVpN29MMGRPcElwaEU3ajFWR0J5bnpaZ2NDL29KMUE4VHRuYmxyN2s3SXpTWitMbkpoY3UxWEx4MmZlZE1sajFZRWJlTG8rZnFudHU4UVJKUlZKUDhFTmVNbkNIZ0tEVDUzc0k2dC85SXJicU5YNGMrSDVZZEdLUkV5WndlVUYvNk5nMjcvNElFRkRDelNIYkV3dVdwK0hlQy9yYllUL0pXUGFwSExqQmVjdVRlNEs5N2dYOVJjOGdwZ0NCamxKUmZqeXhObDN6QkNmWjYxelFQK2RlZk8zZ2dTdGpONTJBNTNlQVBIR1Q1ZzFlMEw4YzBnSFJLNS8xNExLYVhVV21YZENmWXhjOUNBbnZqSDlkME03VU5naVNtQldkQy9xcitweEFocmFTQTJhK0hyTnNkU2pIMTZOZjBIK2dqL2ZZNi9Oc01Eem1teC9HRjVwQkxkTXY2RjhPdWNxZWxnNzNTallyOWJqRi9xRHl4aVF0NUlKK1cvOWxxaXVBalgxa2o5cjh0WHEvT3ladFAwSXpRaTdvdjhMK0pNZ3dieE51L1p0dmZMREdNcHM0b2FOZjBJOUx0czRGY1hNdnh6djhuV0RhUklaWDlBdjZIMlY5RFp1ZjFrbmVHTk4rTlhraVFVT2pReTdvTHpQMjFyVUFIaXZuYiszZjlydS9IWWpOZ2g0RUNrM0lsVEFnZmRRVG5YbGpFQ2p3RFNwZ3A4eVVNZlJac2tUZ0paZ3p5U21qK05HQStUWFBudkVzc1JWc0ZBQUFBQUJKUlU1RXJrSmdnZz09Igp9Cg=="/>
    </extobj>
    <extobj name="334E55B0-647D-440b-865C-3EC943EB4CBC-2">
      <extobjdata type="334E55B0-647D-440b-865C-3EC943EB4CBC" data="ewoJIkltZ1NldHRpbmdKc29uIiA6ICJ7XCJkcGlcIjpcIjYwMFwiLFwiZm9ybWF0XCI6XCJQTkdcIixcInRyYW5zcGFyZW50XCI6dHJ1ZSxcImF1dG9cIjp0cnVlfSIsCgkiTGF0ZXgiIDogIlhGc2dSMTk3WkdsMmZTQTlJREVnTFNCY2MzVnRYM3R6SUZ4cGJpQmNiV0YwYUdOaGJIdFRmWDBnY0Y5elhqSWdJRnhkIiwKCSJMYXRleEltZ0Jhc2U2NCIgOiAiaVZCT1J3MEtHZ29BQUFBTlNVaEVVZ0FBQW1zQUFBQzNCQU1BQUFDL0FRU3FBQUFBTUZCTVZFWC8vLzhBQUFBQUFBQUFBQUFBQUFBQUFBQUFBQUFBQUFBQUFBQUFBQUFBQUFBQUFBQUFBQUFBQUFBQUFBQUFBQUF2M2FCN0FBQUFEM1JTVGxNQU1sU0p1OTN2elhhclpwbEVFQ0pKUS9TUEFBQUFDWEJJV1hNQUFBN0VBQUFPeEFHVkt3NGJBQUFUa0VsRVFWUjRBZTFkZTR4clIzay8zdmZMM2dYS1E2S1NMUVNWRUtKN0F4Y0pGSXFOcWx5b1F1VkZrSVNnRXQ4cXlRMHRCVzhFM0RTOHpxSzJndis4VkZIelI2cmFyUkNpVktwWEtpMmlvYlVMQ0tpSXVsc3Bsd1Foc1c0RnREekVYa2pXbDV2WDhQdm1jVjV6anM4Yzc5bGRyMzFHMmozeitPYWJtZC81WnVhYmIrYU1MV3ZNWEtIT2tycTFNWU5nbU9hc0pBV05zZTFoeWhtelBGUEpZWHQyekNBWXBqbTU1TEQ5YXBoeXhpMVBXZUFXMWZQeTMvLzVWejkvNDAxZWNQdmpCc0V3N1prWGlEdzFPRy8rK2VmZHVhTTBtSFlpVXZNU2psNWNhL092cWttWjI0d2psZW5mdnN4dWU2TWg3WmtqV3hkZ2JNUlhQUDhYZ3ZRWDhhUkU4VGxPZmVlZUdmVlpvMW9XV0R4dFV1OFhjTkc4YmtKcS9aQzk2NzkrOWpyR1lycS9FYTlSSktvSjNFb21kVnZndUprSVVJNjluUmcyeGxiUE94Q3dQV2NDbXpWTnhPY01TSC8wSkFjWENvNlpjQnF3SEMyU0pRSGJOYk5hZlEvVUZ3MUk3VTFCdE10WXk0RDhESkkwQlc0bU1vVFdmWU94WDhZM2NvcHhZYk9zUmNiR2RGa3hLMkI3Smg0TW9zamJ6RUF3WjlRVVUyQnNUSmNWY29IVmwvSVJoeDdrWnkyT3h0cG5kMG9hbXgzR1VwOU5Ba3gzNUNxR3RTOGJHRUdLakcwSmRtV20rcXNoK3pORE5rT2dtWGVtUllQUkNqUEJwbWgvbTdIZW1VRWlVVVhWQWl1Kzd3bTIxU2RpMlI4NHdydk9XRGVXL0d3U1FEYkl2ZCt3OXJQeFJoQk1NeVhCRGRKbStqb01peDhaTXE3RW1pdW1oWGhWckZCOXQyeGRZMnc3cVdYWlhOcmkwWkJRbERmTTMzaVY2Ykw1L1BPM3NudmVLb1Z3ZXRPYzJZaFJIZ2pZekJaWWxqVm5hQVNoVmpLbVZEalY1cW0vRXFVZHRuaE1KOEU3VUN4RzVDbTNGRXcxckFYemRlWUNZNEdYOFZJQzdaNkhIcWl4ZmduTm4yWTdJd0xDRU5Yb0NBRXdiY0VqeGtYTXNRQXMzMFJKNzNzMTh1ZGZ6dVd3cmVZT1k1WnBFT1l1OWRKZ0l4ZFlCcXZOaEtXMUEwUGJid0MxdjVZOFhnaTlHWEsrbDVCbEd1Uzc2YndzTEIyNTY2VlJKdzhQOFAyQUoyaVJVZlJ2bklqbWRXdjNWTlplc09PVW5Gb2N4UVAxaXR6bVVYaUU1TVVPejVvbmVxWE8yTDF1ZUpsOVVwOHgzT1JqOHoyT2FwUlM0WTRGT3JsNC9UOVphUjNtTTZ5VUEwczR1MjlraGtwV1poeDE0YlBVMGxJY21WRzZXbUIxamFoTmlSWlkzeXRzanpGMjZBMWJwUGljckRsdTZ1R2JDTFMwWUxPS25KbnhBc3NNdURaN2o0ZVF6dWw4M0JPMitGQzM0WXM1N2dBTnJ2MDMyYW5CQmdXTDNKTnAxbnZKeis1RkdudWFpWGJTTERHVzEvTGR0LzNyR3EyS1NyR2taZ1JnUlc3TGpOcUlxdTNicmFIVFRaVkFQanU5K2djNER3eW1XT3gzMENxNEJPdW1nVFZENHBKL1BpZ3kzWnplT0IyMXpVN3ZiY21qYnFZTHJEak1rTjQrN0htb2FHVFRURlBGVTFIYjB1eWtWZ2V5QnJmdGFlcVJ2QXZzOTNuK2YranhCMGx6bC9zOC8xYTFoYjRuOGZpOGRuclNacGtkUGpKdlMwTXUrR3M5bmdkVjFiWENPWlBkUS9NaVRTblRoQzNsQmRhQ21nOFlid3laUW5WZFkvYUUxVGFKYTVxd1dXMjBERTV2bk9sTDlORTFuaExCbk5oVzNRWG5OUjhCQldiU0trM2pQRERDVHJHVDBnNDZ1YUJaY1dBRkloTVgxRUEyTGZvcUpnVFphYjFaWms1WWJaTmwyMm5DWnRVSXRaUTROcVRsSTcvTGQrVkpPMy9PQzVqd3o2U21kdXE4QjhUWUtUVlNGRkZFMitBME5XRkFCYUtTc0JxOVJBN3MrR0wrQUo0ZG5YaitWS3h0cVNvZ2xpVVhXQVpuUEhRQUFqRmx3Q1FkRjdJcUFuc0JHZ1JuVTFRVGRlNlJNWGFxMG1aUjQrRE9SWllYbXBDN2NQZ1puckIwb2YvQkh2ZkpMVVRPN1NwaTZKeEp5TkJtemVrNkNjOS96UC9zZEdHVEN5eWZqU3krQmVWK25XdTJqOWY3TlhhZHkxU1JBeWIrYllERERMeGh5N1pjS1o3OU1WRFk2Y0ltRjFpbWg0OUVneGI2M1NsMnVHZmw2ay8wck44UzZLeDdZTnNHR1ExdEJOK0l1SlJoczhxaXVaVWt6U3RpOEtwaVRkWjRHb0lHblhrdEpEUHhiWVhFbjFLVW5hNjBxUVZXb3BOODFTMExjRDgzTFhTSmN1aEVYQWRzQUhWVVhOcXdxUVZXbU1SRXRMbEFpNmMyZTZJc3hxNzlzS0dmT244YTgzTm9GZksvK1VpVTY0Vm00SWMzU2hGSncwWExRV25EUFBjeXJTb2F3RVZBamNHL3AyV21pZlhZNWt3NWo2RUl6VVgxR2p2bFRzcXQreWc5VEZuUXdCQVJxeVJsWmFuVjh1MkJIWTJTZHEvREpsS05jSmlJWFRDUGNGRW1manR0Mk5RQ3EyWGNnTjJMSUcwNnloNVVab3J3dTMwMDY2by9LaUtVKy93YjNuS0xrTnNJQ2kxNmtRYk9jUGNIR3JHSXNGT0g3VUJVZ0t2MkVZWDZvenNrWEhYbnpBSStjOUR6a2tCcytMTkZoSGp4eVdDTDREUW9PbjNZNU5jZDVvdWVXZ25IWU54dFkrVFhUNUkwQU52Mm9IWTRhWS9lQ2xJVmVySDRsRVlGMDN1bUR4djFOM0lrUXlZdVQ0b0ZEc0FvRWNQb3J3L0VIVERjTXVFR21uMW5seERUdWhuV2hweGRNanYxVG1vbFhHQk4wYkFMczlCRldTa1k3ZlE1c3dyWXVwSWc3ckh2d0E2dWxUanE0ZEtQQVRaYWRjT1pMckJ5YjBQTk1WTXF1WUFDb3RzNWJUQ0VVRHB1NmJXdi8vUVgvdTVsTC92Q3AvL3NCaWRTZXRhZGJVS3dhZ1ZUMHdtalBxVlFUajhMMXdEL3cxdjUwSXhDQjBNek55T1N3NkwzM1FZQ1FWM2FhbmdOM254RjhKZE8weEhLenB5N0V2SUN2RnlHOTlzUnNKR2lGT29NakJ0a3JZQXpvSFRxdmU3cXVQdGhYOTdXY0diR0lZYm5SVlNBY0hMSHdVMjEzUmYydnowM09sV2ZIUUhicXFwVjhLa1AxMXA5NU9FamZUN1VLSjJJaml0TXUyR0FZMndMckszeS8vUDNWTFViZE9sM05FQ0hlL29lT3dLMjZScFZTbmY5VHhqVUFTMkgyemFnVkNRd3N5bHZPV3c5ME5RT3pZQWNaZWlqb0lYbGExZnhPcmFuSFFIYmtRcWtGV1JRT2dZeWhOcm05RFVJMWxXTnVCTUNHekl4cGJWNE1xQndUK2lZdlBaeHdHYUJxKzlnV2x6bG9iWTVLMDVrcldqMGpjRFlSZ1JrRmJtb1VjSjBGZWpPT3NuUlk5REEwdEc1QkRrY1lPTHJCU01IaEQxcUc2a3ZMWTBVM2Q0M2t4SUJ5ZlNPUm1tdGhrekVPdFVSWTQ0SE5zeWxTZVpSVXRzcXNpRUVSazlyMUNwaWc1RjA1S1FVakxSd2REeFIwY1JnQk94dHZCM2xNSW5SVytqRTdMdExKeURvVXpVRURlazBQWWRjZUFoS2ZSNkZDZXJaQUdGY2NCVHNiVlJIREZXNnhqcW84dXZLUmtrcnlwQ1ZQTitBYlFVNEZJTUFGODdYYnU5aVhOMFFoRisvOUtjcXg5U0ZlN2E0ZjZFdW5pcUJQekVDUkRsTmw1WVo3VkJCOTNGTkhpZ20wejRzT2htblNtbUVXb2pJMWw1UkpQSUpTcC8ra2F1eSsrM3JVRXZFZ1Bjb3U0L2RJVWp6MVd1Mk9HSFlDT3ZCSTJGdncrWlRQZWxrVm5PTUZsWXR2SDgzZGJXa0dwRExNdnQzcTFCOW01U0RmRzNic3VXY2V1VTZSczlOZ3JEdUZpVEJIKzVoSDRPMFhVbDZDc1JqYmNORUdqSzA4WDFTUjdNVExTVzF6VHVLUGNZNzkveWhIUEJtTUV4MDVKUlJQWWZEVUh6UjRscERoNE5MNVRvTzJNQ3pwL2diUFQxcUcxUVJSNFB6NWtWOFFBT2hLVmVPWWtTWXIvSEZBWHF6Z0wyTnRLbzRWYkVFb1pzUm95MDZ0cGZyMFA1amdBMEdzNFFxQUhKY2xTMDRpRmhSMGpyM25LK1ZOUC90dURHemNoWnF5Z0d2MXFNdXlRbG1ueVBMRkI4SHA0UGd1d3dTK1k0Qk5yelJWcUk2V0hQdUtzbU9HaGFMd1pkUkJXd2x0NXltRkwyMjZJMUxtQU1oZWJ3aTdRcDFjdEhIN2RBaHdHVmo2QU5zbkxVaHVRRlpZdTNETzNBaHMrODdTTGM4MnFKWWM0UGlhcTQ5SndMSklyVWhCcnhaREdYb3hqMGlxSFg1cmo5NXJmVW9sWUtuR3YrcnVZcW1jWjdCaEVWZFZSaWNnYmJrbFl4OUozcFIxbUhzRHoyTU9rKzJ2WlBIdnVJZ3BXNy9JcjdJRjlObW5nYkZtalRDclNaVEtEMEYrcng0aDd6Lyt5S1BFa2l1ZmZCTlVpRVhHTmQ5RThJckwvZnY3OHJhMEpIRExhZG0vOGNxODNJVTQzRmwwVGRwUE51bWlCOXUwVEtMejU2RmQvSGpjUzJLdGxaNUZQY2U0Ujk5UXYyVUsrcEg0S1N5SnRZK2tCRjZYbm1UR0Z6eGZ3ZFpadTk4b05ZdlVRcmNMbVN5eEgyVzlXUFk1M0tlbVFmYXlGV2VwTVl6Q2pTZGlZYjZxMmpsS3FhSEk3bjhheDkrNEFKUXc0ejlldy85VSt0SXZEeVpNVkt2ZVlJbVhqVDFpVm1hNkZacThyc1hrZXNLK3plTTZ4MDFMUmZBdXY5SlNzcDlpdlc3VU1zRVVoU0RvYTFDVC9MMHVJZnZ2VzVMcitxdndINURSUTM1SkhYUmRaVWh1UVN6UWI5U3pRd21SWWJSMUdjSzlYdXRYRk5PZDRJeVgrTWRhdHFaKzNMQWpWMjcrY3MzNFUyM1FETlRFWVRrVlRQYm9xdGhnRzFYRVJRVjU4YU9paHJ5bVdlWGJybFB1QS9mV3E4TXlTV1lyYUhxSDB3WUVPWnEydzhZOVB2MzdubklGc1ZROWdOSGZLemNQOHYzL0w0MUR4MTVWNVdRemFIM1NqZnZJbWgxMUlLaTJWWEpvL1NFQXNIVnlrUjFndHEyYVZrdnI5LzlsNzVzdTF6TW9PZDZNUHJKRnkrenUyLytSeDhkQllwSysxZjZHZUlPUEdhWXVqSUVCSllhR3FQVGlVRDFLNGxMUHZCT2tXN3VKcGNidkFnM0t0SzNxL1NQTm5QRy9MTHJ4VXEzeGZOT0pYK3BrV1dtbHdEUmNFWWljNjd0OEZta3p1MFhPU1B4eFdGTVVWNkhYVlFGT3hMbW1Tam1mZnFOb2p6dEoweXpRM3dCMHd3VktFeFpXOVNlYjdmb2Y0eHJxeUcvUm1yYjY0Z2FPelFseTNwRmovekxhcGdyWWpRWVBWY05sNXVZaWtZWXdUQnJjblVqSmpkUFhwZmFMckJ1UVEra09ER24xbnJrbjFGOWVDUm5CR2dmUXlqaFVOdCtSVzBMT3BzQnVLOEVZOFBEUmFuMlFPbFlzOFNYbFB2VXUzTml6SmlSMWtuNWpXVTRqMU9MYllTUDdUSDFJYlV0akdRZHNESG5IdGt3Q2pkdVZiNHZUTXI0OG91L2hYVmFweTBLdThlaVZFdG1SM0ZvdzJneXpFVGxzYmE1T01CSGRraTRPM3lSRVlGbEtiRDhhc0g1WjRtcVRKUERQdjdnRm1RbkxlL3c0R2o5S3c2amZaQ2hndFMyRVBjNURwdlJPYm1DNklWNEEraVZSY3dLZEZ3TVhLc3R6aGZqd0I0OFUzSnZnY2VOeWovU1BxaHlTZDFCMEc3ck1QamFCUUx1bkJNZTRHbXdMdGF2OXNkb3lxekNTeHB3eFZwUU9IVTRsL1VocG5saWRhd08ya2VFaVZFck52OTZUMVRiWjZYMUpNRDdreXFqdmhidkZtR015K01xaHliclRndEw1QXd5ZHQ0amM4NVRKLzZ1NzVxcGVKNG5RNEVXcmhtV0pEOS9GOVJOWmRRSnk1eXJ1ZGFmc0hRbnJzRnV0L3RkYUdoUDJoL25rZm5hdGVvMVIvbzc3SzRIZmVZVkorTXBlNUpvSC92UHVKV2xnME5PNjl6b0Y4c203eHZDbHY5VS9mWVNzdjluL1IyU3ljS0Z1eWhDdU1LZlh6NzhpZ3FNMGhOOWJjdTBQdVVOUmZuNGwyM0FkdGZEcjFFUjhvbEJmSWQ3RjcyN2VnR2lNUWhDYVBqUzI2UXBCUmZnRGtEakxwQVBjK0kyajFwTTJXZ2ZLT2UwZ3dkUmFrUkl4V2JkWHRudTMzM2JmYmRjMGlESC9OTGlPZWVNQjh5UWdrWStLcEgyMFluZmRaUGJ3VkMvakdWNDVERUtxU0RPNkpscUg5RFo0MWV1eS9JT3l0d3dKcFdRK28xb1ZOTmMrOEMyNk5YWVZ1U2tscnMra3JwV2JQVU5DYkIrakpjZ3lRc2JubUtTSE1pN2ZhMkw5Syt6VHd5a091T0owRDdPbVRiQlREQlhhdXhERDlqc2owMjVua1c2Sk5ySEM5VlJxcGlHNXM1ZjduL29oaGlpczUyY1FQc2djeEMzaDUzdEZxZFJleHpkTUxWOVROVUFHN2VIcFZIdzJlWmhybjF3MUdEUnlSd1F3Q0RmTlFLQ2JuNkhLeGtSanpzUmhpdGhzbzlwYVA2ekhEUzErUlpEUGZiSlp0cEg0VlUxZ2RwUUd3N2pCNktKOXZIZjMvcVN4QXlQVWR3K092blg4aU9jRG4xZWxIc0V0d0RjK0tBWTBoUndHeWRmeDlFckVkcEhRcmMxZW8wNCtScEIrMGpvOWs2K2txTlhZak1oYUpwRmN2U2FkQUkxb3NWU011Zlpmam1CK28xb0VldkpNQVAxeFJGdHlVbFd5Mzl3MmdoQ1l3dlRTYmJqaE11aW44eEk2SG9uWE1Xc3VBeUJESUVNZ1F5QkRJRU1nUXlCRElFTWdReUJESUVNZ1F5QkRJRU1nUXlCRElFTWdReUJESUVNZ1F5QkRJRU1nUXlCRElIVUVIakpnL1grTzhmN0FIaHFXRG1NY0drV2QzZG14MmNjVE9JOTRzUXpBZWU5THpFKzMyUlQ1R3gyejBQOHU5dGhya0thV096YS9UZFIyNzlsUTl5NkU0dEMwb1l2cWwvc3dPVmk3dmZMU2JsTUhIMkg5V1NiY2JaOGErS2FiOUxncVJ2ZmNndTVqN3JFQys3Sit2MnNrN3E0ZUh6eXd3M2ZHTGJQbkhPVWMrcGlNRStXekd1SjI0a0FHbk12TUxHY2F6WHBCczZkRENVTkFYd3kra2QvMnd0R3UvZXRXL09mQ1NabVlib3krR002RExnUXhmaTdjRDMzQk1SMDJOdERXb2x2ak5UOVZpR3BXZFN5TzJONndhRGYvZHJ5Um1SK0h3SnRlVitNTHhJQndKWjk3ZTBEeFh0Qi8wb1VPR1hnOW1aZnRna1ArQzdvbjQyNjJnTFhGakdXVGFHT3JQZ3Y2RzlIM2ZNc1BnVjhSOC9KTjltZXdBWDlkV2N0RUlRRkYrUEJYV3NGNHljejdMK2dmMm5BdlFzLzVyajF0eVlUcDBDci9SZjB6d3k2ZCtIL2F3UmN2eFRnTUpIQkpyOWhUVjNRdnpyd0Z3bHkvMEs0amZXVmJLWXk0TCtnZnpjR2sxY1FicHVtdk1lWExuQkJmenRPcFNYcnlOUGpDNGR4eXpBNWVpN29MMGRPcElwaEU3ajFWR0J5bnpaZ2NDL29KMUE4VHRuYmxyN2s3SXpTWitMbkpoY3UxWEx4MmZlZE1sajFZRWJlTG8rZnFudHU4UVJKUlZKUDhFTmVNbkNIZ0tEVDUzc0k2dC85SXJicU5YNGMrSDVZZEdLUkV5WndlVUYvNk5nMjcvNElFRkRDelNIYkV3dVdwK0hlQy9yYllUL0pXUGFwSExqQmVjdVRlNEs5N2dYOVJjOGdwZ0NCamxKUmZqeXhObDN6QkNmWjYxelFQK2RlZk8zZ2dTdGpONTJBNTNlQVBIR1Q1ZzFlMEw4YzBnSFJLNS8xNExLYVhVV21YZENmWXhjOUNBbnZqSDlkME03VU5naVNtQldkQy9xcitweEFocmFTQTJhK0hyTnNkU2pIMTZOZjBIK2dqL2ZZNi9Oc01Eem1teC9HRjVwQkxkTXY2RjhPdWNxZWxnNzNTallyOWJqRi9xRHl4aVF0NUlKK1cvOWxxaXVBalgxa2o5cjh0WHEvT3ladFAwSXpRaTdvdjhMK0pNZ3dieE51L1p0dmZMREdNcHM0b2FOZjBJOUx0czRGY1hNdnh6djhuV0RhUklaWDlBdjZIMlY5RFp1ZjFrbmVHTk4rTlhraVFVT2pReTdvTHpQMjFyVUFIaXZuYiszZjlydS9IWWpOZ2g0RUNrM0lsVEFnZmRRVG5YbGpFQ2p3RFNwZ3A4eVVNZlJac2tUZ0paZ3p5U21qK05HQStUWFBudkVzc1JWc0ZBQUFBQUJKUlU1RXJrSmdnZz09Igp9Cg=="/>
    </extobj>
    <extobj name="334E55B0-647D-440b-865C-3EC943EB4CBC-3">
      <extobjdata type="334E55B0-647D-440b-865C-3EC943EB4CBC" data="ewoJIkltZ1NldHRpbmdKc29uIiA6ICJ7XCJkcGlcIjpcIjYwMFwiLFwiZm9ybWF0XCI6XCJQTkdcIixcInRyYW5zcGFyZW50XCI6dHJ1ZSxcImF1dG9cIjp0cnVlfSIsCgkiTGF0ZXgiIDogIlhGc2dSMTk3WkdsMmZTQTlJREVnTFNCY2MzVnRYM3R6SUZ4cGJpQmNiV0YwYUdOaGJIdFRmWDBnY0Y5elhqSWdJRnhkIiwKCSJMYXRleEltZ0Jhc2U2NCIgOiAiaVZCT1J3MEtHZ29BQUFBTlNVaEVVZ0FBQW1zQUFBQzNCQU1BQUFDL0FRU3FBQUFBTUZCTVZFWC8vLzhBQUFBQUFBQUFBQUFBQUFBQUFBQUFBQUFBQUFBQUFBQUFBQUFBQUFBQUFBQUFBQUFBQUFBQUFBQUFBQUF2M2FCN0FBQUFEM1JTVGxNQU1sU0p1OTN2elhhclpwbEVFQ0pKUS9TUEFBQUFDWEJJV1hNQUFBN0VBQUFPeEFHVkt3NGJBQUFUa0VsRVFWUjRBZTFkZTR4clIzay8zdmZMM2dYS1E2S1NMUVNWRUtKN0F4Y0pGSXFOcWx5b1F1VkZrSVNnRXQ4cXlRMHRCVzhFM0RTOHpxSzJndis4VkZIelI2cmFyUkNpVktwWEtpMmlvYlVMQ0tpSXVsc3Bsd1Foc1c0RnREekVYa2pXbDV2WDhQdm1jVjV6anM4Yzc5bGRyMzFHMmozeitPYWJtZC81WnVhYmIrYU1MV3ZNWEtIT2tycTFNWU5nbU9hc0pBV05zZTFoeWhtelBGUEpZWHQyekNBWXBqbTU1TEQ5YXBoeXhpMVBXZUFXMWZQeTMvLzVWejkvNDAxZWNQdmpCc0V3N1prWGlEdzFPRy8rK2VmZHVhTTBtSFlpVXZNU2psNWNhL092cWttWjI0d2psZW5mdnN4dWU2TWg3WmtqV3hkZ2JNUlhQUDhYZ3ZRWDhhUkU4VGxPZmVlZUdmVlpvMW9XV0R4dFV1OFhjTkc4YmtKcS9aQzk2NzkrOWpyR1lycS9FYTlSSktvSjNFb21kVnZndUprSVVJNjluUmcyeGxiUE94Q3dQV2NDbXpWTnhPY01TSC8wSkFjWENvNlpjQnF3SEMyU0pRSGJOYk5hZlEvVUZ3MUk3VTFCdE10WXk0RDhESkkwQlc0bU1vVFdmWU94WDhZM2NvcHhZYk9zUmNiR2RGa3hLMkI3Smg0TW9zamJ6RUF3WjlRVVUyQnNUSmNWY29IVmwvSVJoeDdrWnkyT3h0cG5kMG9hbXgzR1VwOU5Ba3gzNUNxR3RTOGJHRUdLakcwSmRtV20rcXNoK3pORE5rT2dtWGVtUllQUkNqUEJwbWgvbTdIZW1VRWlVVVhWQWl1Kzd3bTIxU2RpMlI4NHdydk9XRGVXL0d3U1FEYkl2ZCt3OXJQeFJoQk1NeVhCRGRKbStqb01peDhaTXE3RW1pdW1oWGhWckZCOXQyeGRZMnc3cVdYWlhOcmkwWkJRbERmTTMzaVY2Ykw1L1BPM3NudmVLb1Z3ZXRPYzJZaFJIZ2pZekJaWWxqVm5hQVNoVmpLbVZEalY1cW0vRXFVZHRuaE1KOEU3VUN4RzVDbTNGRXcxckFYemRlWUNZNEdYOFZJQzdaNkhIcWl4ZmduTm4yWTdJd0xDRU5Yb0NBRXdiY0VqeGtYTXNRQXMzMFJKNzNzMTh1ZGZ6dVd3cmVZT1k1WnBFT1l1OWRKZ0l4ZFlCcXZOaEtXMUEwUGJid0MxdjVZOFhnaTlHWEsrbDVCbEd1Uzc2YndzTEIyNTY2VlJKdzhQOFAyQUoyaVJVZlJ2bklqbWRXdjNWTlplc09PVW5Gb2N4UVAxaXR6bVVYaUU1TVVPejVvbmVxWE8yTDF1ZUpsOVVwOHgzT1JqOHoyT2FwUlM0WTRGT3JsNC9UOVphUjNtTTZ5VUEwczR1MjlraGtwV1poeDE0YlBVMGxJY21WRzZXbUIxamFoTmlSWlkzeXRzanpGMjZBMWJwUGljckRsdTZ1R2JDTFMwWUxPS25KbnhBc3NNdURaN2o0ZVF6dWw4M0JPMitGQzM0WXM1N2dBTnJ2MDMyYW5CQmdXTDNKTnAxbnZKeis1RkdudWFpWGJTTERHVzEvTGR0LzNyR3EyS1NyR2taZ1JnUlc3TGpOcUlxdTNicmFIVFRaVkFQanU5K2djNER3eW1XT3gzMENxNEJPdW1nVFZENHBKL1BpZ3kzWnplT0IyMXpVN3ZiY21qYnFZTHJEak1rTjQrN0htb2FHVFRURlBGVTFIYjB1eWtWZ2V5QnJmdGFlcVJ2QXZzOTNuK2YranhCMGx6bC9zOC8xYTFoYjRuOGZpOGRuclNacGtkUGpKdlMwTXUrR3M5bmdkVjFiWENPWlBkUS9NaVRTblRoQzNsQmRhQ21nOFlid3laUW5WZFkvYUUxVGFKYTVxd1dXMjBERTV2bk9sTDlORTFuaExCbk5oVzNRWG5OUjhCQldiU0trM2pQRERDVHJHVDBnNDZ1YUJaY1dBRkloTVgxRUEyTGZvcUpnVFphYjFaWms1WWJaTmwyMm5DWnRVSXRaUTROcVRsSTcvTGQrVkpPMy9PQzVqd3o2U21kdXE4QjhUWUtUVlNGRkZFMitBME5XRkFCYUtTc0JxOVJBN3MrR0wrQUo0ZG5YaitWS3h0cVNvZ2xpVVhXQVpuUEhRQUFqRmx3Q1FkRjdJcUFuc0JHZ1JuVTFRVGRlNlJNWGFxMG1aUjQrRE9SWllYbXBDN2NQZ1puckIwb2YvQkh2ZkpMVVRPN1NwaTZKeEp5TkJtemVrNkNjOS96UC9zZEdHVEN5eWZqU3krQmVWK25XdTJqOWY3TlhhZHkxU1JBeWIrYllERERMeGh5N1pjS1o3OU1WRFk2Y0ltRjFpbWg0OUVneGI2M1NsMnVHZmw2ay8wck44UzZLeDdZTnNHR1ExdEJOK0l1SlJoczhxaXVaVWt6U3RpOEtwaVRkWjRHb0lHblhrdEpEUHhiWVhFbjFLVW5hNjBxUVZXb3BOODFTMExjRDgzTFhTSmN1aEVYQWRzQUhWVVhOcXdxUVZXbU1SRXRMbEFpNmMyZTZJc3hxNzlzS0dmT244YTgzTm9GZksvK1VpVTY0Vm00SWMzU2hGSncwWExRV25EUFBjeXJTb2F3RVZBamNHL3AyV21pZlhZNWt3NWo2RUl6VVgxR2p2bFRzcXQreWc5VEZuUXdCQVJxeVJsWmFuVjh1MkJIWTJTZHEvREpsS05jSmlJWFRDUGNGRW1manR0Mk5RQ3EyWGNnTjJMSUcwNnloNVVab3J3dTMwMDY2by9LaUtVKy93YjNuS0xrTnNJQ2kxNmtRYk9jUGNIR3JHSXNGT0g3VUJVZ0t2MkVZWDZvenNrWEhYbnpBSStjOUR6a2tCcytMTkZoSGp4eVdDTDREUW9PbjNZNU5jZDVvdWVXZ25IWU54dFkrVFhUNUkwQU52Mm9IWTRhWS9lQ2xJVmVySDRsRVlGMDN1bUR4djFOM0lrUXlZdVQ0b0ZEc0FvRWNQb3J3L0VIVERjTXVFR21uMW5seERUdWhuV2hweGRNanYxVG1vbFhHQk4wYkFMczlCRldTa1k3ZlE1c3dyWXVwSWc3ckh2d0E2dWxUanE0ZEtQQVRaYWRjT1pMckJ5YjBQTk1WTXF1WUFDb3RzNWJUQ0VVRHB1NmJXdi8vUVgvdTVsTC92Q3AvL3NCaWRTZXRhZGJVS3dhZ1ZUMHdtalBxVlFUajhMMXdEL3cxdjUwSXhDQjBNek55T1N3NkwzM1FZQ1FWM2FhbmdOM254RjhKZE8weEhLenB5N0V2SUN2RnlHOTlzUnNKR2lGT29NakJ0a3JZQXpvSFRxdmU3cXVQdGhYOTdXY0diR0lZYm5SVlNBY0hMSHdVMjEzUmYydnowM09sV2ZIUUhicXFwVjhLa1AxMXA5NU9FamZUN1VLSjJJaml0TXUyR0FZMndMckszeS8vUDNWTFViZE9sM05FQ0hlL29lT3dLMjZScFZTbmY5VHhqVUFTMkgyemFnVkNRd3N5bHZPV3c5ME5RT3pZQWNaZWlqb0lYbGExZnhPcmFuSFFIYmtRcWtGV1JRT2dZeWhOcm05RFVJMWxXTnVCTUNHekl4cGJWNE1xQndUK2lZdlBaeHdHYUJxKzlnV2x6bG9iWTVLMDVrcldqMGpjRFlSZ1JrRmJtb1VjSjBGZWpPT3NuUlk5REEwdEc1QkRrY1lPTHJCU01IaEQxcUc2a3ZMWTBVM2Q0M2t4SUJ5ZlNPUm1tdGhrekVPdFVSWTQ0SE5zeWxTZVpSVXRzcXNpRUVSazlyMUNwaWc1RjA1S1FVakxSd2REeFIwY1JnQk94dHZCM2xNSW5SVytqRTdMdExKeURvVXpVRURlazBQWWRjZUFoS2ZSNkZDZXJaQUdGY2NCVHNiVlJIREZXNnhqcW84dXZLUmtrcnlwQ1ZQTitBYlFVNEZJTUFGODdYYnU5aVhOMFFoRisvOUtjcXg5U0ZlN2E0ZjZFdW5pcUJQekVDUkRsTmw1WVo3VkJCOTNGTkhpZ20wejRzT2htblNtbUVXb2pJMWw1UkpQSUpTcC8ra2F1eSsrM3JVRXZFZ1Bjb3U0L2RJVWp6MVd1Mk9HSFlDT3ZCSTJGdncrWlRQZWxrVm5PTUZsWXR2SDgzZGJXa0dwRExNdnQzcTFCOW01U0RmRzNic3VXY2V1VTZSczlOZ3JEdUZpVEJIKzVoSDRPMFhVbDZDc1JqYmNORUdqSzA4WDFTUjdNVExTVzF6VHVLUGNZNzkveWhIUEJtTUV4MDVKUlJQWWZEVUh6UjRscERoNE5MNVRvTzJNQ3pwL2diUFQxcUcxUVJSNFB6NWtWOFFBT2hLVmVPWWtTWXIvSEZBWHF6Z0wyTnRLbzRWYkVFb1pzUm95MDZ0cGZyMFA1amdBMEdzNFFxQUhKY2xTMDRpRmhSMGpyM25LK1ZOUC90dURHemNoWnF5Z0d2MXFNdXlRbG1ueVBMRkI4SHA0UGd1d3dTK1k0Qk5yelJWcUk2V0hQdUtzbU9HaGFMd1pkUkJXd2x0NXltRkwyMjZJMUxtQU1oZWJ3aTdRcDFjdEhIN2RBaHdHVmo2QU5zbkxVaHVRRlpZdTNETzNBaHMrODdTTGM4MnFKWWM0UGlhcTQ5SndMSklyVWhCcnhaREdYb3hqMGlxSFg1cmo5NXJmVW9sWUtuR3YrcnVZcW1jWjdCaEVWZFZSaWNnYmJrbFl4OUozcFIxbUhzRHoyTU9rKzJ2WlBIdnVJZ3BXNy9JcjdJRjlObW5nYkZtalRDclNaVEtEMEYrcng0aDd6Lyt5S1BFa2l1ZmZCTlVpRVhHTmQ5RThJckwvZnY3OHJhMEpIRExhZG0vOGNxODNJVTQzRmwwVGRwUE51bWlCOXUwVEtMejU2RmQvSGpjUzJLdGxaNUZQY2U0Ujk5UXYyVUsrcEg0S1N5SnRZK2tCRjZYbm1UR0Z6eGZ3ZFpadTk4b05ZdlVRcmNMbVN5eEgyVzlXUFk1M0tlbVFmYXlGV2VwTVl6Q2pTZGlZYjZxMmpsS3FhSEk3bjhheDkrNEFKUXc0ejlldy85VSt0SXZEeVpNVkt2ZVlJbVhqVDFpVm1hNkZacThyc1hrZXNLK3plTTZ4MDFMUmZBdXY5SlNzcDlpdlc3VU1zRVVoU0RvYTFDVC9MMHVJZnZ2VzVMcitxdndINURSUTM1SkhYUmRaVWh1UVN6UWI5U3pRd21SWWJSMUdjSzlYdXRYRk5PZDRJeVgrTWRhdHFaKzNMQWpWMjcrY3MzNFUyM1FETlRFWVRrVlRQYm9xdGhnRzFYRVJRVjU4YU9paHJ5bVdlWGJybFB1QS9mV3E4TXlTV1lyYUhxSDB3WUVPWnEydzhZOVB2MzdubklGc1ZROWdOSGZLemNQOHYzL0w0MUR4MTVWNVdRemFIM1NqZnZJbWgxMUlLaTJWWEpvL1NFQXNIVnlrUjFndHEyYVZrdnI5LzlsNzVzdTF6TW9PZDZNUHJKRnkrenUyLytSeDhkQllwSysxZjZHZUlPUEdhWXVqSUVCSllhR3FQVGlVRDFLNGxMUHZCT2tXN3VKcGNidkFnM0t0SzNxL1NQTm5QRy9MTHJ4VXEzeGZOT0pYK3BrV1dtbHdEUmNFWWljNjd0OEZta3p1MFhPU1B4eFdGTVVWNkhYVlFGT3hMbW1Tam1mZnFOb2p6dEoweXpRM3dCMHd3VktFeFpXOVNlYjdmb2Y0eHJxeUcvUm1yYjY0Z2FPelFseTNwRmovekxhcGdyWWpRWVBWY05sNXVZaWtZWXdUQnJjblVqSmpkUFhwZmFMckJ1UVEra09ER24xbnJrbjFGOWVDUm5CR2dmUXlqaFVOdCtSVzBMT3BzQnVLOEVZOFBEUmFuMlFPbFlzOFNYbFB2VXUzTml6SmlSMWtuNWpXVTRqMU9MYllTUDdUSDFJYlV0akdRZHNESG5IdGt3Q2pkdVZiNHZUTXI0OG91L2hYVmFweTBLdThlaVZFdG1SM0ZvdzJneXpFVGxzYmE1T01CSGRraTRPM3lSRVlGbEtiRDhhc0g1WjRtcVRKUERQdjdnRm1RbkxlL3c0R2o5S3c2amZaQ2hndFMyRVBjNURwdlJPYm1DNklWNEEraVZSY3dLZEZ3TVhLc3R6aGZqd0I0OFUzSnZnY2VOeWovU1BxaHlTZDFCMEc3ck1QamFCUUx1bkJNZTRHbXdMdGF2OXNkb3lxekNTeHB3eFZwUU9IVTRsL1VocG5saWRhd08ya2VFaVZFck52OTZUMVRiWjZYMUpNRDdreXFqdmhidkZtR015K01xaHliclRndEw1QXd5ZHQ0amM4NVRKLzZ1NzVxcGVKNG5RNEVXcmhtV0pEOS9GOVJOWmRRSnk1eXJ1ZGFmc0hRbnJzRnV0L3RkYUdoUDJoL25rZm5hdGVvMVIvbzc3SzRIZmVZVkorTXBlNUpvSC92UHVKV2xnME5PNjl6b0Y4c203eHZDbHY5VS9mWVNzdjluL1IyU3ljS0Z1eWhDdU1LZlh6NzhpZ3FNMGhOOWJjdTBQdVVOUmZuNGwyM0FkdGZEcjFFUjhvbEJmSWQ3RjcyN2VnR2lNUWhDYVBqUzI2UXBCUmZnRGtEakxwQVBjK0kyajFwTTJXZ2ZLT2UwZ3dkUmFrUkl4V2JkWHRudTMzM2JmYmRjMGlESC9OTGlPZWVNQjh5UWdrWStLcEgyMFluZmRaUGJ3VkMvakdWNDVERUtxU0RPNkpscUg5RFo0MWV1eS9JT3l0d3dKcFdRK28xb1ZOTmMrOEMyNk5YWVZ1U2tscnMra3JwV2JQVU5DYkIrakpjZ3lRc2JubUtTSE1pN2ZhMkw5Syt6VHd5a091T0owRDdPbVRiQlREQlhhdXhERDlqc2owMjVua1c2Sk5ySEM5VlJxcGlHNXM1ZjduL29oaGlpczUyY1FQc2djeEMzaDUzdEZxZFJleHpkTUxWOVROVUFHN2VIcFZIdzJlWmhybjF3MUdEUnlSd1F3Q0RmTlFLQ2JuNkhLeGtSanpzUmhpdGhzbzlwYVA2ekhEUzErUlpEUGZiSlp0cEg0VlUxZ2RwUUd3N2pCNktKOXZIZjMvcVN4QXlQVWR3K092blg4aU9jRG4xZWxIc0V0d0RjK0tBWTBoUndHeWRmeDlFckVkcEhRcmMxZW8wNCtScEIrMGpvOWs2K2txTlhZak1oYUpwRmN2U2FkQUkxb3NWU011Zlpmam1CK28xb0VldkpNQVAxeFJGdHlVbFd5Mzl3MmdoQ1l3dlRTYmJqaE11aW44eEk2SG9uWE1Xc3VBeUJESUVNZ1F5QkRJRU1nUXlCRElFTWdReUJESUVNZ1F5QkRJRU1nUXlCRElFTWdReUJESUVNZ1F5QkRJRU1nUXlCRElIVUVIakpnL1grTzhmN0FIaHFXRG1NY0drV2QzZG14MmNjVE9JOTRzUXpBZWU5THpFKzMyUlQ1R3gyejBQOHU5dGhya0thV096YS9UZFIyNzlsUTl5NkU0dEMwb1l2cWwvc3dPVmk3dmZMU2JsTUhIMkg5V1NiY2JaOGErS2FiOUxncVJ2ZmNndTVqN3JFQys3Sit2MnNrN3E0ZUh6eXd3M2ZHTGJQbkhPVWMrcGlNRStXekd1SjI0a0FHbk12TUxHY2F6WHBCczZkRENVTkFYd3kra2QvMnd0R3UvZXRXL09mQ1NabVlib3krR002RExnUXhmaTdjRDMzQk1SMDJOdERXb2x2ak5UOVZpR3BXZFN5TzJONndhRGYvZHJ5Um1SK0h3SnRlVitNTHhJQndKWjk3ZTBEeFh0Qi8wb1VPR1hnOW1aZnRna1ArQzdvbjQyNjJnTFhGakdXVGFHT3JQZ3Y2RzlIM2ZNc1BnVjhSOC9KTjltZXdBWDlkV2N0RUlRRkYrUEJYV3NGNHljejdMK2dmMm5BdlFzLzVyajF0eVlUcDBDci9SZjB6d3k2ZCtIL2F3UmN2eFRnTUpIQkpyOWhUVjNRdnpyd0Z3bHkvMEs0amZXVmJLWXk0TCtnZnpjR2sxY1FicHVtdk1lWExuQkJmenRPcFNYcnlOUGpDNGR4eXpBNWVpN29MMGRPcElwaEU3ajFWR0J5bnpaZ2NDL29KMUE4VHRuYmxyN2s3SXpTWitMbkpoY3UxWEx4MmZlZE1sajFZRWJlTG8rZnFudHU4UVJKUlZKUDhFTmVNbkNIZ0tEVDUzc0k2dC85SXJicU5YNGMrSDVZZEdLUkV5WndlVUYvNk5nMjcvNElFRkRDelNIYkV3dVdwK0hlQy9yYllUL0pXUGFwSExqQmVjdVRlNEs5N2dYOVJjOGdwZ0NCamxKUmZqeXhObDN6QkNmWjYxelFQK2RlZk8zZ2dTdGpONTJBNTNlQVBIR1Q1ZzFlMEw4YzBnSFJLNS8xNExLYVhVV21YZENmWXhjOUNBbnZqSDlkME03VU5naVNtQldkQy9xcitweEFocmFTQTJhK0hyTnNkU2pIMTZOZjBIK2dqL2ZZNi9Oc01Eem1teC9HRjVwQkxkTXY2RjhPdWNxZWxnNzNTallyOWJqRi9xRHl4aVF0NUlKK1cvOWxxaXVBalgxa2o5cjh0WHEvT3ladFAwSXpRaTdvdjhMK0pNZ3dieE51L1p0dmZMREdNcHM0b2FOZjBJOUx0czRGY1hNdnh6djhuV0RhUklaWDlBdjZIMlY5RFp1ZjFrbmVHTk4rTlhraVFVT2pReTdvTHpQMjFyVUFIaXZuYiszZjlydS9IWWpOZ2g0RUNrM0lsVEFnZmRRVG5YbGpFQ2p3RFNwZ3A4eVVNZlJac2tUZ0paZ3p5U21qK05HQStUWFBudkVzc1JWc0ZBQUFBQUJKUlU1RXJrSmdnZz09Igp9Cg=="/>
    </extobj>
    <extobj name="334E55B0-647D-440b-865C-3EC943EB4CBC-4">
      <extobjdata type="334E55B0-647D-440b-865C-3EC943EB4CBC" data="ewoJIkltZ1NldHRpbmdKc29uIiA6ICJ7XCJkcGlcIjpcIjYwMFwiLFwiZm9ybWF0XCI6XCJQTkdcIixcInRyYW5zcGFyZW50XCI6dHJ1ZSxcImF1dG9cIjp0cnVlfSIsCgkiTGF0ZXgiIDogIlhGc2dSMTk3WkdsMmZTQTlJREVnTFNCY2MzVnRYM3R6SUZ4cGJpQmNiV0YwYUdOaGJIdFRmWDBnY0Y5elhqSWdJRnhkIiwKCSJMYXRleEltZ0Jhc2U2NCIgOiAiaVZCT1J3MEtHZ29BQUFBTlNVaEVVZ0FBQW1zQUFBQzNCQU1BQUFDL0FRU3FBQUFBTUZCTVZFWC8vLzhBQUFBQUFBQUFBQUFBQUFBQUFBQUFBQUFBQUFBQUFBQUFBQUFBQUFBQUFBQUFBQUFBQUFBQUFBQUFBQUF2M2FCN0FBQUFEM1JTVGxNQU1sU0p1OTN2elhhclpwbEVFQ0pKUS9TUEFBQUFDWEJJV1hNQUFBN0VBQUFPeEFHVkt3NGJBQUFUa0VsRVFWUjRBZTFkZTR4clIzay8zdmZMM2dYS1E2S1NMUVNWRUtKN0F4Y0pGSXFOcWx5b1F1VkZrSVNnRXQ4cXlRMHRCVzhFM0RTOHpxSzJndis4VkZIelI2cmFyUkNpVktwWEtpMmlvYlVMQ0tpSXVsc3Bsd1Foc1c0RnREekVYa2pXbDV2WDhQdm1jVjV6anM4Yzc5bGRyMzFHMmozeitPYWJtZC81WnVhYmIrYU1MV3ZNWEtIT2tycTFNWU5nbU9hc0pBV05zZTFoeWhtelBGUEpZWHQyekNBWXBqbTU1TEQ5YXBoeXhpMVBXZUFXMWZQeTMvLzVWejkvNDAxZWNQdmpCc0V3N1prWGlEdzFPRy8rK2VmZHVhTTBtSFlpVXZNU2psNWNhL092cWttWjI0d2psZW5mdnN4dWU2TWg3WmtqV3hkZ2JNUlhQUDhYZ3ZRWDhhUkU4VGxPZmVlZUdmVlpvMW9XV0R4dFV1OFhjTkc4YmtKcS9aQzk2NzkrOWpyR1lycS9FYTlSSktvSjNFb21kVnZndUprSVVJNjluUmcyeGxiUE94Q3dQV2NDbXpWTnhPY01TSC8wSkFjWENvNlpjQnF3SEMyU0pRSGJOYk5hZlEvVUZ3MUk3VTFCdE10WXk0RDhESkkwQlc0bU1vVFdmWU94WDhZM2NvcHhZYk9zUmNiR2RGa3hLMkI3Smg0TW9zamJ6RUF3WjlRVVUyQnNUSmNWY29IVmwvSVJoeDdrWnkyT3h0cG5kMG9hbXgzR1VwOU5Ba3gzNUNxR3RTOGJHRUdLakcwSmRtV20rcXNoK3pORE5rT2dtWGVtUllQUkNqUEJwbWgvbTdIZW1VRWlVVVhWQWl1Kzd3bTIxU2RpMlI4NHdydk9XRGVXL0d3U1FEYkl2ZCt3OXJQeFJoQk1NeVhCRGRKbStqb01peDhaTXE3RW1pdW1oWGhWckZCOXQyeGRZMnc3cVdYWlhOcmkwWkJRbERmTTMzaVY2Ykw1L1BPM3NudmVLb1Z3ZXRPYzJZaFJIZ2pZekJaWWxqVm5hQVNoVmpLbVZEalY1cW0vRXFVZHRuaE1KOEU3VUN4RzVDbTNGRXcxckFYemRlWUNZNEdYOFZJQzdaNkhIcWl4ZmduTm4yWTdJd0xDRU5Yb0NBRXdiY0VqeGtYTXNRQXMzMFJKNzNzMTh1ZGZ6dVd3cmVZT1k1WnBFT1l1OWRKZ0l4ZFlCcXZOaEtXMUEwUGJid0MxdjVZOFhnaTlHWEsrbDVCbEd1Uzc2YndzTEIyNTY2VlJKdzhQOFAyQUoyaVJVZlJ2bklqbWRXdjNWTlplc09PVW5Gb2N4UVAxaXR6bVVYaUU1TVVPejVvbmVxWE8yTDF1ZUpsOVVwOHgzT1JqOHoyT2FwUlM0WTRGT3JsNC9UOVphUjNtTTZ5VUEwczR1MjlraGtwV1poeDE0YlBVMGxJY21WRzZXbUIxamFoTmlSWlkzeXRzanpGMjZBMWJwUGljckRsdTZ1R2JDTFMwWUxPS25KbnhBc3NNdURaN2o0ZVF6dWw4M0JPMitGQzM0WXM1N2dBTnJ2MDMyYW5CQmdXTDNKTnAxbnZKeis1RkdudWFpWGJTTERHVzEvTGR0LzNyR3EyS1NyR2taZ1JnUlc3TGpOcUlxdTNicmFIVFRaVkFQanU5K2djNER3eW1XT3gzMENxNEJPdW1nVFZENHBKL1BpZ3kzWnplT0IyMXpVN3ZiY21qYnFZTHJEak1rTjQrN0htb2FHVFRURlBGVTFIYjB1eWtWZ2V5QnJmdGFlcVJ2QXZzOTNuK2YranhCMGx6bC9zOC8xYTFoYjRuOGZpOGRuclNacGtkUGpKdlMwTXUrR3M5bmdkVjFiWENPWlBkUS9NaVRTblRoQzNsQmRhQ21nOFlid3laUW5WZFkvYUUxVGFKYTVxd1dXMjBERTV2bk9sTDlORTFuaExCbk5oVzNRWG5OUjhCQldiU0trM2pQRERDVHJHVDBnNDZ1YUJaY1dBRkloTVgxRUEyTGZvcUpnVFphYjFaWms1WWJaTmwyMm5DWnRVSXRaUTROcVRsSTcvTGQrVkpPMy9PQzVqd3o2U21kdXE4QjhUWUtUVlNGRkZFMitBME5XRkFCYUtTc0JxOVJBN3MrR0wrQUo0ZG5YaitWS3h0cVNvZ2xpVVhXQVpuUEhRQUFqRmx3Q1FkRjdJcUFuc0JHZ1JuVTFRVGRlNlJNWGFxMG1aUjQrRE9SWllYbXBDN2NQZ1puckIwb2YvQkh2ZkpMVVRPN1NwaTZKeEp5TkJtemVrNkNjOS96UC9zZEdHVEN5eWZqU3krQmVWK25XdTJqOWY3TlhhZHkxU1JBeWIrYllERERMeGh5N1pjS1o3OU1WRFk2Y0ltRjFpbWg0OUVneGI2M1NsMnVHZmw2ay8wck44UzZLeDdZTnNHR1ExdEJOK0l1SlJoczhxaXVaVWt6U3RpOEtwaVRkWjRHb0lHblhrdEpEUHhiWVhFbjFLVW5hNjBxUVZXb3BOODFTMExjRDgzTFhTSmN1aEVYQWRzQUhWVVhOcXdxUVZXbU1SRXRMbEFpNmMyZTZJc3hxNzlzS0dmT244YTgzTm9GZksvK1VpVTY0Vm00SWMzU2hGSncwWExRV25EUFBjeXJTb2F3RVZBamNHL3AyV21pZlhZNWt3NWo2RUl6VVgxR2p2bFRzcXQreWc5VEZuUXdCQVJxeVJsWmFuVjh1MkJIWTJTZHEvREpsS05jSmlJWFRDUGNGRW1manR0Mk5RQ3EyWGNnTjJMSUcwNnloNVVab3J3dTMwMDY2by9LaUtVKy93YjNuS0xrTnNJQ2kxNmtRYk9jUGNIR3JHSXNGT0g3VUJVZ0t2MkVZWDZvenNrWEhYbnpBSStjOUR6a2tCcytMTkZoSGp4eVdDTDREUW9PbjNZNU5jZDVvdWVXZ25IWU54dFkrVFhUNUkwQU52Mm9IWTRhWS9lQ2xJVmVySDRsRVlGMDN1bUR4djFOM0lrUXlZdVQ0b0ZEc0FvRWNQb3J3L0VIVERjTXVFR21uMW5seERUdWhuV2hweGRNanYxVG1vbFhHQk4wYkFMczlCRldTa1k3ZlE1c3dyWXVwSWc3ckh2d0E2dWxUanE0ZEtQQVRaYWRjT1pMckJ5YjBQTk1WTXF1WUFDb3RzNWJUQ0VVRHB1NmJXdi8vUVgvdTVsTC92Q3AvL3NCaWRTZXRhZGJVS3dhZ1ZUMHdtalBxVlFUajhMMXdEL3cxdjUwSXhDQjBNek55T1N3NkwzM1FZQ1FWM2FhbmdOM254RjhKZE8weEhLenB5N0V2SUN2RnlHOTlzUnNKR2lGT29NakJ0a3JZQXpvSFRxdmU3cXVQdGhYOTdXY0diR0lZYm5SVlNBY0hMSHdVMjEzUmYydnowM09sV2ZIUUhicXFwVjhLa1AxMXA5NU9FamZUN1VLSjJJaml0TXUyR0FZMndMckszeS8vUDNWTFViZE9sM05FQ0hlL29lT3dLMjZScFZTbmY5VHhqVUFTMkgyemFnVkNRd3N5bHZPV3c5ME5RT3pZQWNaZWlqb0lYbGExZnhPcmFuSFFIYmtRcWtGV1JRT2dZeWhOcm05RFVJMWxXTnVCTUNHekl4cGJWNE1xQndUK2lZdlBaeHdHYUJxKzlnV2x6bG9iWTVLMDVrcldqMGpjRFlSZ1JrRmJtb1VjSjBGZWpPT3NuUlk5REEwdEc1QkRrY1lPTHJCU01IaEQxcUc2a3ZMWTBVM2Q0M2t4SUJ5ZlNPUm1tdGhrekVPdFVSWTQ0SE5zeWxTZVpSVXRzcXNpRUVSazlyMUNwaWc1RjA1S1FVakxSd2REeFIwY1JnQk94dHZCM2xNSW5SVytqRTdMdExKeURvVXpVRURlazBQWWRjZUFoS2ZSNkZDZXJaQUdGY2NCVHNiVlJIREZXNnhqcW84dXZLUmtrcnlwQ1ZQTitBYlFVNEZJTUFGODdYYnU5aVhOMFFoRisvOUtjcXg5U0ZlN2E0ZjZFdW5pcUJQekVDUkRsTmw1WVo3VkJCOTNGTkhpZ20wejRzT2htblNtbUVXb2pJMWw1UkpQSUpTcC8ra2F1eSsrM3JVRXZFZ1Bjb3U0L2RJVWp6MVd1Mk9HSFlDT3ZCSTJGdncrWlRQZWxrVm5PTUZsWXR2SDgzZGJXa0dwRExNdnQzcTFCOW01U0RmRzNic3VXY2V1VTZSczlOZ3JEdUZpVEJIKzVoSDRPMFhVbDZDc1JqYmNORUdqSzA4WDFTUjdNVExTVzF6VHVLUGNZNzkveWhIUEJtTUV4MDVKUlJQWWZEVUh6UjRscERoNE5MNVRvTzJNQ3pwL2diUFQxcUcxUVJSNFB6NWtWOFFBT2hLVmVPWWtTWXIvSEZBWHF6Z0wyTnRLbzRWYkVFb1pzUm95MDZ0cGZyMFA1amdBMEdzNFFxQUhKY2xTMDRpRmhSMGpyM25LK1ZOUC90dURHemNoWnF5Z0d2MXFNdXlRbG1ueVBMRkI4SHA0UGd1d3dTK1k0Qk5yelJWcUk2V0hQdUtzbU9HaGFMd1pkUkJXd2x0NXltRkwyMjZJMUxtQU1oZWJ3aTdRcDFjdEhIN2RBaHdHVmo2QU5zbkxVaHVRRlpZdTNETzNBaHMrODdTTGM4MnFKWWM0UGlhcTQ5SndMSklyVWhCcnhaREdYb3hqMGlxSFg1cmo5NXJmVW9sWUtuR3YrcnVZcW1jWjdCaEVWZFZSaWNnYmJrbFl4OUozcFIxbUhzRHoyTU9rKzJ2WlBIdnVJZ3BXNy9JcjdJRjlObW5nYkZtalRDclNaVEtEMEYrcng0aDd6Lyt5S1BFa2l1ZmZCTlVpRVhHTmQ5RThJckwvZnY3OHJhMEpIRExhZG0vOGNxODNJVTQzRmwwVGRwUE51bWlCOXUwVEtMejU2RmQvSGpjUzJLdGxaNUZQY2U0Ujk5UXYyVUsrcEg0S1N5SnRZK2tCRjZYbm1UR0Z6eGZ3ZFpadTk4b05ZdlVRcmNMbVN5eEgyVzlXUFk1M0tlbVFmYXlGV2VwTVl6Q2pTZGlZYjZxMmpsS3FhSEk3bjhheDkrNEFKUXc0ejlldy85VSt0SXZEeVpNVkt2ZVlJbVhqVDFpVm1hNkZacThyc1hrZXNLK3plTTZ4MDFMUmZBdXY5SlNzcDlpdlc3VU1zRVVoU0RvYTFDVC9MMHVJZnZ2VzVMcitxdndINURSUTM1SkhYUmRaVWh1UVN6UWI5U3pRd21SWWJSMUdjSzlYdXRYRk5PZDRJeVgrTWRhdHFaKzNMQWpWMjcrY3MzNFUyM1FETlRFWVRrVlRQYm9xdGhnRzFYRVJRVjU4YU9paHJ5bVdlWGJybFB1QS9mV3E4TXlTV1lyYUhxSDB3WUVPWnEydzhZOVB2MzdubklGc1ZROWdOSGZLemNQOHYzL0w0MUR4MTVWNVdRemFIM1NqZnZJbWgxMUlLaTJWWEpvL1NFQXNIVnlrUjFndHEyYVZrdnI5LzlsNzVzdTF6TW9PZDZNUHJKRnkrenUyLytSeDhkQllwSysxZjZHZUlPUEdhWXVqSUVCSllhR3FQVGlVRDFLNGxMUHZCT2tXN3VKcGNidkFnM0t0SzNxL1NQTm5QRy9MTHJ4VXEzeGZOT0pYK3BrV1dtbHdEUmNFWWljNjd0OEZta3p1MFhPU1B4eFdGTVVWNkhYVlFGT3hMbW1Tam1mZnFOb2p6dEoweXpRM3dCMHd3VktFeFpXOVNlYjdmb2Y0eHJxeUcvUm1yYjY0Z2FPelFseTNwRmovekxhcGdyWWpRWVBWY05sNXVZaWtZWXdUQnJjblVqSmpkUFhwZmFMckJ1UVEra09ER24xbnJrbjFGOWVDUm5CR2dmUXlqaFVOdCtSVzBMT3BzQnVLOEVZOFBEUmFuMlFPbFlzOFNYbFB2VXUzTml6SmlSMWtuNWpXVTRqMU9MYllTUDdUSDFJYlV0akdRZHNESG5IdGt3Q2pkdVZiNHZUTXI0OG91L2hYVmFweTBLdThlaVZFdG1SM0ZvdzJneXpFVGxzYmE1T01CSGRraTRPM3lSRVlGbEtiRDhhc0g1WjRtcVRKUERQdjdnRm1RbkxlL3c0R2o5S3c2amZaQ2hndFMyRVBjNURwdlJPYm1DNklWNEEraVZSY3dLZEZ3TVhLc3R6aGZqd0I0OFUzSnZnY2VOeWovU1BxaHlTZDFCMEc3ck1QamFCUUx1bkJNZTRHbXdMdGF2OXNkb3lxekNTeHB3eFZwUU9IVTRsL1VocG5saWRhd08ya2VFaVZFck52OTZUMVRiWjZYMUpNRDdreXFqdmhidkZtR015K01xaHliclRndEw1QXd5ZHQ0amM4NVRKLzZ1NzVxcGVKNG5RNEVXcmhtV0pEOS9GOVJOWmRRSnk1eXJ1ZGFmc0hRbnJzRnV0L3RkYUdoUDJoL25rZm5hdGVvMVIvbzc3SzRIZmVZVkorTXBlNUpvSC92UHVKV2xnME5PNjl6b0Y4c203eHZDbHY5VS9mWVNzdjluL1IyU3ljS0Z1eWhDdU1LZlh6NzhpZ3FNMGhOOWJjdTBQdVVOUmZuNGwyM0FkdGZEcjFFUjhvbEJmSWQ3RjcyN2VnR2lNUWhDYVBqUzI2UXBCUmZnRGtEakxwQVBjK0kyajFwTTJXZ2ZLT2UwZ3dkUmFrUkl4V2JkWHRudTMzM2JmYmRjMGlESC9OTGlPZWVNQjh5UWdrWStLcEgyMFluZmRaUGJ3VkMvakdWNDVERUtxU0RPNkpscUg5RFo0MWV1eS9JT3l0d3dKcFdRK28xb1ZOTmMrOEMyNk5YWVZ1U2tscnMra3JwV2JQVU5DYkIrakpjZ3lRc2JubUtTSE1pN2ZhMkw5Syt6VHd5a091T0owRDdPbVRiQlREQlhhdXhERDlqc2owMjVua1c2Sk5ySEM5VlJxcGlHNXM1ZjduL29oaGlpczUyY1FQc2djeEMzaDUzdEZxZFJleHpkTUxWOVROVUFHN2VIcFZIdzJlWmhybjF3MUdEUnlSd1F3Q0RmTlFLQ2JuNkhLeGtSanpzUmhpdGhzbzlwYVA2ekhEUzErUlpEUGZiSlp0cEg0VlUxZ2RwUUd3N2pCNktKOXZIZjMvcVN4QXlQVWR3K092blg4aU9jRG4xZWxIc0V0d0RjK0tBWTBoUndHeWRmeDlFckVkcEhRcmMxZW8wNCtScEIrMGpvOWs2K2txTlhZak1oYUpwRmN2U2FkQUkxb3NWU011Zlpmam1CK28xb0VldkpNQVAxeFJGdHlVbFd5Mzl3MmdoQ1l3dlRTYmJqaE11aW44eEk2SG9uWE1Xc3VBeUJESUVNZ1F5QkRJRU1nUXlCRElFTWdReUJESUVNZ1F5QkRJRU1nUXlCRElFTWdReUJESUVNZ1F5QkRJRU1nUXlCRElIVUVIakpnL1grTzhmN0FIaHFXRG1NY0drV2QzZG14MmNjVE9JOTRzUXpBZWU5THpFKzMyUlQ1R3gyejBQOHU5dGhya0thV096YS9UZFIyNzlsUTl5NkU0dEMwb1l2cWwvc3dPVmk3dmZMU2JsTUhIMkg5V1NiY2JaOGErS2FiOUxncVJ2ZmNndTVqN3JFQys3Sit2MnNrN3E0ZUh6eXd3M2ZHTGJQbkhPVWMrcGlNRStXekd1SjI0a0FHbk12TUxHY2F6WHBCczZkRENVTkFYd3kra2QvMnd0R3UvZXRXL09mQ1NabVlib3krR002RExnUXhmaTdjRDMzQk1SMDJOdERXb2x2ak5UOVZpR3BXZFN5TzJONndhRGYvZHJ5Um1SK0h3SnRlVitNTHhJQndKWjk3ZTBEeFh0Qi8wb1VPR1hnOW1aZnRna1ArQzdvbjQyNjJnTFhGakdXVGFHT3JQZ3Y2RzlIM2ZNc1BnVjhSOC9KTjltZXdBWDlkV2N0RUlRRkYrUEJYV3NGNHljejdMK2dmMm5BdlFzLzVyajF0eVlUcDBDci9SZjB6d3k2ZCtIL2F3UmN2eFRnTUpIQkpyOWhUVjNRdnpyd0Z3bHkvMEs0amZXVmJLWXk0TCtnZnpjR2sxY1FicHVtdk1lWExuQkJmenRPcFNYcnlOUGpDNGR4eXpBNWVpN29MMGRPcElwaEU3ajFWR0J5bnpaZ2NDL29KMUE4VHRuYmxyN2s3SXpTWitMbkpoY3UxWEx4MmZlZE1sajFZRWJlTG8rZnFudHU4UVJKUlZKUDhFTmVNbkNIZ0tEVDUzc0k2dC85SXJicU5YNGMrSDVZZEdLUkV5WndlVUYvNk5nMjcvNElFRkRDelNIYkV3dVdwK0hlQy9yYllUL0pXUGFwSExqQmVjdVRlNEs5N2dYOVJjOGdwZ0NCamxKUmZqeXhObDN6QkNmWjYxelFQK2RlZk8zZ2dTdGpONTJBNTNlQVBIR1Q1ZzFlMEw4YzBnSFJLNS8xNExLYVhVV21YZENmWXhjOUNBbnZqSDlkME03VU5naVNtQldkQy9xcitweEFocmFTQTJhK0hyTnNkU2pIMTZOZjBIK2dqL2ZZNi9Oc01Eem1teC9HRjVwQkxkTXY2RjhPdWNxZWxnNzNTallyOWJqRi9xRHl4aVF0NUlKK1cvOWxxaXVBalgxa2o5cjh0WHEvT3ladFAwSXpRaTdvdjhMK0pNZ3dieE51L1p0dmZMREdNcHM0b2FOZjBJOUx0czRGY1hNdnh6djhuV0RhUklaWDlBdjZIMlY5RFp1ZjFrbmVHTk4rTlhraVFVT2pReTdvTHpQMjFyVUFIaXZuYiszZjlydS9IWWpOZ2g0RUNrM0lsVEFnZmRRVG5YbGpFQ2p3RFNwZ3A4eVVNZlJac2tUZ0paZ3p5U21qK05HQStUWFBudkVzc1JWc0ZBQUFBQUJKUlU1RXJrSmdnZz09Igp9Cg=="/>
    </extobj>
    <extobj name="334E55B0-647D-440b-865C-3EC943EB4CBC-5">
      <extobjdata type="334E55B0-647D-440b-865C-3EC943EB4CBC" data="ewoJIkltZ1NldHRpbmdKc29uIiA6ICJ7XCJkcGlcIjpcIjYwMFwiLFwiZm9ybWF0XCI6XCJQTkdcIixcInRyYW5zcGFyZW50XCI6dHJ1ZSxcImF1dG9cIjp0cnVlfSIsCgkiTGF0ZXgiIDogIlhGc2dSMTk3WkdsMmZTQTlJREVnTFNCY2MzVnRYM3R6SUZ4cGJpQmNiV0YwYUdOaGJIdFRmWDBnY0Y5elhqSWdJRnhkIiwKCSJMYXRleEltZ0Jhc2U2NCIgOiAiaVZCT1J3MEtHZ29BQUFBTlNVaEVVZ0FBQW1zQUFBQzNCQU1BQUFDL0FRU3FBQUFBTUZCTVZFWC8vLzhBQUFBQUFBQUFBQUFBQUFBQUFBQUFBQUFBQUFBQUFBQUFBQUFBQUFBQUFBQUFBQUFBQUFBQUFBQUFBQUF2M2FCN0FBQUFEM1JTVGxNQU1sU0p1OTN2elhhclpwbEVFQ0pKUS9TUEFBQUFDWEJJV1hNQUFBN0VBQUFPeEFHVkt3NGJBQUFUa0VsRVFWUjRBZTFkZTR4clIzay8zdmZMM2dYS1E2S1NMUVNWRUtKN0F4Y0pGSXFOcWx5b1F1VkZrSVNnRXQ4cXlRMHRCVzhFM0RTOHpxSzJndis4VkZIelI2cmFyUkNpVktwWEtpMmlvYlVMQ0tpSXVsc3Bsd1Foc1c0RnREekVYa2pXbDV2WDhQdm1jVjV6anM4Yzc5bGRyMzFHMmozeitPYWJtZC81WnVhYmIrYU1MV3ZNWEtIT2tycTFNWU5nbU9hc0pBV05zZTFoeWhtelBGUEpZWHQyekNBWXBqbTU1TEQ5YXBoeXhpMVBXZUFXMWZQeTMvLzVWejkvNDAxZWNQdmpCc0V3N1prWGlEdzFPRy8rK2VmZHVhTTBtSFlpVXZNU2psNWNhL092cWttWjI0d2psZW5mdnN4dWU2TWg3WmtqV3hkZ2JNUlhQUDhYZ3ZRWDhhUkU4VGxPZmVlZUdmVlpvMW9XV0R4dFV1OFhjTkc4YmtKcS9aQzk2NzkrOWpyR1lycS9FYTlSSktvSjNFb21kVnZndUprSVVJNjluUmcyeGxiUE94Q3dQV2NDbXpWTnhPY01TSC8wSkFjWENvNlpjQnF3SEMyU0pRSGJOYk5hZlEvVUZ3MUk3VTFCdE10WXk0RDhESkkwQlc0bU1vVFdmWU94WDhZM2NvcHhZYk9zUmNiR2RGa3hLMkI3Smg0TW9zamJ6RUF3WjlRVVUyQnNUSmNWY29IVmwvSVJoeDdrWnkyT3h0cG5kMG9hbXgzR1VwOU5Ba3gzNUNxR3RTOGJHRUdLakcwSmRtV20rcXNoK3pORE5rT2dtWGVtUllQUkNqUEJwbWgvbTdIZW1VRWlVVVhWQWl1Kzd3bTIxU2RpMlI4NHdydk9XRGVXL0d3U1FEYkl2ZCt3OXJQeFJoQk1NeVhCRGRKbStqb01peDhaTXE3RW1pdW1oWGhWckZCOXQyeGRZMnc3cVdYWlhOcmkwWkJRbERmTTMzaVY2Ykw1L1BPM3NudmVLb1Z3ZXRPYzJZaFJIZ2pZekJaWWxqVm5hQVNoVmpLbVZEalY1cW0vRXFVZHRuaE1KOEU3VUN4RzVDbTNGRXcxckFYemRlWUNZNEdYOFZJQzdaNkhIcWl4ZmduTm4yWTdJd0xDRU5Yb0NBRXdiY0VqeGtYTXNRQXMzMFJKNzNzMTh1ZGZ6dVd3cmVZT1k1WnBFT1l1OWRKZ0l4ZFlCcXZOaEtXMUEwUGJid0MxdjVZOFhnaTlHWEsrbDVCbEd1Uzc2YndzTEIyNTY2VlJKdzhQOFAyQUoyaVJVZlJ2bklqbWRXdjNWTlplc09PVW5Gb2N4UVAxaXR6bVVYaUU1TVVPejVvbmVxWE8yTDF1ZUpsOVVwOHgzT1JqOHoyT2FwUlM0WTRGT3JsNC9UOVphUjNtTTZ5VUEwczR1MjlraGtwV1poeDE0YlBVMGxJY21WRzZXbUIxamFoTmlSWlkzeXRzanpGMjZBMWJwUGljckRsdTZ1R2JDTFMwWUxPS25KbnhBc3NNdURaN2o0ZVF6dWw4M0JPMitGQzM0WXM1N2dBTnJ2MDMyYW5CQmdXTDNKTnAxbnZKeis1RkdudWFpWGJTTERHVzEvTGR0LzNyR3EyS1NyR2taZ1JnUlc3TGpOcUlxdTNicmFIVFRaVkFQanU5K2djNER3eW1XT3gzMENxNEJPdW1nVFZENHBKL1BpZ3kzWnplT0IyMXpVN3ZiY21qYnFZTHJEak1rTjQrN0htb2FHVFRURlBGVTFIYjB1eWtWZ2V5QnJmdGFlcVJ2QXZzOTNuK2YranhCMGx6bC9zOC8xYTFoYjRuOGZpOGRuclNacGtkUGpKdlMwTXUrR3M5bmdkVjFiWENPWlBkUS9NaVRTblRoQzNsQmRhQ21nOFlid3laUW5WZFkvYUUxVGFKYTVxd1dXMjBERTV2bk9sTDlORTFuaExCbk5oVzNRWG5OUjhCQldiU0trM2pQRERDVHJHVDBnNDZ1YUJaY1dBRkloTVgxRUEyTGZvcUpnVFphYjFaWms1WWJaTmwyMm5DWnRVSXRaUTROcVRsSTcvTGQrVkpPMy9PQzVqd3o2U21kdXE4QjhUWUtUVlNGRkZFMitBME5XRkFCYUtTc0JxOVJBN3MrR0wrQUo0ZG5YaitWS3h0cVNvZ2xpVVhXQVpuUEhRQUFqRmx3Q1FkRjdJcUFuc0JHZ1JuVTFRVGRlNlJNWGFxMG1aUjQrRE9SWllYbXBDN2NQZ1puckIwb2YvQkh2ZkpMVVRPN1NwaTZKeEp5TkJtemVrNkNjOS96UC9zZEdHVEN5eWZqU3krQmVWK25XdTJqOWY3TlhhZHkxU1JBeWIrYllERERMeGh5N1pjS1o3OU1WRFk2Y0ltRjFpbWg0OUVneGI2M1NsMnVHZmw2ay8wck44UzZLeDdZTnNHR1ExdEJOK0l1SlJoczhxaXVaVWt6U3RpOEtwaVRkWjRHb0lHblhrdEpEUHhiWVhFbjFLVW5hNjBxUVZXb3BOODFTMExjRDgzTFhTSmN1aEVYQWRzQUhWVVhOcXdxUVZXbU1SRXRMbEFpNmMyZTZJc3hxNzlzS0dmT244YTgzTm9GZksvK1VpVTY0Vm00SWMzU2hGSncwWExRV25EUFBjeXJTb2F3RVZBamNHL3AyV21pZlhZNWt3NWo2RUl6VVgxR2p2bFRzcXQreWc5VEZuUXdCQVJxeVJsWmFuVjh1MkJIWTJTZHEvREpsS05jSmlJWFRDUGNGRW1manR0Mk5RQ3EyWGNnTjJMSUcwNnloNVVab3J3dTMwMDY2by9LaUtVKy93YjNuS0xrTnNJQ2kxNmtRYk9jUGNIR3JHSXNGT0g3VUJVZ0t2MkVZWDZvenNrWEhYbnpBSStjOUR6a2tCcytMTkZoSGp4eVdDTDREUW9PbjNZNU5jZDVvdWVXZ25IWU54dFkrVFhUNUkwQU52Mm9IWTRhWS9lQ2xJVmVySDRsRVlGMDN1bUR4djFOM0lrUXlZdVQ0b0ZEc0FvRWNQb3J3L0VIVERjTXVFR21uMW5seERUdWhuV2hweGRNanYxVG1vbFhHQk4wYkFMczlCRldTa1k3ZlE1c3dyWXVwSWc3ckh2d0E2dWxUanE0ZEtQQVRaYWRjT1pMckJ5YjBQTk1WTXF1WUFDb3RzNWJUQ0VVRHB1NmJXdi8vUVgvdTVsTC92Q3AvL3NCaWRTZXRhZGJVS3dhZ1ZUMHdtalBxVlFUajhMMXdEL3cxdjUwSXhDQjBNek55T1N3NkwzM1FZQ1FWM2FhbmdOM254RjhKZE8weEhLenB5N0V2SUN2RnlHOTlzUnNKR2lGT29NakJ0a3JZQXpvSFRxdmU3cXVQdGhYOTdXY0diR0lZYm5SVlNBY0hMSHdVMjEzUmYydnowM09sV2ZIUUhicXFwVjhLa1AxMXA5NU9FamZUN1VLSjJJaml0TXUyR0FZMndMckszeS8vUDNWTFViZE9sM05FQ0hlL29lT3dLMjZScFZTbmY5VHhqVUFTMkgyemFnVkNRd3N5bHZPV3c5ME5RT3pZQWNaZWlqb0lYbGExZnhPcmFuSFFIYmtRcWtGV1JRT2dZeWhOcm05RFVJMWxXTnVCTUNHekl4cGJWNE1xQndUK2lZdlBaeHdHYUJxKzlnV2x6bG9iWTVLMDVrcldqMGpjRFlSZ1JrRmJtb1VjSjBGZWpPT3NuUlk5REEwdEc1QkRrY1lPTHJCU01IaEQxcUc2a3ZMWTBVM2Q0M2t4SUJ5ZlNPUm1tdGhrekVPdFVSWTQ0SE5zeWxTZVpSVXRzcXNpRUVSazlyMUNwaWc1RjA1S1FVakxSd2REeFIwY1JnQk94dHZCM2xNSW5SVytqRTdMdExKeURvVXpVRURlazBQWWRjZUFoS2ZSNkZDZXJaQUdGY2NCVHNiVlJIREZXNnhqcW84dXZLUmtrcnlwQ1ZQTitBYlFVNEZJTUFGODdYYnU5aVhOMFFoRisvOUtjcXg5U0ZlN2E0ZjZFdW5pcUJQekVDUkRsTmw1WVo3VkJCOTNGTkhpZ20wejRzT2htblNtbUVXb2pJMWw1UkpQSUpTcC8ra2F1eSsrM3JVRXZFZ1Bjb3U0L2RJVWp6MVd1Mk9HSFlDT3ZCSTJGdncrWlRQZWxrVm5PTUZsWXR2SDgzZGJXa0dwRExNdnQzcTFCOW01U0RmRzNic3VXY2V1VTZSczlOZ3JEdUZpVEJIKzVoSDRPMFhVbDZDc1JqYmNORUdqSzA4WDFTUjdNVExTVzF6VHVLUGNZNzkveWhIUEJtTUV4MDVKUlJQWWZEVUh6UjRscERoNE5MNVRvTzJNQ3pwL2diUFQxcUcxUVJSNFB6NWtWOFFBT2hLVmVPWWtTWXIvSEZBWHF6Z0wyTnRLbzRWYkVFb1pzUm95MDZ0cGZyMFA1amdBMEdzNFFxQUhKY2xTMDRpRmhSMGpyM25LK1ZOUC90dURHemNoWnF5Z0d2MXFNdXlRbG1ueVBMRkI4SHA0UGd1d3dTK1k0Qk5yelJWcUk2V0hQdUtzbU9HaGFMd1pkUkJXd2x0NXltRkwyMjZJMUxtQU1oZWJ3aTdRcDFjdEhIN2RBaHdHVmo2QU5zbkxVaHVRRlpZdTNETzNBaHMrODdTTGM4MnFKWWM0UGlhcTQ5SndMSklyVWhCcnhaREdYb3hqMGlxSFg1cmo5NXJmVW9sWUtuR3YrcnVZcW1jWjdCaEVWZFZSaWNnYmJrbFl4OUozcFIxbUhzRHoyTU9rKzJ2WlBIdnVJZ3BXNy9JcjdJRjlObW5nYkZtalRDclNaVEtEMEYrcng0aDd6Lyt5S1BFa2l1ZmZCTlVpRVhHTmQ5RThJckwvZnY3OHJhMEpIRExhZG0vOGNxODNJVTQzRmwwVGRwUE51bWlCOXUwVEtMejU2RmQvSGpjUzJLdGxaNUZQY2U0Ujk5UXYyVUsrcEg0S1N5SnRZK2tCRjZYbm1UR0Z6eGZ3ZFpadTk4b05ZdlVRcmNMbVN5eEgyVzlXUFk1M0tlbVFmYXlGV2VwTVl6Q2pTZGlZYjZxMmpsS3FhSEk3bjhheDkrNEFKUXc0ejlldy85VSt0SXZEeVpNVkt2ZVlJbVhqVDFpVm1hNkZacThyc1hrZXNLK3plTTZ4MDFMUmZBdXY5SlNzcDlpdlc3VU1zRVVoU0RvYTFDVC9MMHVJZnZ2VzVMcitxdndINURSUTM1SkhYUmRaVWh1UVN6UWI5U3pRd21SWWJSMUdjSzlYdXRYRk5PZDRJeVgrTWRhdHFaKzNMQWpWMjcrY3MzNFUyM1FETlRFWVRrVlRQYm9xdGhnRzFYRVJRVjU4YU9paHJ5bVdlWGJybFB1QS9mV3E4TXlTV1lyYUhxSDB3WUVPWnEydzhZOVB2MzdubklGc1ZROWdOSGZLemNQOHYzL0w0MUR4MTVWNVdRemFIM1NqZnZJbWgxMUlLaTJWWEpvL1NFQXNIVnlrUjFndHEyYVZrdnI5LzlsNzVzdTF6TW9PZDZNUHJKRnkrenUyLytSeDhkQllwSysxZjZHZUlPUEdhWXVqSUVCSllhR3FQVGlVRDFLNGxMUHZCT2tXN3VKcGNidkFnM0t0SzNxL1NQTm5QRy9MTHJ4VXEzeGZOT0pYK3BrV1dtbHdEUmNFWWljNjd0OEZta3p1MFhPU1B4eFdGTVVWNkhYVlFGT3hMbW1Tam1mZnFOb2p6dEoweXpRM3dCMHd3VktFeFpXOVNlYjdmb2Y0eHJxeUcvUm1yYjY0Z2FPelFseTNwRmovekxhcGdyWWpRWVBWY05sNXVZaWtZWXdUQnJjblVqSmpkUFhwZmFMckJ1UVEra09ER24xbnJrbjFGOWVDUm5CR2dmUXlqaFVOdCtSVzBMT3BzQnVLOEVZOFBEUmFuMlFPbFlzOFNYbFB2VXUzTml6SmlSMWtuNWpXVTRqMU9MYllTUDdUSDFJYlV0akdRZHNESG5IdGt3Q2pkdVZiNHZUTXI0OG91L2hYVmFweTBLdThlaVZFdG1SM0ZvdzJneXpFVGxzYmE1T01CSGRraTRPM3lSRVlGbEtiRDhhc0g1WjRtcVRKUERQdjdnRm1RbkxlL3c0R2o5S3c2amZaQ2hndFMyRVBjNURwdlJPYm1DNklWNEEraVZSY3dLZEZ3TVhLc3R6aGZqd0I0OFUzSnZnY2VOeWovU1BxaHlTZDFCMEc3ck1QamFCUUx1bkJNZTRHbXdMdGF2OXNkb3lxekNTeHB3eFZwUU9IVTRsL1VocG5saWRhd08ya2VFaVZFck52OTZUMVRiWjZYMUpNRDdreXFqdmhidkZtR015K01xaHliclRndEw1QXd5ZHQ0amM4NVRKLzZ1NzVxcGVKNG5RNEVXcmhtV0pEOS9GOVJOWmRRSnk1eXJ1ZGFmc0hRbnJzRnV0L3RkYUdoUDJoL25rZm5hdGVvMVIvbzc3SzRIZmVZVkorTXBlNUpvSC92UHVKV2xnME5PNjl6b0Y4c203eHZDbHY5VS9mWVNzdjluL1IyU3ljS0Z1eWhDdU1LZlh6NzhpZ3FNMGhOOWJjdTBQdVVOUmZuNGwyM0FkdGZEcjFFUjhvbEJmSWQ3RjcyN2VnR2lNUWhDYVBqUzI2UXBCUmZnRGtEakxwQVBjK0kyajFwTTJXZ2ZLT2UwZ3dkUmFrUkl4V2JkWHRudTMzM2JmYmRjMGlESC9OTGlPZWVNQjh5UWdrWStLcEgyMFluZmRaUGJ3VkMvakdWNDVERUtxU0RPNkpscUg5RFo0MWV1eS9JT3l0d3dKcFdRK28xb1ZOTmMrOEMyNk5YWVZ1U2tscnMra3JwV2JQVU5DYkIrakpjZ3lRc2JubUtTSE1pN2ZhMkw5Syt6VHd5a091T0owRDdPbVRiQlREQlhhdXhERDlqc2owMjVua1c2Sk5ySEM5VlJxcGlHNXM1ZjduL29oaGlpczUyY1FQc2djeEMzaDUzdEZxZFJleHpkTUxWOVROVUFHN2VIcFZIdzJlWmhybjF3MUdEUnlSd1F3Q0RmTlFLQ2JuNkhLeGtSanpzUmhpdGhzbzlwYVA2ekhEUzErUlpEUGZiSlp0cEg0VlUxZ2RwUUd3N2pCNktKOXZIZjMvcVN4QXlQVWR3K092blg4aU9jRG4xZWxIc0V0d0RjK0tBWTBoUndHeWRmeDlFckVkcEhRcmMxZW8wNCtScEIrMGpvOWs2K2txTlhZak1oYUpwRmN2U2FkQUkxb3NWU011Zlpmam1CK28xb0VldkpNQVAxeFJGdHlVbFd5Mzl3MmdoQ1l3dlRTYmJqaE11aW44eEk2SG9uWE1Xc3VBeUJESUVNZ1F5QkRJRU1nUXlCRElFTWdReUJESUVNZ1F5QkRJRU1nUXlCRElFTWdReUJESUVNZ1F5QkRJRU1nUXlCRElIVUVIakpnL1grTzhmN0FIaHFXRG1NY0drV2QzZG14MmNjVE9JOTRzUXpBZWU5THpFKzMyUlQ1R3gyejBQOHU5dGhya0thV096YS9UZFIyNzlsUTl5NkU0dEMwb1l2cWwvc3dPVmk3dmZMU2JsTUhIMkg5V1NiY2JaOGErS2FiOUxncVJ2ZmNndTVqN3JFQys3Sit2MnNrN3E0ZUh6eXd3M2ZHTGJQbkhPVWMrcGlNRStXekd1SjI0a0FHbk12TUxHY2F6WHBCczZkRENVTkFYd3kra2QvMnd0R3UvZXRXL09mQ1NabVlib3krR002RExnUXhmaTdjRDMzQk1SMDJOdERXb2x2ak5UOVZpR3BXZFN5TzJONndhRGYvZHJ5Um1SK0h3SnRlVitNTHhJQndKWjk3ZTBEeFh0Qi8wb1VPR1hnOW1aZnRna1ArQzdvbjQyNjJnTFhGakdXVGFHT3JQZ3Y2RzlIM2ZNc1BnVjhSOC9KTjltZXdBWDlkV2N0RUlRRkYrUEJYV3NGNHljejdMK2dmMm5BdlFzLzVyajF0eVlUcDBDci9SZjB6d3k2ZCtIL2F3UmN2eFRnTUpIQkpyOWhUVjNRdnpyd0Z3bHkvMEs0amZXVmJLWXk0TCtnZnpjR2sxY1FicHVtdk1lWExuQkJmenRPcFNYcnlOUGpDNGR4eXpBNWVpN29MMGRPcElwaEU3ajFWR0J5bnpaZ2NDL29KMUE4VHRuYmxyN2s3SXpTWitMbkpoY3UxWEx4MmZlZE1sajFZRWJlTG8rZnFudHU4UVJKUlZKUDhFTmVNbkNIZ0tEVDUzc0k2dC85SXJicU5YNGMrSDVZZEdLUkV5WndlVUYvNk5nMjcvNElFRkRDelNIYkV3dVdwK0hlQy9yYllUL0pXUGFwSExqQmVjdVRlNEs5N2dYOVJjOGdwZ0NCamxKUmZqeXhObDN6QkNmWjYxelFQK2RlZk8zZ2dTdGpONTJBNTNlQVBIR1Q1ZzFlMEw4YzBnSFJLNS8xNExLYVhVV21YZENmWXhjOUNBbnZqSDlkME03VU5naVNtQldkQy9xcitweEFocmFTQTJhK0hyTnNkU2pIMTZOZjBIK2dqL2ZZNi9Oc01Eem1teC9HRjVwQkxkTXY2RjhPdWNxZWxnNzNTallyOWJqRi9xRHl4aVF0NUlKK1cvOWxxaXVBalgxa2o5cjh0WHEvT3ladFAwSXpRaTdvdjhMK0pNZ3dieE51L1p0dmZMREdNcHM0b2FOZjBJOUx0czRGY1hNdnh6djhuV0RhUklaWDlBdjZIMlY5RFp1ZjFrbmVHTk4rTlhraVFVT2pReTdvTHpQMjFyVUFIaXZuYiszZjlydS9IWWpOZ2g0RUNrM0lsVEFnZmRRVG5YbGpFQ2p3RFNwZ3A4eVVNZlJac2tUZ0paZ3p5U21qK05HQStUWFBudkVzc1JWc0ZBQUFBQUJKUlU1RXJrSmdnZz09Igp9Cg=="/>
    </extobj>
    <extobj name="334E55B0-647D-440b-865C-3EC943EB4CBC-6">
      <extobjdata type="334E55B0-647D-440b-865C-3EC943EB4CBC" data="ewoJIkltZ1NldHRpbmdKc29uIiA6ICJ7XCJkcGlcIjpcIjYwMFwiLFwiZm9ybWF0XCI6XCJQTkdcIixcInRyYW5zcGFyZW50XCI6dHJ1ZSxcImF1dG9cIjp0cnVlfSIsCgkiTGF0ZXgiIDogIlhGc2dSMTk3WkdsMmZTQTlJREVnTFNCY2MzVnRYM3R6SUZ4cGJpQmNiV0YwYUdOaGJIdFRmWDBnY0Y5elhqSWdJRnhkIiwKCSJMYXRleEltZ0Jhc2U2NCIgOiAiaVZCT1J3MEtHZ29BQUFBTlNVaEVVZ0FBQW1zQUFBQzNCQU1BQUFDL0FRU3FBQUFBTUZCTVZFWC8vLzhBQUFBQUFBQUFBQUFBQUFBQUFBQUFBQUFBQUFBQUFBQUFBQUFBQUFBQUFBQUFBQUFBQUFBQUFBQUFBQUF2M2FCN0FBQUFEM1JTVGxNQU1sU0p1OTN2elhhclpwbEVFQ0pKUS9TUEFBQUFDWEJJV1hNQUFBN0VBQUFPeEFHVkt3NGJBQUFUa0VsRVFWUjRBZTFkZTR4clIzay8zdmZMM2dYS1E2S1NMUVNWRUtKN0F4Y0pGSXFOcWx5b1F1VkZrSVNnRXQ4cXlRMHRCVzhFM0RTOHpxSzJndis4VkZIelI2cmFyUkNpVktwWEtpMmlvYlVMQ0tpSXVsc3Bsd1Foc1c0RnREekVYa2pXbDV2WDhQdm1jVjV6anM4Yzc5bGRyMzFHMmozeitPYWJtZC81WnVhYmIrYU1MV3ZNWEtIT2tycTFNWU5nbU9hc0pBV05zZTFoeWhtelBGUEpZWHQyekNBWXBqbTU1TEQ5YXBoeXhpMVBXZUFXMWZQeTMvLzVWejkvNDAxZWNQdmpCc0V3N1prWGlEdzFPRy8rK2VmZHVhTTBtSFlpVXZNU2psNWNhL092cWttWjI0d2psZW5mdnN4dWU2TWg3WmtqV3hkZ2JNUlhQUDhYZ3ZRWDhhUkU4VGxPZmVlZUdmVlpvMW9XV0R4dFV1OFhjTkc4YmtKcS9aQzk2NzkrOWpyR1lycS9FYTlSSktvSjNFb21kVnZndUprSVVJNjluUmcyeGxiUE94Q3dQV2NDbXpWTnhPY01TSC8wSkFjWENvNlpjQnF3SEMyU0pRSGJOYk5hZlEvVUZ3MUk3VTFCdE10WXk0RDhESkkwQlc0bU1vVFdmWU94WDhZM2NvcHhZYk9zUmNiR2RGa3hLMkI3Smg0TW9zamJ6RUF3WjlRVVUyQnNUSmNWY29IVmwvSVJoeDdrWnkyT3h0cG5kMG9hbXgzR1VwOU5Ba3gzNUNxR3RTOGJHRUdLakcwSmRtV20rcXNoK3pORE5rT2dtWGVtUllQUkNqUEJwbWgvbTdIZW1VRWlVVVhWQWl1Kzd3bTIxU2RpMlI4NHdydk9XRGVXL0d3U1FEYkl2ZCt3OXJQeFJoQk1NeVhCRGRKbStqb01peDhaTXE3RW1pdW1oWGhWckZCOXQyeGRZMnc3cVdYWlhOcmkwWkJRbERmTTMzaVY2Ykw1L1BPM3NudmVLb1Z3ZXRPYzJZaFJIZ2pZekJaWWxqVm5hQVNoVmpLbVZEalY1cW0vRXFVZHRuaE1KOEU3VUN4RzVDbTNGRXcxckFYemRlWUNZNEdYOFZJQzdaNkhIcWl4ZmduTm4yWTdJd0xDRU5Yb0NBRXdiY0VqeGtYTXNRQXMzMFJKNzNzMTh1ZGZ6dVd3cmVZT1k1WnBFT1l1OWRKZ0l4ZFlCcXZOaEtXMUEwUGJid0MxdjVZOFhnaTlHWEsrbDVCbEd1Uzc2YndzTEIyNTY2VlJKdzhQOFAyQUoyaVJVZlJ2bklqbWRXdjNWTlplc09PVW5Gb2N4UVAxaXR6bVVYaUU1TVVPejVvbmVxWE8yTDF1ZUpsOVVwOHgzT1JqOHoyT2FwUlM0WTRGT3JsNC9UOVphUjNtTTZ5VUEwczR1MjlraGtwV1poeDE0YlBVMGxJY21WRzZXbUIxamFoTmlSWlkzeXRzanpGMjZBMWJwUGljckRsdTZ1R2JDTFMwWUxPS25KbnhBc3NNdURaN2o0ZVF6dWw4M0JPMitGQzM0WXM1N2dBTnJ2MDMyYW5CQmdXTDNKTnAxbnZKeis1RkdudWFpWGJTTERHVzEvTGR0LzNyR3EyS1NyR2taZ1JnUlc3TGpOcUlxdTNicmFIVFRaVkFQanU5K2djNER3eW1XT3gzMENxNEJPdW1nVFZENHBKL1BpZ3kzWnplT0IyMXpVN3ZiY21qYnFZTHJEak1rTjQrN0htb2FHVFRURlBGVTFIYjB1eWtWZ2V5QnJmdGFlcVJ2QXZzOTNuK2YranhCMGx6bC9zOC8xYTFoYjRuOGZpOGRuclNacGtkUGpKdlMwTXUrR3M5bmdkVjFiWENPWlBkUS9NaVRTblRoQzNsQmRhQ21nOFlid3laUW5WZFkvYUUxVGFKYTVxd1dXMjBERTV2bk9sTDlORTFuaExCbk5oVzNRWG5OUjhCQldiU0trM2pQRERDVHJHVDBnNDZ1YUJaY1dBRkloTVgxRUEyTGZvcUpnVFphYjFaWms1WWJaTmwyMm5DWnRVSXRaUTROcVRsSTcvTGQrVkpPMy9PQzVqd3o2U21kdXE4QjhUWUtUVlNGRkZFMitBME5XRkFCYUtTc0JxOVJBN3MrR0wrQUo0ZG5YaitWS3h0cVNvZ2xpVVhXQVpuUEhRQUFqRmx3Q1FkRjdJcUFuc0JHZ1JuVTFRVGRlNlJNWGFxMG1aUjQrRE9SWllYbXBDN2NQZ1puckIwb2YvQkh2ZkpMVVRPN1NwaTZKeEp5TkJtemVrNkNjOS96UC9zZEdHVEN5eWZqU3krQmVWK25XdTJqOWY3TlhhZHkxU1JBeWIrYllERERMeGh5N1pjS1o3OU1WRFk2Y0ltRjFpbWg0OUVneGI2M1NsMnVHZmw2ay8wck44UzZLeDdZTnNHR1ExdEJOK0l1SlJoczhxaXVaVWt6U3RpOEtwaVRkWjRHb0lHblhrdEpEUHhiWVhFbjFLVW5hNjBxUVZXb3BOODFTMExjRDgzTFhTSmN1aEVYQWRzQUhWVVhOcXdxUVZXbU1SRXRMbEFpNmMyZTZJc3hxNzlzS0dmT244YTgzTm9GZksvK1VpVTY0Vm00SWMzU2hGSncwWExRV25EUFBjeXJTb2F3RVZBamNHL3AyV21pZlhZNWt3NWo2RUl6VVgxR2p2bFRzcXQreWc5VEZuUXdCQVJxeVJsWmFuVjh1MkJIWTJTZHEvREpsS05jSmlJWFRDUGNGRW1manR0Mk5RQ3EyWGNnTjJMSUcwNnloNVVab3J3dTMwMDY2by9LaUtVKy93YjNuS0xrTnNJQ2kxNmtRYk9jUGNIR3JHSXNGT0g3VUJVZ0t2MkVZWDZvenNrWEhYbnpBSStjOUR6a2tCcytMTkZoSGp4eVdDTDREUW9PbjNZNU5jZDVvdWVXZ25IWU54dFkrVFhUNUkwQU52Mm9IWTRhWS9lQ2xJVmVySDRsRVlGMDN1bUR4djFOM0lrUXlZdVQ0b0ZEc0FvRWNQb3J3L0VIVERjTXVFR21uMW5seERUdWhuV2hweGRNanYxVG1vbFhHQk4wYkFMczlCRldTa1k3ZlE1c3dyWXVwSWc3ckh2d0E2dWxUanE0ZEtQQVRaYWRjT1pMckJ5YjBQTk1WTXF1WUFDb3RzNWJUQ0VVRHB1NmJXdi8vUVgvdTVsTC92Q3AvL3NCaWRTZXRhZGJVS3dhZ1ZUMHdtalBxVlFUajhMMXdEL3cxdjUwSXhDQjBNek55T1N3NkwzM1FZQ1FWM2FhbmdOM254RjhKZE8weEhLenB5N0V2SUN2RnlHOTlzUnNKR2lGT29NakJ0a3JZQXpvSFRxdmU3cXVQdGhYOTdXY0diR0lZYm5SVlNBY0hMSHdVMjEzUmYydnowM09sV2ZIUUhicXFwVjhLa1AxMXA5NU9FamZUN1VLSjJJaml0TXUyR0FZMndMckszeS8vUDNWTFViZE9sM05FQ0hlL29lT3dLMjZScFZTbmY5VHhqVUFTMkgyemFnVkNRd3N5bHZPV3c5ME5RT3pZQWNaZWlqb0lYbGExZnhPcmFuSFFIYmtRcWtGV1JRT2dZeWhOcm05RFVJMWxXTnVCTUNHekl4cGJWNE1xQndUK2lZdlBaeHdHYUJxKzlnV2x6bG9iWTVLMDVrcldqMGpjRFlSZ1JrRmJtb1VjSjBGZWpPT3NuUlk5REEwdEc1QkRrY1lPTHJCU01IaEQxcUc2a3ZMWTBVM2Q0M2t4SUJ5ZlNPUm1tdGhrekVPdFVSWTQ0SE5zeWxTZVpSVXRzcXNpRUVSazlyMUNwaWc1RjA1S1FVakxSd2REeFIwY1JnQk94dHZCM2xNSW5SVytqRTdMdExKeURvVXpVRURlazBQWWRjZUFoS2ZSNkZDZXJaQUdGY2NCVHNiVlJIREZXNnhqcW84dXZLUmtrcnlwQ1ZQTitBYlFVNEZJTUFGODdYYnU5aVhOMFFoRisvOUtjcXg5U0ZlN2E0ZjZFdW5pcUJQekVDUkRsTmw1WVo3VkJCOTNGTkhpZ20wejRzT2htblNtbUVXb2pJMWw1UkpQSUpTcC8ra2F1eSsrM3JVRXZFZ1Bjb3U0L2RJVWp6MVd1Mk9HSFlDT3ZCSTJGdncrWlRQZWxrVm5PTUZsWXR2SDgzZGJXa0dwRExNdnQzcTFCOW01U0RmRzNic3VXY2V1VTZSczlOZ3JEdUZpVEJIKzVoSDRPMFhVbDZDc1JqYmNORUdqSzA4WDFTUjdNVExTVzF6VHVLUGNZNzkveWhIUEJtTUV4MDVKUlJQWWZEVUh6UjRscERoNE5MNVRvTzJNQ3pwL2diUFQxcUcxUVJSNFB6NWtWOFFBT2hLVmVPWWtTWXIvSEZBWHF6Z0wyTnRLbzRWYkVFb1pzUm95MDZ0cGZyMFA1amdBMEdzNFFxQUhKY2xTMDRpRmhSMGpyM25LK1ZOUC90dURHemNoWnF5Z0d2MXFNdXlRbG1ueVBMRkI4SHA0UGd1d3dTK1k0Qk5yelJWcUk2V0hQdUtzbU9HaGFMd1pkUkJXd2x0NXltRkwyMjZJMUxtQU1oZWJ3aTdRcDFjdEhIN2RBaHdHVmo2QU5zbkxVaHVRRlpZdTNETzNBaHMrODdTTGM4MnFKWWM0UGlhcTQ5SndMSklyVWhCcnhaREdYb3hqMGlxSFg1cmo5NXJmVW9sWUtuR3YrcnVZcW1jWjdCaEVWZFZSaWNnYmJrbFl4OUozcFIxbUhzRHoyTU9rKzJ2WlBIdnVJZ3BXNy9JcjdJRjlObW5nYkZtalRDclNaVEtEMEYrcng0aDd6Lyt5S1BFa2l1ZmZCTlVpRVhHTmQ5RThJckwvZnY3OHJhMEpIRExhZG0vOGNxODNJVTQzRmwwVGRwUE51bWlCOXUwVEtMejU2RmQvSGpjUzJLdGxaNUZQY2U0Ujk5UXYyVUsrcEg0S1N5SnRZK2tCRjZYbm1UR0Z6eGZ3ZFpadTk4b05ZdlVRcmNMbVN5eEgyVzlXUFk1M0tlbVFmYXlGV2VwTVl6Q2pTZGlZYjZxMmpsS3FhSEk3bjhheDkrNEFKUXc0ejlldy85VSt0SXZEeVpNVkt2ZVlJbVhqVDFpVm1hNkZacThyc1hrZXNLK3plTTZ4MDFMUmZBdXY5SlNzcDlpdlc3VU1zRVVoU0RvYTFDVC9MMHVJZnZ2VzVMcitxdndINURSUTM1SkhYUmRaVWh1UVN6UWI5U3pRd21SWWJSMUdjSzlYdXRYRk5PZDRJeVgrTWRhdHFaKzNMQWpWMjcrY3MzNFUyM1FETlRFWVRrVlRQYm9xdGhnRzFYRVJRVjU4YU9paHJ5bVdlWGJybFB1QS9mV3E4TXlTV1lyYUhxSDB3WUVPWnEydzhZOVB2MzdubklGc1ZROWdOSGZLemNQOHYzL0w0MUR4MTVWNVdRemFIM1NqZnZJbWgxMUlLaTJWWEpvL1NFQXNIVnlrUjFndHEyYVZrdnI5LzlsNzVzdTF6TW9PZDZNUHJKRnkrenUyLytSeDhkQllwSysxZjZHZUlPUEdhWXVqSUVCSllhR3FQVGlVRDFLNGxMUHZCT2tXN3VKcGNidkFnM0t0SzNxL1NQTm5QRy9MTHJ4VXEzeGZOT0pYK3BrV1dtbHdEUmNFWWljNjd0OEZta3p1MFhPU1B4eFdGTVVWNkhYVlFGT3hMbW1Tam1mZnFOb2p6dEoweXpRM3dCMHd3VktFeFpXOVNlYjdmb2Y0eHJxeUcvUm1yYjY0Z2FPelFseTNwRmovekxhcGdyWWpRWVBWY05sNXVZaWtZWXdUQnJjblVqSmpkUFhwZmFMckJ1UVEra09ER24xbnJrbjFGOWVDUm5CR2dmUXlqaFVOdCtSVzBMT3BzQnVLOEVZOFBEUmFuMlFPbFlzOFNYbFB2VXUzTml6SmlSMWtuNWpXVTRqMU9MYllTUDdUSDFJYlV0akdRZHNESG5IdGt3Q2pkdVZiNHZUTXI0OG91L2hYVmFweTBLdThlaVZFdG1SM0ZvdzJneXpFVGxzYmE1T01CSGRraTRPM3lSRVlGbEtiRDhhc0g1WjRtcVRKUERQdjdnRm1RbkxlL3c0R2o5S3c2amZaQ2hndFMyRVBjNURwdlJPYm1DNklWNEEraVZSY3dLZEZ3TVhLc3R6aGZqd0I0OFUzSnZnY2VOeWovU1BxaHlTZDFCMEc3ck1QamFCUUx1bkJNZTRHbXdMdGF2OXNkb3lxekNTeHB3eFZwUU9IVTRsL1VocG5saWRhd08ya2VFaVZFck52OTZUMVRiWjZYMUpNRDdreXFqdmhidkZtR015K01xaHliclRndEw1QXd5ZHQ0amM4NVRKLzZ1NzVxcGVKNG5RNEVXcmhtV0pEOS9GOVJOWmRRSnk1eXJ1ZGFmc0hRbnJzRnV0L3RkYUdoUDJoL25rZm5hdGVvMVIvbzc3SzRIZmVZVkorTXBlNUpvSC92UHVKV2xnME5PNjl6b0Y4c203eHZDbHY5VS9mWVNzdjluL1IyU3ljS0Z1eWhDdU1LZlh6NzhpZ3FNMGhOOWJjdTBQdVVOUmZuNGwyM0FkdGZEcjFFUjhvbEJmSWQ3RjcyN2VnR2lNUWhDYVBqUzI2UXBCUmZnRGtEakxwQVBjK0kyajFwTTJXZ2ZLT2UwZ3dkUmFrUkl4V2JkWHRudTMzM2JmYmRjMGlESC9OTGlPZWVNQjh5UWdrWStLcEgyMFluZmRaUGJ3VkMvakdWNDVERUtxU0RPNkpscUg5RFo0MWV1eS9JT3l0d3dKcFdRK28xb1ZOTmMrOEMyNk5YWVZ1U2tscnMra3JwV2JQVU5DYkIrakpjZ3lRc2JubUtTSE1pN2ZhMkw5Syt6VHd5a091T0owRDdPbVRiQlREQlhhdXhERDlqc2owMjVua1c2Sk5ySEM5VlJxcGlHNXM1ZjduL29oaGlpczUyY1FQc2djeEMzaDUzdEZxZFJleHpkTUxWOVROVUFHN2VIcFZIdzJlWmhybjF3MUdEUnlSd1F3Q0RmTlFLQ2JuNkhLeGtSanpzUmhpdGhzbzlwYVA2ekhEUzErUlpEUGZiSlp0cEg0VlUxZ2RwUUd3N2pCNktKOXZIZjMvcVN4QXlQVWR3K092blg4aU9jRG4xZWxIc0V0d0RjK0tBWTBoUndHeWRmeDlFckVkcEhRcmMxZW8wNCtScEIrMGpvOWs2K2txTlhZak1oYUpwRmN2U2FkQUkxb3NWU011Zlpmam1CK28xb0VldkpNQVAxeFJGdHlVbFd5Mzl3MmdoQ1l3dlRTYmJqaE11aW44eEk2SG9uWE1Xc3VBeUJESUVNZ1F5QkRJRU1nUXlCRElFTWdReUJESUVNZ1F5QkRJRU1nUXlCRElFTWdReUJESUVNZ1F5QkRJRU1nUXlCRElIVUVIakpnL1grTzhmN0FIaHFXRG1NY0drV2QzZG14MmNjVE9JOTRzUXpBZWU5THpFKzMyUlQ1R3gyejBQOHU5dGhya0thV096YS9UZFIyNzlsUTl5NkU0dEMwb1l2cWwvc3dPVmk3dmZMU2JsTUhIMkg5V1NiY2JaOGErS2FiOUxncVJ2ZmNndTVqN3JFQys3Sit2MnNrN3E0ZUh6eXd3M2ZHTGJQbkhPVWMrcGlNRStXekd1SjI0a0FHbk12TUxHY2F6WHBCczZkRENVTkFYd3kra2QvMnd0R3UvZXRXL09mQ1NabVlib3krR002RExnUXhmaTdjRDMzQk1SMDJOdERXb2x2ak5UOVZpR3BXZFN5TzJONndhRGYvZHJ5Um1SK0h3SnRlVitNTHhJQndKWjk3ZTBEeFh0Qi8wb1VPR1hnOW1aZnRna1ArQzdvbjQyNjJnTFhGakdXVGFHT3JQZ3Y2RzlIM2ZNc1BnVjhSOC9KTjltZXdBWDlkV2N0RUlRRkYrUEJYV3NGNHljejdMK2dmMm5BdlFzLzVyajF0eVlUcDBDci9SZjB6d3k2ZCtIL2F3UmN2eFRnTUpIQkpyOWhUVjNRdnpyd0Z3bHkvMEs0amZXVmJLWXk0TCtnZnpjR2sxY1FicHVtdk1lWExuQkJmenRPcFNYcnlOUGpDNGR4eXpBNWVpN29MMGRPcElwaEU3ajFWR0J5bnpaZ2NDL29KMUE4VHRuYmxyN2s3SXpTWitMbkpoY3UxWEx4MmZlZE1sajFZRWJlTG8rZnFudHU4UVJKUlZKUDhFTmVNbkNIZ0tEVDUzc0k2dC85SXJicU5YNGMrSDVZZEdLUkV5WndlVUYvNk5nMjcvNElFRkRDelNIYkV3dVdwK0hlQy9yYllUL0pXUGFwSExqQmVjdVRlNEs5N2dYOVJjOGdwZ0NCamxKUmZqeXhObDN6QkNmWjYxelFQK2RlZk8zZ2dTdGpONTJBNTNlQVBIR1Q1ZzFlMEw4YzBnSFJLNS8xNExLYVhVV21YZENmWXhjOUNBbnZqSDlkME03VU5naVNtQldkQy9xcitweEFocmFTQTJhK0hyTnNkU2pIMTZOZjBIK2dqL2ZZNi9Oc01Eem1teC9HRjVwQkxkTXY2RjhPdWNxZWxnNzNTallyOWJqRi9xRHl4aVF0NUlKK1cvOWxxaXVBalgxa2o5cjh0WHEvT3ladFAwSXpRaTdvdjhMK0pNZ3dieE51L1p0dmZMREdNcHM0b2FOZjBJOUx0czRGY1hNdnh6djhuV0RhUklaWDlBdjZIMlY5RFp1ZjFrbmVHTk4rTlhraVFVT2pReTdvTHpQMjFyVUFIaXZuYiszZjlydS9IWWpOZ2g0RUNrM0lsVEFnZmRRVG5YbGpFQ2p3RFNwZ3A4eVVNZlJac2tUZ0paZ3p5U21qK05HQStUWFBudkVzc1JWc0ZBQUFBQUJKUlU1RXJrSmdnZz09Igp9Cg=="/>
    </extobj>
    <extobj name="334E55B0-647D-440b-865C-3EC943EB4CBC-7">
      <extobjdata type="334E55B0-647D-440b-865C-3EC943EB4CBC" data="ewoJIkltZ1NldHRpbmdKc29uIiA6ICJ7XCJkcGlcIjpcIjYwMFwiLFwiZm9ybWF0XCI6XCJQTkdcIixcInRyYW5zcGFyZW50XCI6dHJ1ZSxcImF1dG9cIjp0cnVlfSIsCgkiTGF0ZXgiIDogIlhGc2dSMTk3WkdsMmZTQTlJREVnTFNCY2MzVnRYM3R6SUZ4cGJpQmNiV0YwYUdOaGJIdFRmWDBnY0Y5elhqSWdJRnhkIiwKCSJMYXRleEltZ0Jhc2U2NCIgOiAiaVZCT1J3MEtHZ29BQUFBTlNVaEVVZ0FBQW1zQUFBQzNCQU1BQUFDL0FRU3FBQUFBTUZCTVZFWC8vLzhBQUFBQUFBQUFBQUFBQUFBQUFBQUFBQUFBQUFBQUFBQUFBQUFBQUFBQUFBQUFBQUFBQUFBQUFBQUFBQUF2M2FCN0FBQUFEM1JTVGxNQU1sU0p1OTN2elhhclpwbEVFQ0pKUS9TUEFBQUFDWEJJV1hNQUFBN0VBQUFPeEFHVkt3NGJBQUFUa0VsRVFWUjRBZTFkZTR4clIzay8zdmZMM2dYS1E2S1NMUVNWRUtKN0F4Y0pGSXFOcWx5b1F1VkZrSVNnRXQ4cXlRMHRCVzhFM0RTOHpxSzJndis4VkZIelI2cmFyUkNpVktwWEtpMmlvYlVMQ0tpSXVsc3Bsd1Foc1c0RnREekVYa2pXbDV2WDhQdm1jVjV6anM4Yzc5bGRyMzFHMmozeitPYWJtZC81WnVhYmIrYU1MV3ZNWEtIT2tycTFNWU5nbU9hc0pBV05zZTFoeWhtelBGUEpZWHQyekNBWXBqbTU1TEQ5YXBoeXhpMVBXZUFXMWZQeTMvLzVWejkvNDAxZWNQdmpCc0V3N1prWGlEdzFPRy8rK2VmZHVhTTBtSFlpVXZNU2psNWNhL092cWttWjI0d2psZW5mdnN4dWU2TWg3WmtqV3hkZ2JNUlhQUDhYZ3ZRWDhhUkU4VGxPZmVlZUdmVlpvMW9XV0R4dFV1OFhjTkc4YmtKcS9aQzk2NzkrOWpyR1lycS9FYTlSSktvSjNFb21kVnZndUprSVVJNjluUmcyeGxiUE94Q3dQV2NDbXpWTnhPY01TSC8wSkFjWENvNlpjQnF3SEMyU0pRSGJOYk5hZlEvVUZ3MUk3VTFCdE10WXk0RDhESkkwQlc0bU1vVFdmWU94WDhZM2NvcHhZYk9zUmNiR2RGa3hLMkI3Smg0TW9zamJ6RUF3WjlRVVUyQnNUSmNWY29IVmwvSVJoeDdrWnkyT3h0cG5kMG9hbXgzR1VwOU5Ba3gzNUNxR3RTOGJHRUdLakcwSmRtV20rcXNoK3pORE5rT2dtWGVtUllQUkNqUEJwbWgvbTdIZW1VRWlVVVhWQWl1Kzd3bTIxU2RpMlI4NHdydk9XRGVXL0d3U1FEYkl2ZCt3OXJQeFJoQk1NeVhCRGRKbStqb01peDhaTXE3RW1pdW1oWGhWckZCOXQyeGRZMnc3cVdYWlhOcmkwWkJRbERmTTMzaVY2Ykw1L1BPM3NudmVLb1Z3ZXRPYzJZaFJIZ2pZekJaWWxqVm5hQVNoVmpLbVZEalY1cW0vRXFVZHRuaE1KOEU3VUN4RzVDbTNGRXcxckFYemRlWUNZNEdYOFZJQzdaNkhIcWl4ZmduTm4yWTdJd0xDRU5Yb0NBRXdiY0VqeGtYTXNRQXMzMFJKNzNzMTh1ZGZ6dVd3cmVZT1k1WnBFT1l1OWRKZ0l4ZFlCcXZOaEtXMUEwUGJid0MxdjVZOFhnaTlHWEsrbDVCbEd1Uzc2YndzTEIyNTY2VlJKdzhQOFAyQUoyaVJVZlJ2bklqbWRXdjNWTlplc09PVW5Gb2N4UVAxaXR6bVVYaUU1TVVPejVvbmVxWE8yTDF1ZUpsOVVwOHgzT1JqOHoyT2FwUlM0WTRGT3JsNC9UOVphUjNtTTZ5VUEwczR1MjlraGtwV1poeDE0YlBVMGxJY21WRzZXbUIxamFoTmlSWlkzeXRzanpGMjZBMWJwUGljckRsdTZ1R2JDTFMwWUxPS25KbnhBc3NNdURaN2o0ZVF6dWw4M0JPMitGQzM0WXM1N2dBTnJ2MDMyYW5CQmdXTDNKTnAxbnZKeis1RkdudWFpWGJTTERHVzEvTGR0LzNyR3EyS1NyR2taZ1JnUlc3TGpOcUlxdTNicmFIVFRaVkFQanU5K2djNER3eW1XT3gzMENxNEJPdW1nVFZENHBKL1BpZ3kzWnplT0IyMXpVN3ZiY21qYnFZTHJEak1rTjQrN0htb2FHVFRURlBGVTFIYjB1eWtWZ2V5QnJmdGFlcVJ2QXZzOTNuK2YranhCMGx6bC9zOC8xYTFoYjRuOGZpOGRuclNacGtkUGpKdlMwTXUrR3M5bmdkVjFiWENPWlBkUS9NaVRTblRoQzNsQmRhQ21nOFlid3laUW5WZFkvYUUxVGFKYTVxd1dXMjBERTV2bk9sTDlORTFuaExCbk5oVzNRWG5OUjhCQldiU0trM2pQRERDVHJHVDBnNDZ1YUJaY1dBRkloTVgxRUEyTGZvcUpnVFphYjFaWms1WWJaTmwyMm5DWnRVSXRaUTROcVRsSTcvTGQrVkpPMy9PQzVqd3o2U21kdXE4QjhUWUtUVlNGRkZFMitBME5XRkFCYUtTc0JxOVJBN3MrR0wrQUo0ZG5YaitWS3h0cVNvZ2xpVVhXQVpuUEhRQUFqRmx3Q1FkRjdJcUFuc0JHZ1JuVTFRVGRlNlJNWGFxMG1aUjQrRE9SWllYbXBDN2NQZ1puckIwb2YvQkh2ZkpMVVRPN1NwaTZKeEp5TkJtemVrNkNjOS96UC9zZEdHVEN5eWZqU3krQmVWK25XdTJqOWY3TlhhZHkxU1JBeWIrYllERERMeGh5N1pjS1o3OU1WRFk2Y0ltRjFpbWg0OUVneGI2M1NsMnVHZmw2ay8wck44UzZLeDdZTnNHR1ExdEJOK0l1SlJoczhxaXVaVWt6U3RpOEtwaVRkWjRHb0lHblhrdEpEUHhiWVhFbjFLVW5hNjBxUVZXb3BOODFTMExjRDgzTFhTSmN1aEVYQWRzQUhWVVhOcXdxUVZXbU1SRXRMbEFpNmMyZTZJc3hxNzlzS0dmT244YTgzTm9GZksvK1VpVTY0Vm00SWMzU2hGSncwWExRV25EUFBjeXJTb2F3RVZBamNHL3AyV21pZlhZNWt3NWo2RUl6VVgxR2p2bFRzcXQreWc5VEZuUXdCQVJxeVJsWmFuVjh1MkJIWTJTZHEvREpsS05jSmlJWFRDUGNGRW1manR0Mk5RQ3EyWGNnTjJMSUcwNnloNVVab3J3dTMwMDY2by9LaUtVKy93YjNuS0xrTnNJQ2kxNmtRYk9jUGNIR3JHSXNGT0g3VUJVZ0t2MkVZWDZvenNrWEhYbnpBSStjOUR6a2tCcytMTkZoSGp4eVdDTDREUW9PbjNZNU5jZDVvdWVXZ25IWU54dFkrVFhUNUkwQU52Mm9IWTRhWS9lQ2xJVmVySDRsRVlGMDN1bUR4djFOM0lrUXlZdVQ0b0ZEc0FvRWNQb3J3L0VIVERjTXVFR21uMW5seERUdWhuV2hweGRNanYxVG1vbFhHQk4wYkFMczlCRldTa1k3ZlE1c3dyWXVwSWc3ckh2d0E2dWxUanE0ZEtQQVRaYWRjT1pMckJ5YjBQTk1WTXF1WUFDb3RzNWJUQ0VVRHB1NmJXdi8vUVgvdTVsTC92Q3AvL3NCaWRTZXRhZGJVS3dhZ1ZUMHdtalBxVlFUajhMMXdEL3cxdjUwSXhDQjBNek55T1N3NkwzM1FZQ1FWM2FhbmdOM254RjhKZE8weEhLenB5N0V2SUN2RnlHOTlzUnNKR2lGT29NakJ0a3JZQXpvSFRxdmU3cXVQdGhYOTdXY0diR0lZYm5SVlNBY0hMSHdVMjEzUmYydnowM09sV2ZIUUhicXFwVjhLa1AxMXA5NU9FamZUN1VLSjJJaml0TXUyR0FZMndMckszeS8vUDNWTFViZE9sM05FQ0hlL29lT3dLMjZScFZTbmY5VHhqVUFTMkgyemFnVkNRd3N5bHZPV3c5ME5RT3pZQWNaZWlqb0lYbGExZnhPcmFuSFFIYmtRcWtGV1JRT2dZeWhOcm05RFVJMWxXTnVCTUNHekl4cGJWNE1xQndUK2lZdlBaeHdHYUJxKzlnV2x6bG9iWTVLMDVrcldqMGpjRFlSZ1JrRmJtb1VjSjBGZWpPT3NuUlk5REEwdEc1QkRrY1lPTHJCU01IaEQxcUc2a3ZMWTBVM2Q0M2t4SUJ5ZlNPUm1tdGhrekVPdFVSWTQ0SE5zeWxTZVpSVXRzcXNpRUVSazlyMUNwaWc1RjA1S1FVakxSd2REeFIwY1JnQk94dHZCM2xNSW5SVytqRTdMdExKeURvVXpVRURlazBQWWRjZUFoS2ZSNkZDZXJaQUdGY2NCVHNiVlJIREZXNnhqcW84dXZLUmtrcnlwQ1ZQTitBYlFVNEZJTUFGODdYYnU5aVhOMFFoRisvOUtjcXg5U0ZlN2E0ZjZFdW5pcUJQekVDUkRsTmw1WVo3VkJCOTNGTkhpZ20wejRzT2htblNtbUVXb2pJMWw1UkpQSUpTcC8ra2F1eSsrM3JVRXZFZ1Bjb3U0L2RJVWp6MVd1Mk9HSFlDT3ZCSTJGdncrWlRQZWxrVm5PTUZsWXR2SDgzZGJXa0dwRExNdnQzcTFCOW01U0RmRzNic3VXY2V1VTZSczlOZ3JEdUZpVEJIKzVoSDRPMFhVbDZDc1JqYmNORUdqSzA4WDFTUjdNVExTVzF6VHVLUGNZNzkveWhIUEJtTUV4MDVKUlJQWWZEVUh6UjRscERoNE5MNVRvTzJNQ3pwL2diUFQxcUcxUVJSNFB6NWtWOFFBT2hLVmVPWWtTWXIvSEZBWHF6Z0wyTnRLbzRWYkVFb1pzUm95MDZ0cGZyMFA1amdBMEdzNFFxQUhKY2xTMDRpRmhSMGpyM25LK1ZOUC90dURHemNoWnF5Z0d2MXFNdXlRbG1ueVBMRkI4SHA0UGd1d3dTK1k0Qk5yelJWcUk2V0hQdUtzbU9HaGFMd1pkUkJXd2x0NXltRkwyMjZJMUxtQU1oZWJ3aTdRcDFjdEhIN2RBaHdHVmo2QU5zbkxVaHVRRlpZdTNETzNBaHMrODdTTGM4MnFKWWM0UGlhcTQ5SndMSklyVWhCcnhaREdYb3hqMGlxSFg1cmo5NXJmVW9sWUtuR3YrcnVZcW1jWjdCaEVWZFZSaWNnYmJrbFl4OUozcFIxbUhzRHoyTU9rKzJ2WlBIdnVJZ3BXNy9JcjdJRjlObW5nYkZtalRDclNaVEtEMEYrcng0aDd6Lyt5S1BFa2l1ZmZCTlVpRVhHTmQ5RThJckwvZnY3OHJhMEpIRExhZG0vOGNxODNJVTQzRmwwVGRwUE51bWlCOXUwVEtMejU2RmQvSGpjUzJLdGxaNUZQY2U0Ujk5UXYyVUsrcEg0S1N5SnRZK2tCRjZYbm1UR0Z6eGZ3ZFpadTk4b05ZdlVRcmNMbVN5eEgyVzlXUFk1M0tlbVFmYXlGV2VwTVl6Q2pTZGlZYjZxMmpsS3FhSEk3bjhheDkrNEFKUXc0ejlldy85VSt0SXZEeVpNVkt2ZVlJbVhqVDFpVm1hNkZacThyc1hrZXNLK3plTTZ4MDFMUmZBdXY5SlNzcDlpdlc3VU1zRVVoU0RvYTFDVC9MMHVJZnZ2VzVMcitxdndINURSUTM1SkhYUmRaVWh1UVN6UWI5U3pRd21SWWJSMUdjSzlYdXRYRk5PZDRJeVgrTWRhdHFaKzNMQWpWMjcrY3MzNFUyM1FETlRFWVRrVlRQYm9xdGhnRzFYRVJRVjU4YU9paHJ5bVdlWGJybFB1QS9mV3E4TXlTV1lyYUhxSDB3WUVPWnEydzhZOVB2MzdubklGc1ZROWdOSGZLemNQOHYzL0w0MUR4MTVWNVdRemFIM1NqZnZJbWgxMUlLaTJWWEpvL1NFQXNIVnlrUjFndHEyYVZrdnI5LzlsNzVzdTF6TW9PZDZNUHJKRnkrenUyLytSeDhkQllwSysxZjZHZUlPUEdhWXVqSUVCSllhR3FQVGlVRDFLNGxMUHZCT2tXN3VKcGNidkFnM0t0SzNxL1NQTm5QRy9MTHJ4VXEzeGZOT0pYK3BrV1dtbHdEUmNFWWljNjd0OEZta3p1MFhPU1B4eFdGTVVWNkhYVlFGT3hMbW1Tam1mZnFOb2p6dEoweXpRM3dCMHd3VktFeFpXOVNlYjdmb2Y0eHJxeUcvUm1yYjY0Z2FPelFseTNwRmovekxhcGdyWWpRWVBWY05sNXVZaWtZWXdUQnJjblVqSmpkUFhwZmFMckJ1UVEra09ER24xbnJrbjFGOWVDUm5CR2dmUXlqaFVOdCtSVzBMT3BzQnVLOEVZOFBEUmFuMlFPbFlzOFNYbFB2VXUzTml6SmlSMWtuNWpXVTRqMU9MYllTUDdUSDFJYlV0akdRZHNESG5IdGt3Q2pkdVZiNHZUTXI0OG91L2hYVmFweTBLdThlaVZFdG1SM0ZvdzJneXpFVGxzYmE1T01CSGRraTRPM3lSRVlGbEtiRDhhc0g1WjRtcVRKUERQdjdnRm1RbkxlL3c0R2o5S3c2amZaQ2hndFMyRVBjNURwdlJPYm1DNklWNEEraVZSY3dLZEZ3TVhLc3R6aGZqd0I0OFUzSnZnY2VOeWovU1BxaHlTZDFCMEc3ck1QamFCUUx1bkJNZTRHbXdMdGF2OXNkb3lxekNTeHB3eFZwUU9IVTRsL1VocG5saWRhd08ya2VFaVZFck52OTZUMVRiWjZYMUpNRDdreXFqdmhidkZtR015K01xaHliclRndEw1QXd5ZHQ0amM4NVRKLzZ1NzVxcGVKNG5RNEVXcmhtV0pEOS9GOVJOWmRRSnk1eXJ1ZGFmc0hRbnJzRnV0L3RkYUdoUDJoL25rZm5hdGVvMVIvbzc3SzRIZmVZVkorTXBlNUpvSC92UHVKV2xnME5PNjl6b0Y4c203eHZDbHY5VS9mWVNzdjluL1IyU3ljS0Z1eWhDdU1LZlh6NzhpZ3FNMGhOOWJjdTBQdVVOUmZuNGwyM0FkdGZEcjFFUjhvbEJmSWQ3RjcyN2VnR2lNUWhDYVBqUzI2UXBCUmZnRGtEakxwQVBjK0kyajFwTTJXZ2ZLT2UwZ3dkUmFrUkl4V2JkWHRudTMzM2JmYmRjMGlESC9OTGlPZWVNQjh5UWdrWStLcEgyMFluZmRaUGJ3VkMvakdWNDVERUtxU0RPNkpscUg5RFo0MWV1eS9JT3l0d3dKcFdRK28xb1ZOTmMrOEMyNk5YWVZ1U2tscnMra3JwV2JQVU5DYkIrakpjZ3lRc2JubUtTSE1pN2ZhMkw5Syt6VHd5a091T0owRDdPbVRiQlREQlhhdXhERDlqc2owMjVua1c2Sk5ySEM5VlJxcGlHNXM1ZjduL29oaGlpczUyY1FQc2djeEMzaDUzdEZxZFJleHpkTUxWOVROVUFHN2VIcFZIdzJlWmhybjF3MUdEUnlSd1F3Q0RmTlFLQ2JuNkhLeGtSanpzUmhpdGhzbzlwYVA2ekhEUzErUlpEUGZiSlp0cEg0VlUxZ2RwUUd3N2pCNktKOXZIZjMvcVN4QXlQVWR3K092blg4aU9jRG4xZWxIc0V0d0RjK0tBWTBoUndHeWRmeDlFckVkcEhRcmMxZW8wNCtScEIrMGpvOWs2K2txTlhZak1oYUpwRmN2U2FkQUkxb3NWU011Zlpmam1CK28xb0VldkpNQVAxeFJGdHlVbFd5Mzl3MmdoQ1l3dlRTYmJqaE11aW44eEk2SG9uWE1Xc3VBeUJESUVNZ1F5QkRJRU1nUXlCRElFTWdReUJESUVNZ1F5QkRJRU1nUXlCRElFTWdReUJESUVNZ1F5QkRJRU1nUXlCRElIVUVIakpnL1grTzhmN0FIaHFXRG1NY0drV2QzZG14MmNjVE9JOTRzUXpBZWU5THpFKzMyUlQ1R3gyejBQOHU5dGhya0thV096YS9UZFIyNzlsUTl5NkU0dEMwb1l2cWwvc3dPVmk3dmZMU2JsTUhIMkg5V1NiY2JaOGErS2FiOUxncVJ2ZmNndTVqN3JFQys3Sit2MnNrN3E0ZUh6eXd3M2ZHTGJQbkhPVWMrcGlNRStXekd1SjI0a0FHbk12TUxHY2F6WHBCczZkRENVTkFYd3kra2QvMnd0R3UvZXRXL09mQ1NabVlib3krR002RExnUXhmaTdjRDMzQk1SMDJOdERXb2x2ak5UOVZpR3BXZFN5TzJONndhRGYvZHJ5Um1SK0h3SnRlVitNTHhJQndKWjk3ZTBEeFh0Qi8wb1VPR1hnOW1aZnRna1ArQzdvbjQyNjJnTFhGakdXVGFHT3JQZ3Y2RzlIM2ZNc1BnVjhSOC9KTjltZXdBWDlkV2N0RUlRRkYrUEJYV3NGNHljejdMK2dmMm5BdlFzLzVyajF0eVlUcDBDci9SZjB6d3k2ZCtIL2F3UmN2eFRnTUpIQkpyOWhUVjNRdnpyd0Z3bHkvMEs0amZXVmJLWXk0TCtnZnpjR2sxY1FicHVtdk1lWExuQkJmenRPcFNYcnlOUGpDNGR4eXpBNWVpN29MMGRPcElwaEU3ajFWR0J5bnpaZ2NDL29KMUE4VHRuYmxyN2s3SXpTWitMbkpoY3UxWEx4MmZlZE1sajFZRWJlTG8rZnFudHU4UVJKUlZKUDhFTmVNbkNIZ0tEVDUzc0k2dC85SXJicU5YNGMrSDVZZEdLUkV5WndlVUYvNk5nMjcvNElFRkRDelNIYkV3dVdwK0hlQy9yYllUL0pXUGFwSExqQmVjdVRlNEs5N2dYOVJjOGdwZ0NCamxKUmZqeXhObDN6QkNmWjYxelFQK2RlZk8zZ2dTdGpONTJBNTNlQVBIR1Q1ZzFlMEw4YzBnSFJLNS8xNExLYVhVV21YZENmWXhjOUNBbnZqSDlkME03VU5naVNtQldkQy9xcitweEFocmFTQTJhK0hyTnNkU2pIMTZOZjBIK2dqL2ZZNi9Oc01Eem1teC9HRjVwQkxkTXY2RjhPdWNxZWxnNzNTallyOWJqRi9xRHl4aVF0NUlKK1cvOWxxaXVBalgxa2o5cjh0WHEvT3ladFAwSXpRaTdvdjhMK0pNZ3dieE51L1p0dmZMREdNcHM0b2FOZjBJOUx0czRGY1hNdnh6djhuV0RhUklaWDlBdjZIMlY5RFp1ZjFrbmVHTk4rTlhraVFVT2pReTdvTHpQMjFyVUFIaXZuYiszZjlydS9IWWpOZ2g0RUNrM0lsVEFnZmRRVG5YbGpFQ2p3RFNwZ3A4eVVNZlJac2tUZ0paZ3p5U21qK05HQStUWFBudkVzc1JWc0ZBQUFBQUJKUlU1RXJrSmdnZz09Igp9Cg=="/>
    </extobj>
    <extobj name="334E55B0-647D-440b-865C-3EC943EB4CBC-8">
      <extobjdata type="334E55B0-647D-440b-865C-3EC943EB4CBC" data="ewoJIkltZ1NldHRpbmdKc29uIiA6ICJ7XCJkcGlcIjpcIjYwMFwiLFwiZm9ybWF0XCI6XCJQTkdcIixcInRyYW5zcGFyZW50XCI6dHJ1ZSxcImF1dG9cIjp0cnVlfSIsCgkiTGF0ZXgiIDogIlhGc2dSMTk3WkdsMmZTQTlJREVnTFNCY2MzVnRYM3R6SUZ4cGJpQmNiV0YwYUdOaGJIdFRmWDBnY0Y5elhqSWdJRnhkIiwKCSJMYXRleEltZ0Jhc2U2NCIgOiAiaVZCT1J3MEtHZ29BQUFBTlNVaEVVZ0FBQW1zQUFBQzNCQU1BQUFDL0FRU3FBQUFBTUZCTVZFWC8vLzhBQUFBQUFBQUFBQUFBQUFBQUFBQUFBQUFBQUFBQUFBQUFBQUFBQUFBQUFBQUFBQUFBQUFBQUFBQUFBQUF2M2FCN0FBQUFEM1JTVGxNQU1sU0p1OTN2elhhclpwbEVFQ0pKUS9TUEFBQUFDWEJJV1hNQUFBN0VBQUFPeEFHVkt3NGJBQUFUa0VsRVFWUjRBZTFkZTR4clIzay8zdmZMM2dYS1E2S1NMUVNWRUtKN0F4Y0pGSXFOcWx5b1F1VkZrSVNnRXQ4cXlRMHRCVzhFM0RTOHpxSzJndis4VkZIelI2cmFyUkNpVktwWEtpMmlvYlVMQ0tpSXVsc3Bsd1Foc1c0RnREekVYa2pXbDV2WDhQdm1jVjV6anM4Yzc5bGRyMzFHMmozeitPYWJtZC81WnVhYmIrYU1MV3ZNWEtIT2tycTFNWU5nbU9hc0pBV05zZTFoeWhtelBGUEpZWHQyekNBWXBqbTU1TEQ5YXBoeXhpMVBXZUFXMWZQeTMvLzVWejkvNDAxZWNQdmpCc0V3N1prWGlEdzFPRy8rK2VmZHVhTTBtSFlpVXZNU2psNWNhL092cWttWjI0d2psZW5mdnN4dWU2TWg3WmtqV3hkZ2JNUlhQUDhYZ3ZRWDhhUkU4VGxPZmVlZUdmVlpvMW9XV0R4dFV1OFhjTkc4YmtKcS9aQzk2NzkrOWpyR1lycS9FYTlSSktvSjNFb21kVnZndUprSVVJNjluUmcyeGxiUE94Q3dQV2NDbXpWTnhPY01TSC8wSkFjWENvNlpjQnF3SEMyU0pRSGJOYk5hZlEvVUZ3MUk3VTFCdE10WXk0RDhESkkwQlc0bU1vVFdmWU94WDhZM2NvcHhZYk9zUmNiR2RGa3hLMkI3Smg0TW9zamJ6RUF3WjlRVVUyQnNUSmNWY29IVmwvSVJoeDdrWnkyT3h0cG5kMG9hbXgzR1VwOU5Ba3gzNUNxR3RTOGJHRUdLakcwSmRtV20rcXNoK3pORE5rT2dtWGVtUllQUkNqUEJwbWgvbTdIZW1VRWlVVVhWQWl1Kzd3bTIxU2RpMlI4NHdydk9XRGVXL0d3U1FEYkl2ZCt3OXJQeFJoQk1NeVhCRGRKbStqb01peDhaTXE3RW1pdW1oWGhWckZCOXQyeGRZMnc3cVdYWlhOcmkwWkJRbERmTTMzaVY2Ykw1L1BPM3NudmVLb1Z3ZXRPYzJZaFJIZ2pZekJaWWxqVm5hQVNoVmpLbVZEalY1cW0vRXFVZHRuaE1KOEU3VUN4RzVDbTNGRXcxckFYemRlWUNZNEdYOFZJQzdaNkhIcWl4ZmduTm4yWTdJd0xDRU5Yb0NBRXdiY0VqeGtYTXNRQXMzMFJKNzNzMTh1ZGZ6dVd3cmVZT1k1WnBFT1l1OWRKZ0l4ZFlCcXZOaEtXMUEwUGJid0MxdjVZOFhnaTlHWEsrbDVCbEd1Uzc2YndzTEIyNTY2VlJKdzhQOFAyQUoyaVJVZlJ2bklqbWRXdjNWTlplc09PVW5Gb2N4UVAxaXR6bVVYaUU1TVVPejVvbmVxWE8yTDF1ZUpsOVVwOHgzT1JqOHoyT2FwUlM0WTRGT3JsNC9UOVphUjNtTTZ5VUEwczR1MjlraGtwV1poeDE0YlBVMGxJY21WRzZXbUIxamFoTmlSWlkzeXRzanpGMjZBMWJwUGljckRsdTZ1R2JDTFMwWUxPS25KbnhBc3NNdURaN2o0ZVF6dWw4M0JPMitGQzM0WXM1N2dBTnJ2MDMyYW5CQmdXTDNKTnAxbnZKeis1RkdudWFpWGJTTERHVzEvTGR0LzNyR3EyS1NyR2taZ1JnUlc3TGpOcUlxdTNicmFIVFRaVkFQanU5K2djNER3eW1XT3gzMENxNEJPdW1nVFZENHBKL1BpZ3kzWnplT0IyMXpVN3ZiY21qYnFZTHJEak1rTjQrN0htb2FHVFRURlBGVTFIYjB1eWtWZ2V5QnJmdGFlcVJ2QXZzOTNuK2YranhCMGx6bC9zOC8xYTFoYjRuOGZpOGRuclNacGtkUGpKdlMwTXUrR3M5bmdkVjFiWENPWlBkUS9NaVRTblRoQzNsQmRhQ21nOFlid3laUW5WZFkvYUUxVGFKYTVxd1dXMjBERTV2bk9sTDlORTFuaExCbk5oVzNRWG5OUjhCQldiU0trM2pQRERDVHJHVDBnNDZ1YUJaY1dBRkloTVgxRUEyTGZvcUpnVFphYjFaWms1WWJaTmwyMm5DWnRVSXRaUTROcVRsSTcvTGQrVkpPMy9PQzVqd3o2U21kdXE4QjhUWUtUVlNGRkZFMitBME5XRkFCYUtTc0JxOVJBN3MrR0wrQUo0ZG5YaitWS3h0cVNvZ2xpVVhXQVpuUEhRQUFqRmx3Q1FkRjdJcUFuc0JHZ1JuVTFRVGRlNlJNWGFxMG1aUjQrRE9SWllYbXBDN2NQZ1puckIwb2YvQkh2ZkpMVVRPN1NwaTZKeEp5TkJtemVrNkNjOS96UC9zZEdHVEN5eWZqU3krQmVWK25XdTJqOWY3TlhhZHkxU1JBeWIrYllERERMeGh5N1pjS1o3OU1WRFk2Y0ltRjFpbWg0OUVneGI2M1NsMnVHZmw2ay8wck44UzZLeDdZTnNHR1ExdEJOK0l1SlJoczhxaXVaVWt6U3RpOEtwaVRkWjRHb0lHblhrdEpEUHhiWVhFbjFLVW5hNjBxUVZXb3BOODFTMExjRDgzTFhTSmN1aEVYQWRzQUhWVVhOcXdxUVZXbU1SRXRMbEFpNmMyZTZJc3hxNzlzS0dmT244YTgzTm9GZksvK1VpVTY0Vm00SWMzU2hGSncwWExRV25EUFBjeXJTb2F3RVZBamNHL3AyV21pZlhZNWt3NWo2RUl6VVgxR2p2bFRzcXQreWc5VEZuUXdCQVJxeVJsWmFuVjh1MkJIWTJTZHEvREpsS05jSmlJWFRDUGNGRW1manR0Mk5RQ3EyWGNnTjJMSUcwNnloNVVab3J3dTMwMDY2by9LaUtVKy93YjNuS0xrTnNJQ2kxNmtRYk9jUGNIR3JHSXNGT0g3VUJVZ0t2MkVZWDZvenNrWEhYbnpBSStjOUR6a2tCcytMTkZoSGp4eVdDTDREUW9PbjNZNU5jZDVvdWVXZ25IWU54dFkrVFhUNUkwQU52Mm9IWTRhWS9lQ2xJVmVySDRsRVlGMDN1bUR4djFOM0lrUXlZdVQ0b0ZEc0FvRWNQb3J3L0VIVERjTXVFR21uMW5seERUdWhuV2hweGRNanYxVG1vbFhHQk4wYkFMczlCRldTa1k3ZlE1c3dyWXVwSWc3ckh2d0E2dWxUanE0ZEtQQVRaYWRjT1pMckJ5YjBQTk1WTXF1WUFDb3RzNWJUQ0VVRHB1NmJXdi8vUVgvdTVsTC92Q3AvL3NCaWRTZXRhZGJVS3dhZ1ZUMHdtalBxVlFUajhMMXdEL3cxdjUwSXhDQjBNek55T1N3NkwzM1FZQ1FWM2FhbmdOM254RjhKZE8weEhLenB5N0V2SUN2RnlHOTlzUnNKR2lGT29NakJ0a3JZQXpvSFRxdmU3cXVQdGhYOTdXY0diR0lZYm5SVlNBY0hMSHdVMjEzUmYydnowM09sV2ZIUUhicXFwVjhLa1AxMXA5NU9FamZUN1VLSjJJaml0TXUyR0FZMndMckszeS8vUDNWTFViZE9sM05FQ0hlL29lT3dLMjZScFZTbmY5VHhqVUFTMkgyemFnVkNRd3N5bHZPV3c5ME5RT3pZQWNaZWlqb0lYbGExZnhPcmFuSFFIYmtRcWtGV1JRT2dZeWhOcm05RFVJMWxXTnVCTUNHekl4cGJWNE1xQndUK2lZdlBaeHdHYUJxKzlnV2x6bG9iWTVLMDVrcldqMGpjRFlSZ1JrRmJtb1VjSjBGZWpPT3NuUlk5REEwdEc1QkRrY1lPTHJCU01IaEQxcUc2a3ZMWTBVM2Q0M2t4SUJ5ZlNPUm1tdGhrekVPdFVSWTQ0SE5zeWxTZVpSVXRzcXNpRUVSazlyMUNwaWc1RjA1S1FVakxSd2REeFIwY1JnQk94dHZCM2xNSW5SVytqRTdMdExKeURvVXpVRURlazBQWWRjZUFoS2ZSNkZDZXJaQUdGY2NCVHNiVlJIREZXNnhqcW84dXZLUmtrcnlwQ1ZQTitBYlFVNEZJTUFGODdYYnU5aVhOMFFoRisvOUtjcXg5U0ZlN2E0ZjZFdW5pcUJQekVDUkRsTmw1WVo3VkJCOTNGTkhpZ20wejRzT2htblNtbUVXb2pJMWw1UkpQSUpTcC8ra2F1eSsrM3JVRXZFZ1Bjb3U0L2RJVWp6MVd1Mk9HSFlDT3ZCSTJGdncrWlRQZWxrVm5PTUZsWXR2SDgzZGJXa0dwRExNdnQzcTFCOW01U0RmRzNic3VXY2V1VTZSczlOZ3JEdUZpVEJIKzVoSDRPMFhVbDZDc1JqYmNORUdqSzA4WDFTUjdNVExTVzF6VHVLUGNZNzkveWhIUEJtTUV4MDVKUlJQWWZEVUh6UjRscERoNE5MNVRvTzJNQ3pwL2diUFQxcUcxUVJSNFB6NWtWOFFBT2hLVmVPWWtTWXIvSEZBWHF6Z0wyTnRLbzRWYkVFb1pzUm95MDZ0cGZyMFA1amdBMEdzNFFxQUhKY2xTMDRpRmhSMGpyM25LK1ZOUC90dURHemNoWnF5Z0d2MXFNdXlRbG1ueVBMRkI4SHA0UGd1d3dTK1k0Qk5yelJWcUk2V0hQdUtzbU9HaGFMd1pkUkJXd2x0NXltRkwyMjZJMUxtQU1oZWJ3aTdRcDFjdEhIN2RBaHdHVmo2QU5zbkxVaHVRRlpZdTNETzNBaHMrODdTTGM4MnFKWWM0UGlhcTQ5SndMSklyVWhCcnhaREdYb3hqMGlxSFg1cmo5NXJmVW9sWUtuR3YrcnVZcW1jWjdCaEVWZFZSaWNnYmJrbFl4OUozcFIxbUhzRHoyTU9rKzJ2WlBIdnVJZ3BXNy9JcjdJRjlObW5nYkZtalRDclNaVEtEMEYrcng0aDd6Lyt5S1BFa2l1ZmZCTlVpRVhHTmQ5RThJckwvZnY3OHJhMEpIRExhZG0vOGNxODNJVTQzRmwwVGRwUE51bWlCOXUwVEtMejU2RmQvSGpjUzJLdGxaNUZQY2U0Ujk5UXYyVUsrcEg0S1N5SnRZK2tCRjZYbm1UR0Z6eGZ3ZFpadTk4b05ZdlVRcmNMbVN5eEgyVzlXUFk1M0tlbVFmYXlGV2VwTVl6Q2pTZGlZYjZxMmpsS3FhSEk3bjhheDkrNEFKUXc0ejlldy85VSt0SXZEeVpNVkt2ZVlJbVhqVDFpVm1hNkZacThyc1hrZXNLK3plTTZ4MDFMUmZBdXY5SlNzcDlpdlc3VU1zRVVoU0RvYTFDVC9MMHVJZnZ2VzVMcitxdndINURSUTM1SkhYUmRaVWh1UVN6UWI5U3pRd21SWWJSMUdjSzlYdXRYRk5PZDRJeVgrTWRhdHFaKzNMQWpWMjcrY3MzNFUyM1FETlRFWVRrVlRQYm9xdGhnRzFYRVJRVjU4YU9paHJ5bVdlWGJybFB1QS9mV3E4TXlTV1lyYUhxSDB3WUVPWnEydzhZOVB2MzdubklGc1ZROWdOSGZLemNQOHYzL0w0MUR4MTVWNVdRemFIM1NqZnZJbWgxMUlLaTJWWEpvL1NFQXNIVnlrUjFndHEyYVZrdnI5LzlsNzVzdTF6TW9PZDZNUHJKRnkrenUyLytSeDhkQllwSysxZjZHZUlPUEdhWXVqSUVCSllhR3FQVGlVRDFLNGxMUHZCT2tXN3VKcGNidkFnM0t0SzNxL1NQTm5QRy9MTHJ4VXEzeGZOT0pYK3BrV1dtbHdEUmNFWWljNjd0OEZta3p1MFhPU1B4eFdGTVVWNkhYVlFGT3hMbW1Tam1mZnFOb2p6dEoweXpRM3dCMHd3VktFeFpXOVNlYjdmb2Y0eHJxeUcvUm1yYjY0Z2FPelFseTNwRmovekxhcGdyWWpRWVBWY05sNXVZaWtZWXdUQnJjblVqSmpkUFhwZmFMckJ1UVEra09ER24xbnJrbjFGOWVDUm5CR2dmUXlqaFVOdCtSVzBMT3BzQnVLOEVZOFBEUmFuMlFPbFlzOFNYbFB2VXUzTml6SmlSMWtuNWpXVTRqMU9MYllTUDdUSDFJYlV0akdRZHNESG5IdGt3Q2pkdVZiNHZUTXI0OG91L2hYVmFweTBLdThlaVZFdG1SM0ZvdzJneXpFVGxzYmE1T01CSGRraTRPM3lSRVlGbEtiRDhhc0g1WjRtcVRKUERQdjdnRm1RbkxlL3c0R2o5S3c2amZaQ2hndFMyRVBjNURwdlJPYm1DNklWNEEraVZSY3dLZEZ3TVhLc3R6aGZqd0I0OFUzSnZnY2VOeWovU1BxaHlTZDFCMEc3ck1QamFCUUx1bkJNZTRHbXdMdGF2OXNkb3lxekNTeHB3eFZwUU9IVTRsL1VocG5saWRhd08ya2VFaVZFck52OTZUMVRiWjZYMUpNRDdreXFqdmhidkZtR015K01xaHliclRndEw1QXd5ZHQ0amM4NVRKLzZ1NzVxcGVKNG5RNEVXcmhtV0pEOS9GOVJOWmRRSnk1eXJ1ZGFmc0hRbnJzRnV0L3RkYUdoUDJoL25rZm5hdGVvMVIvbzc3SzRIZmVZVkorTXBlNUpvSC92UHVKV2xnME5PNjl6b0Y4c203eHZDbHY5VS9mWVNzdjluL1IyU3ljS0Z1eWhDdU1LZlh6NzhpZ3FNMGhOOWJjdTBQdVVOUmZuNGwyM0FkdGZEcjFFUjhvbEJmSWQ3RjcyN2VnR2lNUWhDYVBqUzI2UXBCUmZnRGtEakxwQVBjK0kyajFwTTJXZ2ZLT2UwZ3dkUmFrUkl4V2JkWHRudTMzM2JmYmRjMGlESC9OTGlPZWVNQjh5UWdrWStLcEgyMFluZmRaUGJ3VkMvakdWNDVERUtxU0RPNkpscUg5RFo0MWV1eS9JT3l0d3dKcFdRK28xb1ZOTmMrOEMyNk5YWVZ1U2tscnMra3JwV2JQVU5DYkIrakpjZ3lRc2JubUtTSE1pN2ZhMkw5Syt6VHd5a091T0owRDdPbVRiQlREQlhhdXhERDlqc2owMjVua1c2Sk5ySEM5VlJxcGlHNXM1ZjduL29oaGlpczUyY1FQc2djeEMzaDUzdEZxZFJleHpkTUxWOVROVUFHN2VIcFZIdzJlWmhybjF3MUdEUnlSd1F3Q0RmTlFLQ2JuNkhLeGtSanpzUmhpdGhzbzlwYVA2ekhEUzErUlpEUGZiSlp0cEg0VlUxZ2RwUUd3N2pCNktKOXZIZjMvcVN4QXlQVWR3K092blg4aU9jRG4xZWxIc0V0d0RjK0tBWTBoUndHeWRmeDlFckVkcEhRcmMxZW8wNCtScEIrMGpvOWs2K2txTlhZak1oYUpwRmN2U2FkQUkxb3NWU011Zlpmam1CK28xb0VldkpNQVAxeFJGdHlVbFd5Mzl3MmdoQ1l3dlRTYmJqaE11aW44eEk2SG9uWE1Xc3VBeUJESUVNZ1F5QkRJRU1nUXlCRElFTWdReUJESUVNZ1F5QkRJRU1nUXlCRElFTWdReUJESUVNZ1F5QkRJRU1nUXlCRElIVUVIakpnL1grTzhmN0FIaHFXRG1NY0drV2QzZG14MmNjVE9JOTRzUXpBZWU5THpFKzMyUlQ1R3gyejBQOHU5dGhya0thV096YS9UZFIyNzlsUTl5NkU0dEMwb1l2cWwvc3dPVmk3dmZMU2JsTUhIMkg5V1NiY2JaOGErS2FiOUxncVJ2ZmNndTVqN3JFQys3Sit2MnNrN3E0ZUh6eXd3M2ZHTGJQbkhPVWMrcGlNRStXekd1SjI0a0FHbk12TUxHY2F6WHBCczZkRENVTkFYd3kra2QvMnd0R3UvZXRXL09mQ1NabVlib3krR002RExnUXhmaTdjRDMzQk1SMDJOdERXb2x2ak5UOVZpR3BXZFN5TzJONndhRGYvZHJ5Um1SK0h3SnRlVitNTHhJQndKWjk3ZTBEeFh0Qi8wb1VPR1hnOW1aZnRna1ArQzdvbjQyNjJnTFhGakdXVGFHT3JQZ3Y2RzlIM2ZNc1BnVjhSOC9KTjltZXdBWDlkV2N0RUlRRkYrUEJYV3NGNHljejdMK2dmMm5BdlFzLzVyajF0eVlUcDBDci9SZjB6d3k2ZCtIL2F3UmN2eFRnTUpIQkpyOWhUVjNRdnpyd0Z3bHkvMEs0amZXVmJLWXk0TCtnZnpjR2sxY1FicHVtdk1lWExuQkJmenRPcFNYcnlOUGpDNGR4eXpBNWVpN29MMGRPcElwaEU3ajFWR0J5bnpaZ2NDL29KMUE4VHRuYmxyN2s3SXpTWitMbkpoY3UxWEx4MmZlZE1sajFZRWJlTG8rZnFudHU4UVJKUlZKUDhFTmVNbkNIZ0tEVDUzc0k2dC85SXJicU5YNGMrSDVZZEdLUkV5WndlVUYvNk5nMjcvNElFRkRDelNIYkV3dVdwK0hlQy9yYllUL0pXUGFwSExqQmVjdVRlNEs5N2dYOVJjOGdwZ0NCamxKUmZqeXhObDN6QkNmWjYxelFQK2RlZk8zZ2dTdGpONTJBNTNlQVBIR1Q1ZzFlMEw4YzBnSFJLNS8xNExLYVhVV21YZENmWXhjOUNBbnZqSDlkME03VU5naVNtQldkQy9xcitweEFocmFTQTJhK0hyTnNkU2pIMTZOZjBIK2dqL2ZZNi9Oc01Eem1teC9HRjVwQkxkTXY2RjhPdWNxZWxnNzNTallyOWJqRi9xRHl4aVF0NUlKK1cvOWxxaXVBalgxa2o5cjh0WHEvT3ladFAwSXpRaTdvdjhMK0pNZ3dieE51L1p0dmZMREdNcHM0b2FOZjBJOUx0czRGY1hNdnh6djhuV0RhUklaWDlBdjZIMlY5RFp1ZjFrbmVHTk4rTlhraVFVT2pReTdvTHpQMjFyVUFIaXZuYiszZjlydS9IWWpOZ2g0RUNrM0lsVEFnZmRRVG5YbGpFQ2p3RFNwZ3A4eVVNZlJac2tUZ0paZ3p5U21qK05HQStUWFBudkVzc1JWc0ZBQUFBQUJKUlU1RXJrSmdnZz09Igp9Cg=="/>
    </extobj>
    <extobj name="334E55B0-647D-440b-865C-3EC943EB4CBC-9">
      <extobjdata type="334E55B0-647D-440b-865C-3EC943EB4CBC" data="ewoJIkltZ1NldHRpbmdKc29uIiA6ICJ7XCJkcGlcIjpcIjYwMFwiLFwiZm9ybWF0XCI6XCJQTkdcIixcInRyYW5zcGFyZW50XCI6dHJ1ZSxcImF1dG9cIjp0cnVlfSIsCgkiTGF0ZXgiIDogIlhGc2dSMTk3WkdsMmZTQTlJREVnTFNCY2MzVnRYM3R6SUZ4cGJpQmNiV0YwYUdOaGJIdFRmWDBnY0Y5elhqSWdJRnhkIiwKCSJMYXRleEltZ0Jhc2U2NCIgOiAiaVZCT1J3MEtHZ29BQUFBTlNVaEVVZ0FBQW1zQUFBQzNCQU1BQUFDL0FRU3FBQUFBTUZCTVZFWC8vLzhBQUFBQUFBQUFBQUFBQUFBQUFBQUFBQUFBQUFBQUFBQUFBQUFBQUFBQUFBQUFBQUFBQUFBQUFBQUFBQUF2M2FCN0FBQUFEM1JTVGxNQU1sU0p1OTN2elhhclpwbEVFQ0pKUS9TUEFBQUFDWEJJV1hNQUFBN0VBQUFPeEFHVkt3NGJBQUFUa0VsRVFWUjRBZTFkZTR4clIzay8zdmZMM2dYS1E2S1NMUVNWRUtKN0F4Y0pGSXFOcWx5b1F1VkZrSVNnRXQ4cXlRMHRCVzhFM0RTOHpxSzJndis4VkZIelI2cmFyUkNpVktwWEtpMmlvYlVMQ0tpSXVsc3Bsd1Foc1c0RnREekVYa2pXbDV2WDhQdm1jVjV6anM4Yzc5bGRyMzFHMmozeitPYWJtZC81WnVhYmIrYU1MV3ZNWEtIT2tycTFNWU5nbU9hc0pBV05zZTFoeWhtelBGUEpZWHQyekNBWXBqbTU1TEQ5YXBoeXhpMVBXZUFXMWZQeTMvLzVWejkvNDAxZWNQdmpCc0V3N1prWGlEdzFPRy8rK2VmZHVhTTBtSFlpVXZNU2psNWNhL092cWttWjI0d2psZW5mdnN4dWU2TWg3WmtqV3hkZ2JNUlhQUDhYZ3ZRWDhhUkU4VGxPZmVlZUdmVlpvMW9XV0R4dFV1OFhjTkc4YmtKcS9aQzk2NzkrOWpyR1lycS9FYTlSSktvSjNFb21kVnZndUprSVVJNjluUmcyeGxiUE94Q3dQV2NDbXpWTnhPY01TSC8wSkFjWENvNlpjQnF3SEMyU0pRSGJOYk5hZlEvVUZ3MUk3VTFCdE10WXk0RDhESkkwQlc0bU1vVFdmWU94WDhZM2NvcHhZYk9zUmNiR2RGa3hLMkI3Smg0TW9zamJ6RUF3WjlRVVUyQnNUSmNWY29IVmwvSVJoeDdrWnkyT3h0cG5kMG9hbXgzR1VwOU5Ba3gzNUNxR3RTOGJHRUdLakcwSmRtV20rcXNoK3pORE5rT2dtWGVtUllQUkNqUEJwbWgvbTdIZW1VRWlVVVhWQWl1Kzd3bTIxU2RpMlI4NHdydk9XRGVXL0d3U1FEYkl2ZCt3OXJQeFJoQk1NeVhCRGRKbStqb01peDhaTXE3RW1pdW1oWGhWckZCOXQyeGRZMnc3cVdYWlhOcmkwWkJRbERmTTMzaVY2Ykw1L1BPM3NudmVLb1Z3ZXRPYzJZaFJIZ2pZekJaWWxqVm5hQVNoVmpLbVZEalY1cW0vRXFVZHRuaE1KOEU3VUN4RzVDbTNGRXcxckFYemRlWUNZNEdYOFZJQzdaNkhIcWl4ZmduTm4yWTdJd0xDRU5Yb0NBRXdiY0VqeGtYTXNRQXMzMFJKNzNzMTh1ZGZ6dVd3cmVZT1k1WnBFT1l1OWRKZ0l4ZFlCcXZOaEtXMUEwUGJid0MxdjVZOFhnaTlHWEsrbDVCbEd1Uzc2YndzTEIyNTY2VlJKdzhQOFAyQUoyaVJVZlJ2bklqbWRXdjNWTlplc09PVW5Gb2N4UVAxaXR6bVVYaUU1TVVPejVvbmVxWE8yTDF1ZUpsOVVwOHgzT1JqOHoyT2FwUlM0WTRGT3JsNC9UOVphUjNtTTZ5VUEwczR1MjlraGtwV1poeDE0YlBVMGxJY21WRzZXbUIxamFoTmlSWlkzeXRzanpGMjZBMWJwUGljckRsdTZ1R2JDTFMwWUxPS25KbnhBc3NNdURaN2o0ZVF6dWw4M0JPMitGQzM0WXM1N2dBTnJ2MDMyYW5CQmdXTDNKTnAxbnZKeis1RkdudWFpWGJTTERHVzEvTGR0LzNyR3EyS1NyR2taZ1JnUlc3TGpOcUlxdTNicmFIVFRaVkFQanU5K2djNER3eW1XT3gzMENxNEJPdW1nVFZENHBKL1BpZ3kzWnplT0IyMXpVN3ZiY21qYnFZTHJEak1rTjQrN0htb2FHVFRURlBGVTFIYjB1eWtWZ2V5QnJmdGFlcVJ2QXZzOTNuK2YranhCMGx6bC9zOC8xYTFoYjRuOGZpOGRuclNacGtkUGpKdlMwTXUrR3M5bmdkVjFiWENPWlBkUS9NaVRTblRoQzNsQmRhQ21nOFlid3laUW5WZFkvYUUxVGFKYTVxd1dXMjBERTV2bk9sTDlORTFuaExCbk5oVzNRWG5OUjhCQldiU0trM2pQRERDVHJHVDBnNDZ1YUJaY1dBRkloTVgxRUEyTGZvcUpnVFphYjFaWms1WWJaTmwyMm5DWnRVSXRaUTROcVRsSTcvTGQrVkpPMy9PQzVqd3o2U21kdXE4QjhUWUtUVlNGRkZFMitBME5XRkFCYUtTc0JxOVJBN3MrR0wrQUo0ZG5YaitWS3h0cVNvZ2xpVVhXQVpuUEhRQUFqRmx3Q1FkRjdJcUFuc0JHZ1JuVTFRVGRlNlJNWGFxMG1aUjQrRE9SWllYbXBDN2NQZ1puckIwb2YvQkh2ZkpMVVRPN1NwaTZKeEp5TkJtemVrNkNjOS96UC9zZEdHVEN5eWZqU3krQmVWK25XdTJqOWY3TlhhZHkxU1JBeWIrYllERERMeGh5N1pjS1o3OU1WRFk2Y0ltRjFpbWg0OUVneGI2M1NsMnVHZmw2ay8wck44UzZLeDdZTnNHR1ExdEJOK0l1SlJoczhxaXVaVWt6U3RpOEtwaVRkWjRHb0lHblhrdEpEUHhiWVhFbjFLVW5hNjBxUVZXb3BOODFTMExjRDgzTFhTSmN1aEVYQWRzQUhWVVhOcXdxUVZXbU1SRXRMbEFpNmMyZTZJc3hxNzlzS0dmT244YTgzTm9GZksvK1VpVTY0Vm00SWMzU2hGSncwWExRV25EUFBjeXJTb2F3RVZBamNHL3AyV21pZlhZNWt3NWo2RUl6VVgxR2p2bFRzcXQreWc5VEZuUXdCQVJxeVJsWmFuVjh1MkJIWTJTZHEvREpsS05jSmlJWFRDUGNGRW1manR0Mk5RQ3EyWGNnTjJMSUcwNnloNVVab3J3dTMwMDY2by9LaUtVKy93YjNuS0xrTnNJQ2kxNmtRYk9jUGNIR3JHSXNGT0g3VUJVZ0t2MkVZWDZvenNrWEhYbnpBSStjOUR6a2tCcytMTkZoSGp4eVdDTDREUW9PbjNZNU5jZDVvdWVXZ25IWU54dFkrVFhUNUkwQU52Mm9IWTRhWS9lQ2xJVmVySDRsRVlGMDN1bUR4djFOM0lrUXlZdVQ0b0ZEc0FvRWNQb3J3L0VIVERjTXVFR21uMW5seERUdWhuV2hweGRNanYxVG1vbFhHQk4wYkFMczlCRldTa1k3ZlE1c3dyWXVwSWc3ckh2d0E2dWxUanE0ZEtQQVRaYWRjT1pMckJ5YjBQTk1WTXF1WUFDb3RzNWJUQ0VVRHB1NmJXdi8vUVgvdTVsTC92Q3AvL3NCaWRTZXRhZGJVS3dhZ1ZUMHdtalBxVlFUajhMMXdEL3cxdjUwSXhDQjBNek55T1N3NkwzM1FZQ1FWM2FhbmdOM254RjhKZE8weEhLenB5N0V2SUN2RnlHOTlzUnNKR2lGT29NakJ0a3JZQXpvSFRxdmU3cXVQdGhYOTdXY0diR0lZYm5SVlNBY0hMSHdVMjEzUmYydnowM09sV2ZIUUhicXFwVjhLa1AxMXA5NU9FamZUN1VLSjJJaml0TXUyR0FZMndMckszeS8vUDNWTFViZE9sM05FQ0hlL29lT3dLMjZScFZTbmY5VHhqVUFTMkgyemFnVkNRd3N5bHZPV3c5ME5RT3pZQWNaZWlqb0lYbGExZnhPcmFuSFFIYmtRcWtGV1JRT2dZeWhOcm05RFVJMWxXTnVCTUNHekl4cGJWNE1xQndUK2lZdlBaeHdHYUJxKzlnV2x6bG9iWTVLMDVrcldqMGpjRFlSZ1JrRmJtb1VjSjBGZWpPT3NuUlk5REEwdEc1QkRrY1lPTHJCU01IaEQxcUc2a3ZMWTBVM2Q0M2t4SUJ5ZlNPUm1tdGhrekVPdFVSWTQ0SE5zeWxTZVpSVXRzcXNpRUVSazlyMUNwaWc1RjA1S1FVakxSd2REeFIwY1JnQk94dHZCM2xNSW5SVytqRTdMdExKeURvVXpVRURlazBQWWRjZUFoS2ZSNkZDZXJaQUdGY2NCVHNiVlJIREZXNnhqcW84dXZLUmtrcnlwQ1ZQTitBYlFVNEZJTUFGODdYYnU5aVhOMFFoRisvOUtjcXg5U0ZlN2E0ZjZFdW5pcUJQekVDUkRsTmw1WVo3VkJCOTNGTkhpZ20wejRzT2htblNtbUVXb2pJMWw1UkpQSUpTcC8ra2F1eSsrM3JVRXZFZ1Bjb3U0L2RJVWp6MVd1Mk9HSFlDT3ZCSTJGdncrWlRQZWxrVm5PTUZsWXR2SDgzZGJXa0dwRExNdnQzcTFCOW01U0RmRzNic3VXY2V1VTZSczlOZ3JEdUZpVEJIKzVoSDRPMFhVbDZDc1JqYmNORUdqSzA4WDFTUjdNVExTVzF6VHVLUGNZNzkveWhIUEJtTUV4MDVKUlJQWWZEVUh6UjRscERoNE5MNVRvTzJNQ3pwL2diUFQxcUcxUVJSNFB6NWtWOFFBT2hLVmVPWWtTWXIvSEZBWHF6Z0wyTnRLbzRWYkVFb1pzUm95MDZ0cGZyMFA1amdBMEdzNFFxQUhKY2xTMDRpRmhSMGpyM25LK1ZOUC90dURHemNoWnF5Z0d2MXFNdXlRbG1ueVBMRkI4SHA0UGd1d3dTK1k0Qk5yelJWcUk2V0hQdUtzbU9HaGFMd1pkUkJXd2x0NXltRkwyMjZJMUxtQU1oZWJ3aTdRcDFjdEhIN2RBaHdHVmo2QU5zbkxVaHVRRlpZdTNETzNBaHMrODdTTGM4MnFKWWM0UGlhcTQ5SndMSklyVWhCcnhaREdYb3hqMGlxSFg1cmo5NXJmVW9sWUtuR3YrcnVZcW1jWjdCaEVWZFZSaWNnYmJrbFl4OUozcFIxbUhzRHoyTU9rKzJ2WlBIdnVJZ3BXNy9JcjdJRjlObW5nYkZtalRDclNaVEtEMEYrcng0aDd6Lyt5S1BFa2l1ZmZCTlVpRVhHTmQ5RThJckwvZnY3OHJhMEpIRExhZG0vOGNxODNJVTQzRmwwVGRwUE51bWlCOXUwVEtMejU2RmQvSGpjUzJLdGxaNUZQY2U0Ujk5UXYyVUsrcEg0S1N5SnRZK2tCRjZYbm1UR0Z6eGZ3ZFpadTk4b05ZdlVRcmNMbVN5eEgyVzlXUFk1M0tlbVFmYXlGV2VwTVl6Q2pTZGlZYjZxMmpsS3FhSEk3bjhheDkrNEFKUXc0ejlldy85VSt0SXZEeVpNVkt2ZVlJbVhqVDFpVm1hNkZacThyc1hrZXNLK3plTTZ4MDFMUmZBdXY5SlNzcDlpdlc3VU1zRVVoU0RvYTFDVC9MMHVJZnZ2VzVMcitxdndINURSUTM1SkhYUmRaVWh1UVN6UWI5U3pRd21SWWJSMUdjSzlYdXRYRk5PZDRJeVgrTWRhdHFaKzNMQWpWMjcrY3MzNFUyM1FETlRFWVRrVlRQYm9xdGhnRzFYRVJRVjU4YU9paHJ5bVdlWGJybFB1QS9mV3E4TXlTV1lyYUhxSDB3WUVPWnEydzhZOVB2MzdubklGc1ZROWdOSGZLemNQOHYzL0w0MUR4MTVWNVdRemFIM1NqZnZJbWgxMUlLaTJWWEpvL1NFQXNIVnlrUjFndHEyYVZrdnI5LzlsNzVzdTF6TW9PZDZNUHJKRnkrenUyLytSeDhkQllwSysxZjZHZUlPUEdhWXVqSUVCSllhR3FQVGlVRDFLNGxMUHZCT2tXN3VKcGNidkFnM0t0SzNxL1NQTm5QRy9MTHJ4VXEzeGZOT0pYK3BrV1dtbHdEUmNFWWljNjd0OEZta3p1MFhPU1B4eFdGTVVWNkhYVlFGT3hMbW1Tam1mZnFOb2p6dEoweXpRM3dCMHd3VktFeFpXOVNlYjdmb2Y0eHJxeUcvUm1yYjY0Z2FPelFseTNwRmovekxhcGdyWWpRWVBWY05sNXVZaWtZWXdUQnJjblVqSmpkUFhwZmFMckJ1UVEra09ER24xbnJrbjFGOWVDUm5CR2dmUXlqaFVOdCtSVzBMT3BzQnVLOEVZOFBEUmFuMlFPbFlzOFNYbFB2VXUzTml6SmlSMWtuNWpXVTRqMU9MYllTUDdUSDFJYlV0akdRZHNESG5IdGt3Q2pkdVZiNHZUTXI0OG91L2hYVmFweTBLdThlaVZFdG1SM0ZvdzJneXpFVGxzYmE1T01CSGRraTRPM3lSRVlGbEtiRDhhc0g1WjRtcVRKUERQdjdnRm1RbkxlL3c0R2o5S3c2amZaQ2hndFMyRVBjNURwdlJPYm1DNklWNEEraVZSY3dLZEZ3TVhLc3R6aGZqd0I0OFUzSnZnY2VOeWovU1BxaHlTZDFCMEc3ck1QamFCUUx1bkJNZTRHbXdMdGF2OXNkb3lxekNTeHB3eFZwUU9IVTRsL1VocG5saWRhd08ya2VFaVZFck52OTZUMVRiWjZYMUpNRDdreXFqdmhidkZtR015K01xaHliclRndEw1QXd5ZHQ0amM4NVRKLzZ1NzVxcGVKNG5RNEVXcmhtV0pEOS9GOVJOWmRRSnk1eXJ1ZGFmc0hRbnJzRnV0L3RkYUdoUDJoL25rZm5hdGVvMVIvbzc3SzRIZmVZVkorTXBlNUpvSC92UHVKV2xnME5PNjl6b0Y4c203eHZDbHY5VS9mWVNzdjluL1IyU3ljS0Z1eWhDdU1LZlh6NzhpZ3FNMGhOOWJjdTBQdVVOUmZuNGwyM0FkdGZEcjFFUjhvbEJmSWQ3RjcyN2VnR2lNUWhDYVBqUzI2UXBCUmZnRGtEakxwQVBjK0kyajFwTTJXZ2ZLT2UwZ3dkUmFrUkl4V2JkWHRudTMzM2JmYmRjMGlESC9OTGlPZWVNQjh5UWdrWStLcEgyMFluZmRaUGJ3VkMvakdWNDVERUtxU0RPNkpscUg5RFo0MWV1eS9JT3l0d3dKcFdRK28xb1ZOTmMrOEMyNk5YWVZ1U2tscnMra3JwV2JQVU5DYkIrakpjZ3lRc2JubUtTSE1pN2ZhMkw5Syt6VHd5a091T0owRDdPbVRiQlREQlhhdXhERDlqc2owMjVua1c2Sk5ySEM5VlJxcGlHNXM1ZjduL29oaGlpczUyY1FQc2djeEMzaDUzdEZxZFJleHpkTUxWOVROVUFHN2VIcFZIdzJlWmhybjF3MUdEUnlSd1F3Q0RmTlFLQ2JuNkhLeGtSanpzUmhpdGhzbzlwYVA2ekhEUzErUlpEUGZiSlp0cEg0VlUxZ2RwUUd3N2pCNktKOXZIZjMvcVN4QXlQVWR3K092blg4aU9jRG4xZWxIc0V0d0RjK0tBWTBoUndHeWRmeDlFckVkcEhRcmMxZW8wNCtScEIrMGpvOWs2K2txTlhZak1oYUpwRmN2U2FkQUkxb3NWU011Zlpmam1CK28xb0VldkpNQVAxeFJGdHlVbFd5Mzl3MmdoQ1l3dlRTYmJqaE11aW44eEk2SG9uWE1Xc3VBeUJESUVNZ1F5QkRJRU1nUXlCRElFTWdReUJESUVNZ1F5QkRJRU1nUXlCRElFTWdReUJESUVNZ1F5QkRJRU1nUXlCRElIVUVIakpnL1grTzhmN0FIaHFXRG1NY0drV2QzZG14MmNjVE9JOTRzUXpBZWU5THpFKzMyUlQ1R3gyejBQOHU5dGhya0thV096YS9UZFIyNzlsUTl5NkU0dEMwb1l2cWwvc3dPVmk3dmZMU2JsTUhIMkg5V1NiY2JaOGErS2FiOUxncVJ2ZmNndTVqN3JFQys3Sit2MnNrN3E0ZUh6eXd3M2ZHTGJQbkhPVWMrcGlNRStXekd1SjI0a0FHbk12TUxHY2F6WHBCczZkRENVTkFYd3kra2QvMnd0R3UvZXRXL09mQ1NabVlib3krR002RExnUXhmaTdjRDMzQk1SMDJOdERXb2x2ak5UOVZpR3BXZFN5TzJONndhRGYvZHJ5Um1SK0h3SnRlVitNTHhJQndKWjk3ZTBEeFh0Qi8wb1VPR1hnOW1aZnRna1ArQzdvbjQyNjJnTFhGakdXVGFHT3JQZ3Y2RzlIM2ZNc1BnVjhSOC9KTjltZXdBWDlkV2N0RUlRRkYrUEJYV3NGNHljejdMK2dmMm5BdlFzLzVyajF0eVlUcDBDci9SZjB6d3k2ZCtIL2F3UmN2eFRnTUpIQkpyOWhUVjNRdnpyd0Z3bHkvMEs0amZXVmJLWXk0TCtnZnpjR2sxY1FicHVtdk1lWExuQkJmenRPcFNYcnlOUGpDNGR4eXpBNWVpN29MMGRPcElwaEU3ajFWR0J5bnpaZ2NDL29KMUE4VHRuYmxyN2s3SXpTWitMbkpoY3UxWEx4MmZlZE1sajFZRWJlTG8rZnFudHU4UVJKUlZKUDhFTmVNbkNIZ0tEVDUzc0k2dC85SXJicU5YNGMrSDVZZEdLUkV5WndlVUYvNk5nMjcvNElFRkRDelNIYkV3dVdwK0hlQy9yYllUL0pXUGFwSExqQmVjdVRlNEs5N2dYOVJjOGdwZ0NCamxKUmZqeXhObDN6QkNmWjYxelFQK2RlZk8zZ2dTdGpONTJBNTNlQVBIR1Q1ZzFlMEw4YzBnSFJLNS8xNExLYVhVV21YZENmWXhjOUNBbnZqSDlkME03VU5naVNtQldkQy9xcitweEFocmFTQTJhK0hyTnNkU2pIMTZOZjBIK2dqL2ZZNi9Oc01Eem1teC9HRjVwQkxkTXY2RjhPdWNxZWxnNzNTallyOWJqRi9xRHl4aVF0NUlKK1cvOWxxaXVBalgxa2o5cjh0WHEvT3ladFAwSXpRaTdvdjhMK0pNZ3dieE51L1p0dmZMREdNcHM0b2FOZjBJOUx0czRGY1hNdnh6djhuV0RhUklaWDlBdjZIMlY5RFp1ZjFrbmVHTk4rTlhraVFVT2pReTdvTHpQMjFyVUFIaXZuYiszZjlydS9IWWpOZ2g0RUNrM0lsVEFnZmRRVG5YbGpFQ2p3RFNwZ3A4eVVNZlJac2tUZ0paZ3p5U21qK05HQStUWFBudkVzc1JWc0ZBQUFBQUJKUlU1RXJrSmdnZz09Igp9Cg=="/>
    </extobj>
  </extobjs>
</s:customData>
</file>

<file path=customXml/itemProps120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8475</Words>
  <Application>WPS 演示</Application>
  <PresentationFormat>宽屏</PresentationFormat>
  <Paragraphs>1007</Paragraphs>
  <Slides>17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0" baseType="lpstr">
      <vt:lpstr>Arial</vt:lpstr>
      <vt:lpstr>SimSun</vt:lpstr>
      <vt:lpstr>Wingdings</vt:lpstr>
      <vt:lpstr>DejaVu Math TeX Gyre</vt:lpstr>
      <vt:lpstr>Cambria Math</vt:lpstr>
      <vt:lpstr>Calibri</vt:lpstr>
      <vt:lpstr>Trebuchet MS</vt:lpstr>
      <vt:lpstr>DejaVu Sans</vt:lpstr>
      <vt:lpstr>Microsoft YaHei</vt:lpstr>
      <vt:lpstr>Droid Sans Fallback</vt:lpstr>
      <vt:lpstr>Arial Unicode MS</vt:lpstr>
      <vt:lpstr>Noto Serif CJK SC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atri</cp:lastModifiedBy>
  <cp:revision>87</cp:revision>
  <dcterms:created xsi:type="dcterms:W3CDTF">2026-02-01T14:27:19Z</dcterms:created>
  <dcterms:modified xsi:type="dcterms:W3CDTF">2026-02-01T14:27:19Z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2052-12.1.2.22571</vt:lpwstr>
  </property>
  <property fmtid="{D5CDD505-2E9C-101B-9397-08002B2CF9AE}" pid="3" name="ICV">
    <vt:lpwstr>762CB8DFAEE5593373B17E69B6D25545_43</vt:lpwstr>
  </property>
</Properties>
</file>